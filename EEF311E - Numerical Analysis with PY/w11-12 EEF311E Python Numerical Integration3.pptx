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63" r:id="rId2"/>
    <p:sldMasterId id="2147483775" r:id="rId3"/>
  </p:sldMasterIdLst>
  <p:notesMasterIdLst>
    <p:notesMasterId r:id="rId71"/>
  </p:notesMasterIdLst>
  <p:handoutMasterIdLst>
    <p:handoutMasterId r:id="rId72"/>
  </p:handoutMasterIdLst>
  <p:sldIdLst>
    <p:sldId id="256" r:id="rId4"/>
    <p:sldId id="288" r:id="rId5"/>
    <p:sldId id="260" r:id="rId6"/>
    <p:sldId id="262" r:id="rId7"/>
    <p:sldId id="263" r:id="rId8"/>
    <p:sldId id="264" r:id="rId9"/>
    <p:sldId id="258" r:id="rId10"/>
    <p:sldId id="265" r:id="rId11"/>
    <p:sldId id="266" r:id="rId12"/>
    <p:sldId id="267" r:id="rId13"/>
    <p:sldId id="427" r:id="rId14"/>
    <p:sldId id="269" r:id="rId15"/>
    <p:sldId id="270" r:id="rId16"/>
    <p:sldId id="271" r:id="rId17"/>
    <p:sldId id="272" r:id="rId18"/>
    <p:sldId id="273" r:id="rId19"/>
    <p:sldId id="274" r:id="rId20"/>
    <p:sldId id="369" r:id="rId21"/>
    <p:sldId id="382" r:id="rId22"/>
    <p:sldId id="368" r:id="rId23"/>
    <p:sldId id="370" r:id="rId24"/>
    <p:sldId id="412" r:id="rId25"/>
    <p:sldId id="372" r:id="rId26"/>
    <p:sldId id="375" r:id="rId27"/>
    <p:sldId id="376" r:id="rId28"/>
    <p:sldId id="377" r:id="rId29"/>
    <p:sldId id="378" r:id="rId30"/>
    <p:sldId id="413" r:id="rId31"/>
    <p:sldId id="379" r:id="rId32"/>
    <p:sldId id="422" r:id="rId33"/>
    <p:sldId id="381" r:id="rId34"/>
    <p:sldId id="414" r:id="rId35"/>
    <p:sldId id="415" r:id="rId36"/>
    <p:sldId id="416" r:id="rId37"/>
    <p:sldId id="417" r:id="rId38"/>
    <p:sldId id="418" r:id="rId39"/>
    <p:sldId id="419" r:id="rId40"/>
    <p:sldId id="420" r:id="rId41"/>
    <p:sldId id="421" r:id="rId42"/>
    <p:sldId id="426" r:id="rId43"/>
    <p:sldId id="289" r:id="rId44"/>
    <p:sldId id="285" r:id="rId45"/>
    <p:sldId id="287" r:id="rId46"/>
    <p:sldId id="330" r:id="rId47"/>
    <p:sldId id="290" r:id="rId48"/>
    <p:sldId id="329" r:id="rId49"/>
    <p:sldId id="302" r:id="rId50"/>
    <p:sldId id="303" r:id="rId51"/>
    <p:sldId id="315" r:id="rId52"/>
    <p:sldId id="316" r:id="rId53"/>
    <p:sldId id="317" r:id="rId54"/>
    <p:sldId id="318" r:id="rId55"/>
    <p:sldId id="344" r:id="rId56"/>
    <p:sldId id="319" r:id="rId57"/>
    <p:sldId id="320" r:id="rId58"/>
    <p:sldId id="321" r:id="rId59"/>
    <p:sldId id="322" r:id="rId60"/>
    <p:sldId id="323" r:id="rId61"/>
    <p:sldId id="333" r:id="rId62"/>
    <p:sldId id="334" r:id="rId63"/>
    <p:sldId id="335" r:id="rId64"/>
    <p:sldId id="336" r:id="rId65"/>
    <p:sldId id="337" r:id="rId66"/>
    <p:sldId id="338" r:id="rId67"/>
    <p:sldId id="423" r:id="rId68"/>
    <p:sldId id="295" r:id="rId69"/>
    <p:sldId id="425" r:id="rId7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7D5"/>
    <a:srgbClr val="FEF7C2"/>
    <a:srgbClr val="007DC4"/>
    <a:srgbClr val="FFCC00"/>
    <a:srgbClr val="EDE1EF"/>
    <a:srgbClr val="E7E2EE"/>
    <a:srgbClr val="270A70"/>
    <a:srgbClr val="300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3" autoAdjust="0"/>
    <p:restoredTop sz="94686" autoAdjust="0"/>
  </p:normalViewPr>
  <p:slideViewPr>
    <p:cSldViewPr>
      <p:cViewPr varScale="1">
        <p:scale>
          <a:sx n="81" d="100"/>
          <a:sy n="81" d="100"/>
        </p:scale>
        <p:origin x="150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-16339"/>
    </p:cViewPr>
  </p:sorterViewPr>
  <p:notesViewPr>
    <p:cSldViewPr>
      <p:cViewPr varScale="1">
        <p:scale>
          <a:sx n="65" d="100"/>
          <a:sy n="65" d="100"/>
        </p:scale>
        <p:origin x="3154" y="43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tableStyles" Target="tableStyles.xml"/><Relationship Id="rId7" Type="http://schemas.openxmlformats.org/officeDocument/2006/relationships/slide" Target="slides/slide4.xml"/><Relationship Id="rId71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0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5" Type="http://schemas.openxmlformats.org/officeDocument/2006/relationships/slide" Target="slides/slide42.xml"/><Relationship Id="rId4" Type="http://schemas.openxmlformats.org/officeDocument/2006/relationships/slide" Target="slides/slide4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4" Type="http://schemas.openxmlformats.org/officeDocument/2006/relationships/image" Target="../media/image65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4" Type="http://schemas.openxmlformats.org/officeDocument/2006/relationships/image" Target="../media/image7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4" Type="http://schemas.openxmlformats.org/officeDocument/2006/relationships/image" Target="../media/image80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6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4" Type="http://schemas.openxmlformats.org/officeDocument/2006/relationships/image" Target="../media/image8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4" Type="http://schemas.openxmlformats.org/officeDocument/2006/relationships/image" Target="../media/image9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4" Type="http://schemas.openxmlformats.org/officeDocument/2006/relationships/image" Target="../media/image94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4" Type="http://schemas.openxmlformats.org/officeDocument/2006/relationships/image" Target="../media/image98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image" Target="../media/image107.wmf"/><Relationship Id="rId7" Type="http://schemas.openxmlformats.org/officeDocument/2006/relationships/image" Target="../media/image111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6" Type="http://schemas.openxmlformats.org/officeDocument/2006/relationships/image" Target="../media/image110.wmf"/><Relationship Id="rId11" Type="http://schemas.openxmlformats.org/officeDocument/2006/relationships/image" Target="../media/image115.wmf"/><Relationship Id="rId5" Type="http://schemas.openxmlformats.org/officeDocument/2006/relationships/image" Target="../media/image109.wmf"/><Relationship Id="rId10" Type="http://schemas.openxmlformats.org/officeDocument/2006/relationships/image" Target="../media/image114.wmf"/><Relationship Id="rId4" Type="http://schemas.openxmlformats.org/officeDocument/2006/relationships/image" Target="../media/image108.wmf"/><Relationship Id="rId9" Type="http://schemas.openxmlformats.org/officeDocument/2006/relationships/image" Target="../media/image113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4" Type="http://schemas.openxmlformats.org/officeDocument/2006/relationships/image" Target="../media/image1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2C4244-D272-4F22-B29B-F7C29FD168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E9A86C-E263-41F0-9893-A3989F5473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CB09B30-C6B4-4312-ABF5-4B1CC4E88EAA}" type="datetimeFigureOut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69512-2277-4B64-BE37-FBC5AFF4EA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2510C9-E219-4983-988C-01C1728DCA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1F202E0A-B634-45B7-8328-8372133D3E3C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>
            <a:extLst>
              <a:ext uri="{FF2B5EF4-FFF2-40B4-BE49-F238E27FC236}">
                <a16:creationId xmlns:a16="http://schemas.microsoft.com/office/drawing/2014/main" id="{1C8DDC0A-C916-45A4-A62C-8EDB74D77B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C585B32D-6391-45CC-A55A-E082AF3C57D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6BCA074-16D9-49C6-B8C2-B786059A122C}" type="datetimeFigureOut">
              <a:rPr lang="tr-TR"/>
              <a:pPr>
                <a:defRPr/>
              </a:pPr>
              <a:t>22.12.2023</a:t>
            </a:fld>
            <a:endParaRPr lang="tr-TR"/>
          </a:p>
        </p:txBody>
      </p:sp>
      <p:sp>
        <p:nvSpPr>
          <p:cNvPr id="4" name="Slayt Görüntüsü Yer Tutucusu 3">
            <a:extLst>
              <a:ext uri="{FF2B5EF4-FFF2-40B4-BE49-F238E27FC236}">
                <a16:creationId xmlns:a16="http://schemas.microsoft.com/office/drawing/2014/main" id="{B2B72FCC-1A36-4A79-ABB8-EDAFC7BBD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r-TR" noProof="0"/>
          </a:p>
        </p:txBody>
      </p:sp>
      <p:sp>
        <p:nvSpPr>
          <p:cNvPr id="5" name="Not Yer Tutucusu 4">
            <a:extLst>
              <a:ext uri="{FF2B5EF4-FFF2-40B4-BE49-F238E27FC236}">
                <a16:creationId xmlns:a16="http://schemas.microsoft.com/office/drawing/2014/main" id="{E772CE82-1CD4-4E28-A87A-0072555A6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noProof="0"/>
              <a:t>Asıl metin stillerini düzenlemek için tıklatın</a:t>
            </a:r>
          </a:p>
          <a:p>
            <a:pPr lvl="1"/>
            <a:r>
              <a:rPr lang="tr-TR" noProof="0"/>
              <a:t>İkinci düzey</a:t>
            </a:r>
          </a:p>
          <a:p>
            <a:pPr lvl="2"/>
            <a:r>
              <a:rPr lang="tr-TR" noProof="0"/>
              <a:t>Üçüncü düzey</a:t>
            </a:r>
          </a:p>
          <a:p>
            <a:pPr lvl="3"/>
            <a:r>
              <a:rPr lang="tr-TR" noProof="0"/>
              <a:t>Dördüncü düzey</a:t>
            </a:r>
          </a:p>
          <a:p>
            <a:pPr lvl="4"/>
            <a:r>
              <a:rPr lang="tr-TR" noProof="0"/>
              <a:t>Beşinci düzey</a:t>
            </a:r>
          </a:p>
        </p:txBody>
      </p:sp>
      <p:sp>
        <p:nvSpPr>
          <p:cNvPr id="6" name="Altbilgi Yer Tutucusu 5">
            <a:extLst>
              <a:ext uri="{FF2B5EF4-FFF2-40B4-BE49-F238E27FC236}">
                <a16:creationId xmlns:a16="http://schemas.microsoft.com/office/drawing/2014/main" id="{78013AFE-85B6-4961-9CD7-D751B8664BE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CD7F0C2-DC0A-4A91-96D7-3ABE38EB8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D64B81F-4B96-4A5D-AD11-FD4867930E4F}" type="slidenum">
              <a:rPr lang="tr-TR" altLang="en-US"/>
              <a:pPr/>
              <a:t>‹#›</a:t>
            </a:fld>
            <a:endParaRPr lang="tr-T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B14108D0-336A-4ED7-9358-041378D7B4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2454716-1CB9-4FA6-97A4-9939D6495E9C}" type="slidenum">
              <a:rPr lang="ar-SA" altLang="en-US">
                <a:latin typeface="Arial" panose="020B0604020202020204" pitchFamily="34" charset="0"/>
              </a:rPr>
              <a:pPr eaLnBrk="1" hangingPunct="1"/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4C2A5314-4953-4536-97F9-778BB90576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50D2745-0971-4713-B25A-DE6BEB57B8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339EA0F7-037E-4A0F-9B95-6F8544E6D0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1B23C04-6388-4AEA-80BD-E01969DF0B87}" type="slidenum">
              <a:rPr lang="ar-SA" altLang="en-US">
                <a:latin typeface="Arial" panose="020B0604020202020204" pitchFamily="34" charset="0"/>
              </a:rPr>
              <a:pPr eaLnBrk="1" hangingPunct="1"/>
              <a:t>19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94F22BE-05A6-4091-8DB1-287B931372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592F7F17-2B19-4C3C-8293-126D22A6E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AEAAFF6F-36F7-4303-BF97-E057F57A9C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6F5D4ED-9B29-4912-9AB1-C73233B27FE2}" type="slidenum">
              <a:rPr lang="ar-SA" altLang="en-US">
                <a:latin typeface="Arial" panose="020B0604020202020204" pitchFamily="34" charset="0"/>
              </a:rPr>
              <a:pPr eaLnBrk="1" hangingPunct="1"/>
              <a:t>20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C0EB4104-5F8A-45BD-88F5-54890DB97B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F96D4969-CEA4-49B7-B101-B5D795518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BA58C5DC-D146-4FB3-B3EC-93E675CFC1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BD741A1-8321-44BD-9F3B-09662DC627A2}" type="slidenum">
              <a:rPr lang="ar-SA" altLang="en-US">
                <a:latin typeface="Arial" panose="020B0604020202020204" pitchFamily="34" charset="0"/>
              </a:rPr>
              <a:pPr eaLnBrk="1" hangingPunct="1"/>
              <a:t>21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955934DF-848B-4ABD-BB9A-D960DDAF2D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ADACF98D-5A35-49BA-9E7B-984BFF8A17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E3836E1D-3633-4ABE-8A3B-90AE839200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BA39D4B-EDE7-439F-B7A6-C4142F041A15}" type="slidenum">
              <a:rPr lang="ar-SA" altLang="en-US">
                <a:latin typeface="Arial" panose="020B0604020202020204" pitchFamily="34" charset="0"/>
              </a:rPr>
              <a:pPr eaLnBrk="1" hangingPunct="1"/>
              <a:t>22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ED2A8086-7A2F-4F69-AEA2-6026B06C32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6F8BD9D5-EFE7-46AC-882F-560B5D5D01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684243C1-D967-4AB2-AA55-FE52911850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ABE41A-CCC3-47DF-9D60-9A4DCC4D14C3}" type="slidenum">
              <a:rPr lang="ar-SA" altLang="en-US">
                <a:latin typeface="Arial" panose="020B0604020202020204" pitchFamily="34" charset="0"/>
              </a:rPr>
              <a:pPr eaLnBrk="1" hangingPunct="1"/>
              <a:t>23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7A1BAEA2-1B6B-4B33-AD22-655335B14D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D84905E-6CBD-4940-9497-EDB23EDFC9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E59A2132-1C1D-465D-9090-099D057DD1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96763C-DB46-450B-8495-48F9421B0499}" type="slidenum">
              <a:rPr lang="ar-SA" altLang="en-US">
                <a:latin typeface="Arial" panose="020B0604020202020204" pitchFamily="34" charset="0"/>
              </a:rPr>
              <a:pPr eaLnBrk="1" hangingPunct="1"/>
              <a:t>24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C60B0DA5-D0EB-4256-826F-E917223FE8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9A43DBD2-E354-4E53-9E88-05094EE52F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7C14066C-C083-4C77-A0EA-60282936EE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0ED84FD-41AD-4962-90EA-57FDC971E48D}" type="slidenum">
              <a:rPr lang="ar-SA" altLang="en-US">
                <a:latin typeface="Arial" panose="020B0604020202020204" pitchFamily="34" charset="0"/>
              </a:rPr>
              <a:pPr eaLnBrk="1" hangingPunct="1"/>
              <a:t>25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0FBBD839-3E51-4A6C-9890-B735432F1A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DE277810-B992-4957-8240-9023B0F60C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60B68B8B-1A0C-41C2-8616-A4037F0B51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C08DDFE-7244-476F-9AA4-D507CAB10F7D}" type="slidenum">
              <a:rPr lang="ar-SA" altLang="en-US">
                <a:latin typeface="Arial" panose="020B0604020202020204" pitchFamily="34" charset="0"/>
              </a:rPr>
              <a:pPr eaLnBrk="1" hangingPunct="1"/>
              <a:t>26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5D006395-14D3-46DF-9B90-65C55CA889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2FABE220-DAA7-4BD6-B1F9-C3A5668EAD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1E978990-E535-4DD2-8431-DF3F95B17D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DB4DCF1-2B97-4255-950D-862E64FBD684}" type="slidenum">
              <a:rPr lang="ar-SA" altLang="en-US">
                <a:latin typeface="Arial" panose="020B0604020202020204" pitchFamily="34" charset="0"/>
              </a:rPr>
              <a:pPr eaLnBrk="1" hangingPunct="1"/>
              <a:t>27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12096D3E-D5ED-4D9A-9BF2-9E1C22AE8B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D1EA9C9D-E4DB-47CB-9EB1-3D5E7C15E1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25D0E0E9-866C-46D5-90B7-B5E3651A8C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54D01DF-7D19-4461-AFCD-0D6991127AB4}" type="slidenum">
              <a:rPr lang="ar-SA" altLang="en-US">
                <a:latin typeface="Arial" panose="020B0604020202020204" pitchFamily="34" charset="0"/>
              </a:rPr>
              <a:pPr eaLnBrk="1" hangingPunct="1"/>
              <a:t>29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4DDC6F8C-7FDB-4D38-9224-AA12C10596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5E0A6801-30B8-4363-B215-C581BA9500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7E1D78E6-992D-4FD4-A0CE-069BCA2C7A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F1ABC3F-7321-4FB4-9085-66CFEDACE7A7}" type="slidenum">
              <a:rPr lang="ar-SA" altLang="en-US">
                <a:latin typeface="Arial" panose="020B0604020202020204" pitchFamily="34" charset="0"/>
              </a:rPr>
              <a:pPr eaLnBrk="1" hangingPunct="1"/>
              <a:t>31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AB57A379-F3ED-4EED-B322-AC62F9DFFF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FBA45AA-D8CA-47D6-B67E-3600478B8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22D66C31-A183-461B-A56E-28F8F3B38B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A74D956-3C9D-4CAD-9BB0-C9D1AC7A2857}" type="slidenum">
              <a:rPr lang="ar-SA" altLang="en-US">
                <a:latin typeface="Arial" panose="020B0604020202020204" pitchFamily="34" charset="0"/>
              </a:rPr>
              <a:pPr eaLnBrk="1" hangingPunct="1"/>
              <a:t>32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F8E5C09E-AE79-4F35-8EA2-13685D4FB3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C9311545-06D0-48E7-A7BE-76FEB627F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04B41062-2A52-4172-A751-B92625E1CB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3B0980D-88D7-4B59-9330-5BC625FF4C88}" type="slidenum">
              <a:rPr lang="ar-SA" altLang="en-US">
                <a:latin typeface="Arial" panose="020B0604020202020204" pitchFamily="34" charset="0"/>
              </a:rPr>
              <a:pPr eaLnBrk="1" hangingPunct="1"/>
              <a:t>33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D0BD2085-70EE-4F47-B0D5-C10EC6CF1E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68A38CE9-AF2D-439C-BBCE-38A600E9F9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DF7D7CFE-1B8B-40A0-9C80-22634076FA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5D2DA6-BD09-4770-B37F-C3918280DC30}" type="slidenum">
              <a:rPr lang="ar-SA" altLang="en-US">
                <a:latin typeface="Arial" panose="020B0604020202020204" pitchFamily="34" charset="0"/>
              </a:rPr>
              <a:pPr eaLnBrk="1" hangingPunct="1"/>
              <a:t>34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EC3EDE4A-C54D-475E-BB88-DEA5857C88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5A258879-F7A0-4AB1-B93F-2651E89D8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7A66672-1261-402C-823E-F5A74A708A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7CBDF41-A8B2-4069-9E0B-C333F81ED377}" type="slidenum">
              <a:rPr lang="ar-SA" altLang="en-US">
                <a:latin typeface="Arial" panose="020B0604020202020204" pitchFamily="34" charset="0"/>
              </a:rPr>
              <a:pPr eaLnBrk="1" hangingPunct="1"/>
              <a:t>35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287D7B3-A521-4C1B-A976-D685E09F8B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2CC2F01-FAE2-4DD9-B66B-7037B66A1E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4F32EB10-2920-4B24-8C46-F3B3981CC4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2B507C3-6EEC-45EB-919E-142930B7AEFB}" type="slidenum">
              <a:rPr lang="ar-SA" altLang="en-US">
                <a:latin typeface="Arial" panose="020B0604020202020204" pitchFamily="34" charset="0"/>
              </a:rPr>
              <a:pPr eaLnBrk="1" hangingPunct="1"/>
              <a:t>36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349EBEB0-6DA8-4335-83B6-3AD6AC9763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7E4A5079-4FA3-4657-AE69-31DBA2C7F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C5CB18B5-5F43-4161-9549-66711CF3C5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FF68050-599F-4E49-B6A8-F7E2E0E7C1BD}" type="slidenum">
              <a:rPr lang="ar-SA" altLang="en-US">
                <a:latin typeface="Arial" panose="020B0604020202020204" pitchFamily="34" charset="0"/>
              </a:rPr>
              <a:pPr eaLnBrk="1" hangingPunct="1"/>
              <a:t>37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05AC5EA4-FFF3-4965-A716-E3605EA92F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14A5A1A1-D9ED-4965-BEB5-ED1B54E71F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7FEF90CB-9D57-4E33-A8D6-82806B2D26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DFC9B19-6E0E-42D9-9F80-A9FDD712AF3C}" type="slidenum">
              <a:rPr lang="ar-SA" altLang="en-US">
                <a:latin typeface="Arial" panose="020B0604020202020204" pitchFamily="34" charset="0"/>
              </a:rPr>
              <a:pPr eaLnBrk="1" hangingPunct="1"/>
              <a:t>38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FFA9CBC7-552A-45AA-8C0D-2F85E25C8D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DA5D864B-E259-48FA-9F46-82605EAD7D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85F3022D-1FC1-4D42-B9B5-2E722D1C1E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02F2C4A-124D-4F46-9C25-CAA6E16F59E3}" type="slidenum">
              <a:rPr lang="ar-SA" altLang="en-US">
                <a:latin typeface="Arial" panose="020B0604020202020204" pitchFamily="34" charset="0"/>
              </a:rPr>
              <a:pPr eaLnBrk="1" hangingPunct="1"/>
              <a:t>39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06274B3F-7D7B-44CE-8B87-D8A6619EFA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F802CEE2-EC30-4E3E-80C9-CAFA354931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3B123A3-0A83-434C-96F9-41E5EC8282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63575"/>
            <a:ext cx="4716462" cy="3536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2658D02-2849-499B-94F2-53BA51C9BE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421188"/>
            <a:ext cx="5102225" cy="41989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002" tIns="44001" rIns="88002" bIns="44001"/>
          <a:lstStyle/>
          <a:p>
            <a:endParaRPr lang="ar-SA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B03D404-0C23-49B1-9766-59E2431D28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63575"/>
            <a:ext cx="4716462" cy="3536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E23A6DB-1B78-4DB2-8762-475417E914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421188"/>
            <a:ext cx="5102225" cy="41989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002" tIns="44001" rIns="88002" bIns="44001"/>
          <a:lstStyle/>
          <a:p>
            <a:endParaRPr lang="ar-SA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482FEEC-1525-4621-8EEC-128A33BC57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63575"/>
            <a:ext cx="4716462" cy="3536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75AC1E8-6EFA-45F4-9101-C7216C546A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421188"/>
            <a:ext cx="5102225" cy="41989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002" tIns="44001" rIns="88002" bIns="44001"/>
          <a:lstStyle/>
          <a:p>
            <a:endParaRPr lang="ar-SA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9B6EA9E-CB0E-4984-AB1B-D8EC19E5DE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63575"/>
            <a:ext cx="4716462" cy="3536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2002FA57-E2B4-40A6-87C9-E633F48A7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421188"/>
            <a:ext cx="5102225" cy="41989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002" tIns="44001" rIns="88002" bIns="44001"/>
          <a:lstStyle/>
          <a:p>
            <a:endParaRPr lang="ar-SA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A1404E5-1A6F-44AF-AFFD-4E1D9E14E5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63575"/>
            <a:ext cx="4716462" cy="3536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2D033F6-7F12-43BF-9F72-A1DC940757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421188"/>
            <a:ext cx="5102225" cy="41989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002" tIns="44001" rIns="88002" bIns="44001"/>
          <a:lstStyle/>
          <a:p>
            <a:endParaRPr lang="ar-SA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B40BF95-7E0F-46F3-875E-3106755DD5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63575"/>
            <a:ext cx="4716462" cy="3536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C4AC7CF-690C-4CE4-AD13-605FF570D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421188"/>
            <a:ext cx="5102225" cy="41989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002" tIns="44001" rIns="88002" bIns="44001"/>
          <a:lstStyle/>
          <a:p>
            <a:endParaRPr lang="ar-SA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72127CD-E569-44F0-B236-CF03060D1B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63575"/>
            <a:ext cx="4716462" cy="3536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627BCCD9-7E72-4FB6-8D5F-0E6C777CA4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421188"/>
            <a:ext cx="5102225" cy="41989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002" tIns="44001" rIns="88002" bIns="44001"/>
          <a:lstStyle/>
          <a:p>
            <a:endParaRPr lang="ar-SA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8553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4BAF863A-80EC-424E-BFF2-F6CDA622DA23}"/>
              </a:ext>
            </a:extLst>
          </p:cNvPr>
          <p:cNvSpPr/>
          <p:nvPr userDrawn="1"/>
        </p:nvSpPr>
        <p:spPr>
          <a:xfrm>
            <a:off x="0" y="234315"/>
            <a:ext cx="9144000" cy="908685"/>
          </a:xfrm>
          <a:custGeom>
            <a:avLst/>
            <a:gdLst/>
            <a:ahLst/>
            <a:cxnLst/>
            <a:rect l="l" t="t" r="r" b="b"/>
            <a:pathLst>
              <a:path w="9144000" h="908685">
                <a:moveTo>
                  <a:pt x="9144000" y="0"/>
                </a:moveTo>
                <a:lnTo>
                  <a:pt x="0" y="0"/>
                </a:lnTo>
                <a:lnTo>
                  <a:pt x="0" y="908179"/>
                </a:lnTo>
                <a:lnTo>
                  <a:pt x="9144000" y="908179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97D">
              <a:alpha val="19999"/>
            </a:srgbClr>
          </a:solidFill>
        </p:spPr>
        <p:txBody>
          <a:bodyPr wrap="square" lIns="0" tIns="0" rIns="0" bIns="0" rtlCol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Tx/>
              <a:buFontTx/>
              <a:buBlip>
                <a:blip r:embed="rId2"/>
              </a:buBlip>
              <a:defRPr/>
            </a:lvl1pPr>
            <a:lvl2pPr marL="742950" indent="-285750">
              <a:buClrTx/>
              <a:buFontTx/>
              <a:buBlip>
                <a:blip r:embed="rId2"/>
              </a:buBlip>
              <a:defRPr/>
            </a:lvl2pPr>
            <a:lvl3pPr marL="1143000" indent="-228600">
              <a:buClrTx/>
              <a:buFontTx/>
              <a:buBlip>
                <a:blip r:embed="rId2"/>
              </a:buBlip>
              <a:defRPr/>
            </a:lvl3pPr>
            <a:lvl4pPr marL="1600200" indent="-228600">
              <a:buClrTx/>
              <a:buFontTx/>
              <a:buBlip>
                <a:blip r:embed="rId2"/>
              </a:buBlip>
              <a:defRPr/>
            </a:lvl4pPr>
            <a:lvl5pPr marL="2057400" indent="-228600">
              <a:buClrTx/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C59FF3F-31F0-4F5B-9F46-5363C653AA1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5C110E-7828-45D9-9DE9-2DE567E550C3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327060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63252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9713" y="1799673"/>
            <a:ext cx="367792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5A9532D9-5D34-4535-875A-CCB0C558E19D}"/>
              </a:ext>
            </a:extLst>
          </p:cNvPr>
          <p:cNvSpPr/>
          <p:nvPr userDrawn="1"/>
        </p:nvSpPr>
        <p:spPr>
          <a:xfrm>
            <a:off x="0" y="234315"/>
            <a:ext cx="9144000" cy="908685"/>
          </a:xfrm>
          <a:custGeom>
            <a:avLst/>
            <a:gdLst/>
            <a:ahLst/>
            <a:cxnLst/>
            <a:rect l="l" t="t" r="r" b="b"/>
            <a:pathLst>
              <a:path w="9144000" h="908685">
                <a:moveTo>
                  <a:pt x="9144000" y="0"/>
                </a:moveTo>
                <a:lnTo>
                  <a:pt x="0" y="0"/>
                </a:lnTo>
                <a:lnTo>
                  <a:pt x="0" y="908179"/>
                </a:lnTo>
                <a:lnTo>
                  <a:pt x="9144000" y="908179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97D">
              <a:alpha val="19999"/>
            </a:srgbClr>
          </a:solidFill>
        </p:spPr>
        <p:txBody>
          <a:bodyPr wrap="square" lIns="0" tIns="0" rIns="0" bIns="0" rtlCol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dirty="0">
              <a:solidFill>
                <a:prstClr val="black"/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785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490206-F3D7-4B42-9C18-C03A7D078B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CISE301_Topic7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094E28-2437-4D1A-AA15-ABEE95F172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C70C56-3FF5-4B75-945B-9F6F84DB46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C8F2DE-76EB-44EF-81F4-BE7DFECF08B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737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7F499A8-010B-4EBD-9C68-3C63F465C5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48F50-7467-49E6-9D75-3855766DBAF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6518F9-02D9-4C78-8323-576F003C402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7026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ar-SA"/>
          </a:p>
        </p:txBody>
      </p:sp>
      <p:sp>
        <p:nvSpPr>
          <p:cNvPr id="4" name="Rectangle 1038">
            <a:extLst>
              <a:ext uri="{FF2B5EF4-FFF2-40B4-BE49-F238E27FC236}">
                <a16:creationId xmlns:a16="http://schemas.microsoft.com/office/drawing/2014/main" id="{718AC449-20BD-4969-83FF-F6E4AC7763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D13421-7EFF-4FB0-8726-42D6EF03C52C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6" name="Rectangle 1040">
            <a:extLst>
              <a:ext uri="{FF2B5EF4-FFF2-40B4-BE49-F238E27FC236}">
                <a16:creationId xmlns:a16="http://schemas.microsoft.com/office/drawing/2014/main" id="{786F21C0-A583-49BB-9123-263393B575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4943ED-C5D2-4487-BE16-7ECC6A3BA3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232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Rectangle 1038">
            <a:extLst>
              <a:ext uri="{FF2B5EF4-FFF2-40B4-BE49-F238E27FC236}">
                <a16:creationId xmlns:a16="http://schemas.microsoft.com/office/drawing/2014/main" id="{C0E4B7BA-AAE4-44FE-8630-FCFD32B729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F34A8F-3C20-4E3E-97C8-328F4AC6AB2C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6" name="Rectangle 1040">
            <a:extLst>
              <a:ext uri="{FF2B5EF4-FFF2-40B4-BE49-F238E27FC236}">
                <a16:creationId xmlns:a16="http://schemas.microsoft.com/office/drawing/2014/main" id="{D83E3C73-6FB8-4A49-978E-20A2DDDD17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3987D1-FA01-4399-8E96-B376574D06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347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38">
            <a:extLst>
              <a:ext uri="{FF2B5EF4-FFF2-40B4-BE49-F238E27FC236}">
                <a16:creationId xmlns:a16="http://schemas.microsoft.com/office/drawing/2014/main" id="{F3B0DCBA-3E37-4B3C-A3F8-AC8202F6A9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726E5-CA9C-4B61-9008-4C6B5A82E138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6" name="Rectangle 1040">
            <a:extLst>
              <a:ext uri="{FF2B5EF4-FFF2-40B4-BE49-F238E27FC236}">
                <a16:creationId xmlns:a16="http://schemas.microsoft.com/office/drawing/2014/main" id="{993F0327-9E0B-4DB2-876C-5FD9F43000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9F38B2-551B-4143-9A5F-BB826BB9D6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308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Rectangle 1038">
            <a:extLst>
              <a:ext uri="{FF2B5EF4-FFF2-40B4-BE49-F238E27FC236}">
                <a16:creationId xmlns:a16="http://schemas.microsoft.com/office/drawing/2014/main" id="{5C894710-A288-4007-910C-1DC1DFBF07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AE7E9C-835A-4A5F-86BC-713F681DEC75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7" name="Rectangle 1040">
            <a:extLst>
              <a:ext uri="{FF2B5EF4-FFF2-40B4-BE49-F238E27FC236}">
                <a16:creationId xmlns:a16="http://schemas.microsoft.com/office/drawing/2014/main" id="{5B4573BD-7620-4583-956E-BDDE1EABA4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BA2398-BF2C-454C-BC58-1384F3E7B4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795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7" name="Rectangle 1038">
            <a:extLst>
              <a:ext uri="{FF2B5EF4-FFF2-40B4-BE49-F238E27FC236}">
                <a16:creationId xmlns:a16="http://schemas.microsoft.com/office/drawing/2014/main" id="{414E2B22-39AC-46DD-B47E-A905E87F54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7B9E9-8DC7-41F4-948F-44FB3BFC6808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9" name="Rectangle 1040">
            <a:extLst>
              <a:ext uri="{FF2B5EF4-FFF2-40B4-BE49-F238E27FC236}">
                <a16:creationId xmlns:a16="http://schemas.microsoft.com/office/drawing/2014/main" id="{50430AF1-91F2-4136-867C-749B02006B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9906E1-FB69-4296-A8B3-CE8691F306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0984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Rectangle 1038">
            <a:extLst>
              <a:ext uri="{FF2B5EF4-FFF2-40B4-BE49-F238E27FC236}">
                <a16:creationId xmlns:a16="http://schemas.microsoft.com/office/drawing/2014/main" id="{D5609ABD-7879-4C57-BFDF-873E953F59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36648F-3CEB-4826-82CC-D4821722627F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64F0668D-B6D7-472D-A4A0-C0B52A6D39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5508D3-377A-4F71-BC98-9621EB1AFD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7689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8">
            <a:extLst>
              <a:ext uri="{FF2B5EF4-FFF2-40B4-BE49-F238E27FC236}">
                <a16:creationId xmlns:a16="http://schemas.microsoft.com/office/drawing/2014/main" id="{36B41A37-A223-4415-96C1-936745448F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8B0D1-0EA2-4113-80D6-A031C60587FA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4" name="Rectangle 1040">
            <a:extLst>
              <a:ext uri="{FF2B5EF4-FFF2-40B4-BE49-F238E27FC236}">
                <a16:creationId xmlns:a16="http://schemas.microsoft.com/office/drawing/2014/main" id="{0FD81CCA-3349-47BC-A532-F38E5C2D1C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17AC2C-85BC-476B-A5FE-199D4681E8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4022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38">
            <a:extLst>
              <a:ext uri="{FF2B5EF4-FFF2-40B4-BE49-F238E27FC236}">
                <a16:creationId xmlns:a16="http://schemas.microsoft.com/office/drawing/2014/main" id="{CFA12394-2BC6-4975-A028-3F42DE35D0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FD2EF6-02D8-473D-A22C-61AF56D82D1E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7" name="Rectangle 1040">
            <a:extLst>
              <a:ext uri="{FF2B5EF4-FFF2-40B4-BE49-F238E27FC236}">
                <a16:creationId xmlns:a16="http://schemas.microsoft.com/office/drawing/2014/main" id="{F06DA9DA-5EF7-4771-917F-352542D9F3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E3A219-65EA-4F02-8D07-DE3429D035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2082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ar-S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38">
            <a:extLst>
              <a:ext uri="{FF2B5EF4-FFF2-40B4-BE49-F238E27FC236}">
                <a16:creationId xmlns:a16="http://schemas.microsoft.com/office/drawing/2014/main" id="{C7FCD074-02FF-4793-B783-592771629B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99D34-51DF-4343-9DF0-CFAD805CDE35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6" name="Rectangle 1039">
            <a:extLst>
              <a:ext uri="{FF2B5EF4-FFF2-40B4-BE49-F238E27FC236}">
                <a16:creationId xmlns:a16="http://schemas.microsoft.com/office/drawing/2014/main" id="{5AF2AC5A-CCCB-4466-9684-003A0EF5B6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7" name="Rectangle 1040">
            <a:extLst>
              <a:ext uri="{FF2B5EF4-FFF2-40B4-BE49-F238E27FC236}">
                <a16:creationId xmlns:a16="http://schemas.microsoft.com/office/drawing/2014/main" id="{F2A6D355-C7AA-4D8E-BAF5-04695060D7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416655-4F8F-41FE-9116-CB746E8799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9593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Rectangle 1038">
            <a:extLst>
              <a:ext uri="{FF2B5EF4-FFF2-40B4-BE49-F238E27FC236}">
                <a16:creationId xmlns:a16="http://schemas.microsoft.com/office/drawing/2014/main" id="{D60D7A57-99B6-45BE-8B5F-2278E76B69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3700E3-56B9-4ABF-998B-8C26F09981A2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6" name="Rectangle 1040">
            <a:extLst>
              <a:ext uri="{FF2B5EF4-FFF2-40B4-BE49-F238E27FC236}">
                <a16:creationId xmlns:a16="http://schemas.microsoft.com/office/drawing/2014/main" id="{C5C693B8-1B98-44F1-8760-C72E954AD4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1ADD92-8816-48A6-99B0-F7991ADEE5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2265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5475" y="617538"/>
            <a:ext cx="1968500" cy="5478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617538"/>
            <a:ext cx="5756275" cy="54784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Rectangle 1038">
            <a:extLst>
              <a:ext uri="{FF2B5EF4-FFF2-40B4-BE49-F238E27FC236}">
                <a16:creationId xmlns:a16="http://schemas.microsoft.com/office/drawing/2014/main" id="{7AEA8BC1-6A0C-4CA0-A4C8-FE191F20D5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746F3-7D1A-424B-8C69-225038B72207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6" name="Rectangle 1040">
            <a:extLst>
              <a:ext uri="{FF2B5EF4-FFF2-40B4-BE49-F238E27FC236}">
                <a16:creationId xmlns:a16="http://schemas.microsoft.com/office/drawing/2014/main" id="{EF694E1C-2A5C-491D-BED6-D1634ABB7A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F619C-0A60-43EF-B2A2-A994CC1F09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492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ar-SA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E1C067E-0CC1-4054-A54C-EA461AA3FE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0D1765-A30A-4D93-B41D-20E1ADDE2D2C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5AAC996-1423-459C-BF44-1F46A711CA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677FC2-9C79-41B7-A6C0-AD128D28E9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87611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B94692B-DA5D-41B6-810F-240B81860B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5289DD-BDAE-48A0-9901-F7CD435034FB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EDD2B81-FF38-4CE0-B654-A5B56C812F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EEFD3E-F594-489C-B661-44A4458A65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437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A9486C4-A018-47E2-98A9-AD5829CC40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30706A-B4BD-4755-A66E-7C9B03B62C50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4CB63D6-A4B0-4109-A80A-9F8F9E23D8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74F2DC-5F29-40B7-866F-CD1E86E613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14891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340B680-3EE0-42A1-A07E-C298D655C1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E25F9-4472-4DA1-ABB3-741DF386FCAD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2F41287-886B-454F-9208-1688D7B064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EFEA67-77AF-44AD-8A56-23E22781DF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56799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4DD4FA3-0756-4266-8E44-3080F6E7B1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98672-6FCC-4592-A4E1-9DF838A17369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6E895A85-36E6-4DD0-816A-5AD53F5C61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B7401C-3BE8-46B9-BF55-48EF993377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3282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323A17E-F05D-4C85-BC8A-EC742F24FF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C487A2-DDB6-4028-B528-EFAF33B7B651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D0E0556-0B1A-4C97-BD29-B303AD90A2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7A54D3-B34B-4225-B816-2C92AC350B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52418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F7769087-5FE7-4A6C-A638-B9102A4DF5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EBB4E-4B00-4087-AE7B-B4E7568587EF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B2ACFB7-ACDC-4D58-8E22-1396A7C3F5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FAF1E3-35AC-4660-AF41-BD095EDDD3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9840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9C62017-3B08-4BD3-AE55-908086ECEA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61B3B6-042E-4617-8E09-E2063293A62C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D636616-3DB4-4336-BB9C-43E69A068B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1F9EE1-2568-4C67-B733-927E8E371D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58436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ar-S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4037B24-BBE2-4C52-8298-ED0448B54E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441CA0-8C15-417C-9573-BA82251E9833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1C295CB-DD59-4099-B628-8A4E4EE311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A286EF-B925-4805-9E38-FAD4FFF05F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91095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4D423B3-4350-4494-ACB7-CB797258C2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0C0B1-8C27-45BF-9CE4-1E54E2035CFF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661D262-5B9E-42DF-ACEC-B98D1D5314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62C39-4906-4F6D-88A9-5A7DD3A68C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19741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5475" y="617538"/>
            <a:ext cx="1968500" cy="5478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617538"/>
            <a:ext cx="5756275" cy="54784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7419A44-6A71-4D06-8353-0100FA2D61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709ADC-9388-42BA-B909-A88EBBEACB93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48C3230-4369-496A-AFF4-12DF701E67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19FD39-2937-4C53-916E-133EA81076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29168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0F7C720-7E44-4E69-BFBD-78FCAB87FF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2CCD1F-E870-4A36-952A-966F5CE0976D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FDC7F80-ADF2-41D8-9648-106CEF597C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1B384F-98A1-4098-9251-D14AC69707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39237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668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10668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5029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7456AA97-101F-496C-9999-94E9244EE5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8FEECD-A810-42B8-AA68-744336BA301C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53E71B42-3053-468C-9419-20C0D6101F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B9D0B1-01C2-46BF-B77B-FE163408D1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74676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807C87A-FAD5-4161-A564-5664399CB9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A3A23-8744-4862-9FAB-27A3863817C0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8EFBAB6-A21B-460F-8370-E027A5CB46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3C2BCF-80D7-4CE1-A61E-D46E464C03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38226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029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029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0BD2FCCF-A98D-46C2-BFFB-849B3778A6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A567DD-DE9E-4D7E-9516-3BA69A291623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BDC7CF6F-2348-4F69-A8A1-48EF278CDC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AE1E97-1E06-4855-A732-584E3CEA81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050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A3DDF6-5D2F-4BA7-9295-F4030D0EF2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A220C8F-CBBB-4B13-9AB4-C85E869BC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214ACA60-C146-4327-9A49-D92E5BF660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F3A5566C-ADF1-4BF4-834D-5F8404CC5D3F}" type="slidenum">
              <a:rPr lang="en-US" altLang="tr-TR"/>
              <a:pPr/>
              <a:t>‹#›</a:t>
            </a:fld>
            <a:endParaRPr lang="en-US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1" r:id="rId4"/>
    <p:sldLayoutId id="2147483762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7DC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7DC4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7DC4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7DC4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7DC4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270A70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270A70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270A70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270A70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4211BB"/>
        </a:buClr>
        <a:buFont typeface="Arial" pitchFamily="34" charset="0"/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4211BB"/>
        </a:buClr>
        <a:buFont typeface="Arial" pitchFamily="34" charset="0"/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4211BB"/>
        </a:buClr>
        <a:buFont typeface="Arial" pitchFamily="34" charset="0"/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4211BB"/>
        </a:buClr>
        <a:buFont typeface="Arial" pitchFamily="34" charset="0"/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1026">
            <a:extLst>
              <a:ext uri="{FF2B5EF4-FFF2-40B4-BE49-F238E27FC236}">
                <a16:creationId xmlns:a16="http://schemas.microsoft.com/office/drawing/2014/main" id="{B1153C0E-2ACF-43C5-BFC3-39D3D1EC09D3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2536" name="Group 1027">
              <a:extLst>
                <a:ext uri="{FF2B5EF4-FFF2-40B4-BE49-F238E27FC236}">
                  <a16:creationId xmlns:a16="http://schemas.microsoft.com/office/drawing/2014/main" id="{ED9BF050-9D10-4AE2-A5A2-C85795515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1028">
                <a:extLst>
                  <a:ext uri="{FF2B5EF4-FFF2-40B4-BE49-F238E27FC236}">
                    <a16:creationId xmlns:a16="http://schemas.microsoft.com/office/drawing/2014/main" id="{E1C16CEE-C6AB-4259-8FA6-6BB536E894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3" name="Rectangle 1029">
                <a:extLst>
                  <a:ext uri="{FF2B5EF4-FFF2-40B4-BE49-F238E27FC236}">
                    <a16:creationId xmlns:a16="http://schemas.microsoft.com/office/drawing/2014/main" id="{DB9F73DC-82A5-4D0A-B047-0A795C607F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22537" name="Group 1030">
              <a:extLst>
                <a:ext uri="{FF2B5EF4-FFF2-40B4-BE49-F238E27FC236}">
                  <a16:creationId xmlns:a16="http://schemas.microsoft.com/office/drawing/2014/main" id="{EE6D7955-FB0F-45E6-9619-4F8EAE21BC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1031">
                <a:extLst>
                  <a:ext uri="{FF2B5EF4-FFF2-40B4-BE49-F238E27FC236}">
                    <a16:creationId xmlns:a16="http://schemas.microsoft.com/office/drawing/2014/main" id="{F08D796F-1BF2-4312-A6F3-F97C0E7781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1" name="Rectangle 1032">
                <a:extLst>
                  <a:ext uri="{FF2B5EF4-FFF2-40B4-BE49-F238E27FC236}">
                    <a16:creationId xmlns:a16="http://schemas.microsoft.com/office/drawing/2014/main" id="{ABD47E13-8998-4557-BF70-79D0833FB5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17" name="Rectangle 1033">
              <a:extLst>
                <a:ext uri="{FF2B5EF4-FFF2-40B4-BE49-F238E27FC236}">
                  <a16:creationId xmlns:a16="http://schemas.microsoft.com/office/drawing/2014/main" id="{FEDB693B-C726-4EC4-8190-0784F4D20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Rectangle 1034">
              <a:extLst>
                <a:ext uri="{FF2B5EF4-FFF2-40B4-BE49-F238E27FC236}">
                  <a16:creationId xmlns:a16="http://schemas.microsoft.com/office/drawing/2014/main" id="{F142CFB6-908B-4B5D-952A-1A6E662B5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Rectangle 1035">
              <a:extLst>
                <a:ext uri="{FF2B5EF4-FFF2-40B4-BE49-F238E27FC236}">
                  <a16:creationId xmlns:a16="http://schemas.microsoft.com/office/drawing/2014/main" id="{83DCB9B1-1A57-48FA-A051-33BECF39838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2531" name="Rectangle 9">
            <a:extLst>
              <a:ext uri="{FF2B5EF4-FFF2-40B4-BE49-F238E27FC236}">
                <a16:creationId xmlns:a16="http://schemas.microsoft.com/office/drawing/2014/main" id="{96D12B17-DA27-428B-89A3-56A51A63D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2532" name="Rectangle 10">
            <a:extLst>
              <a:ext uri="{FF2B5EF4-FFF2-40B4-BE49-F238E27FC236}">
                <a16:creationId xmlns:a16="http://schemas.microsoft.com/office/drawing/2014/main" id="{5110E9C0-472C-45A2-B57E-E85424A56E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4" name="Rectangle 1038">
            <a:extLst>
              <a:ext uri="{FF2B5EF4-FFF2-40B4-BE49-F238E27FC236}">
                <a16:creationId xmlns:a16="http://schemas.microsoft.com/office/drawing/2014/main" id="{540B16AD-0E99-463F-96C3-BC8A4DD7047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B607F5A-AFFB-4077-A783-0BC5FC050396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26" name="Rectangle 1040">
            <a:extLst>
              <a:ext uri="{FF2B5EF4-FFF2-40B4-BE49-F238E27FC236}">
                <a16:creationId xmlns:a16="http://schemas.microsoft.com/office/drawing/2014/main" id="{016C9E02-840D-4B1E-ACF6-6E20706E732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2"/>
                </a:solidFill>
              </a:defRPr>
            </a:lvl1pPr>
          </a:lstStyle>
          <a:p>
            <a:fld id="{6AA081DB-D38B-4E97-BCDB-6976824401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840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59CA0746-7790-485A-B33E-E0CDDE21894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22A3E4E6-040F-45CF-BF24-A43362CC46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2" name="Rectangle 4">
            <a:extLst>
              <a:ext uri="{FF2B5EF4-FFF2-40B4-BE49-F238E27FC236}">
                <a16:creationId xmlns:a16="http://schemas.microsoft.com/office/drawing/2014/main" id="{07B51543-DADA-4595-AF0B-418D24D84A9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3" name="Rectangle 5">
            <a:extLst>
              <a:ext uri="{FF2B5EF4-FFF2-40B4-BE49-F238E27FC236}">
                <a16:creationId xmlns:a16="http://schemas.microsoft.com/office/drawing/2014/main" id="{759F47F8-146A-489D-8DA8-38FAA4C828B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4" name="Rectangle 6">
            <a:extLst>
              <a:ext uri="{FF2B5EF4-FFF2-40B4-BE49-F238E27FC236}">
                <a16:creationId xmlns:a16="http://schemas.microsoft.com/office/drawing/2014/main" id="{3872ECC6-2B37-4CE9-B843-E485874ECC8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5" name="Rectangle 7">
            <a:extLst>
              <a:ext uri="{FF2B5EF4-FFF2-40B4-BE49-F238E27FC236}">
                <a16:creationId xmlns:a16="http://schemas.microsoft.com/office/drawing/2014/main" id="{D5F7C71C-D096-42D7-BFE1-B9599F50FC7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6" name="Rectangle 8">
            <a:extLst>
              <a:ext uri="{FF2B5EF4-FFF2-40B4-BE49-F238E27FC236}">
                <a16:creationId xmlns:a16="http://schemas.microsoft.com/office/drawing/2014/main" id="{62995E6F-F59B-4A02-9027-29E97184967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23561" name="Rectangle 9">
            <a:extLst>
              <a:ext uri="{FF2B5EF4-FFF2-40B4-BE49-F238E27FC236}">
                <a16:creationId xmlns:a16="http://schemas.microsoft.com/office/drawing/2014/main" id="{DC6DECC7-5699-48C6-9DA7-943D4C114D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3562" name="Rectangle 10">
            <a:extLst>
              <a:ext uri="{FF2B5EF4-FFF2-40B4-BE49-F238E27FC236}">
                <a16:creationId xmlns:a16="http://schemas.microsoft.com/office/drawing/2014/main" id="{9C43EFC3-B60F-4034-AD3F-81CD6D97BF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71019" name="Rectangle 11">
            <a:extLst>
              <a:ext uri="{FF2B5EF4-FFF2-40B4-BE49-F238E27FC236}">
                <a16:creationId xmlns:a16="http://schemas.microsoft.com/office/drawing/2014/main" id="{F877C986-155D-4C40-9624-462A76018EF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48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pPr>
              <a:defRPr/>
            </a:pPr>
            <a:fld id="{77F11BAA-6A02-4E53-B529-BDAF2659E590}" type="datetime1">
              <a:rPr lang="en-US"/>
              <a:pPr>
                <a:defRPr/>
              </a:pPr>
              <a:t>12/22/2023</a:t>
            </a:fld>
            <a:endParaRPr lang="en-US"/>
          </a:p>
        </p:txBody>
      </p:sp>
      <p:sp>
        <p:nvSpPr>
          <p:cNvPr id="171021" name="Rectangle 13">
            <a:extLst>
              <a:ext uri="{FF2B5EF4-FFF2-40B4-BE49-F238E27FC236}">
                <a16:creationId xmlns:a16="http://schemas.microsoft.com/office/drawing/2014/main" id="{D6771F6A-6FE2-433C-B014-44776F1628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12543975-3D45-4125-A075-E1E08DF66D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221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  <p:sldLayoutId id="2147483789" r:id="rId14"/>
    <p:sldLayoutId id="2147483790" r:id="rId1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60.png"/><Relationship Id="rId5" Type="http://schemas.openxmlformats.org/officeDocument/2006/relationships/image" Target="../media/image31.wmf"/><Relationship Id="rId4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5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6.png"/><Relationship Id="rId4" Type="http://schemas.openxmlformats.org/officeDocument/2006/relationships/image" Target="../media/image35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7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8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9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10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42.wmf"/><Relationship Id="rId4" Type="http://schemas.openxmlformats.org/officeDocument/2006/relationships/oleObject" Target="../embeddings/oleObject12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32.png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50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51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56.wmf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53.wmf"/><Relationship Id="rId12" Type="http://schemas.openxmlformats.org/officeDocument/2006/relationships/oleObject" Target="../embeddings/oleObject20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58.png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5" Type="http://schemas.openxmlformats.org/officeDocument/2006/relationships/image" Target="../media/image57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54.wmf"/><Relationship Id="rId14" Type="http://schemas.openxmlformats.org/officeDocument/2006/relationships/oleObject" Target="../embeddings/oleObject21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60.wmf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61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63.wmf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64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67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66.wmf"/><Relationship Id="rId4" Type="http://schemas.openxmlformats.org/officeDocument/2006/relationships/oleObject" Target="../embeddings/oleObject29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6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31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70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image" Target="../media/image77.png"/><Relationship Id="rId7" Type="http://schemas.openxmlformats.org/officeDocument/2006/relationships/image" Target="../media/image7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76.wmf"/><Relationship Id="rId5" Type="http://schemas.openxmlformats.org/officeDocument/2006/relationships/image" Target="../media/image73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75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43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oleObject" Target="../embeddings/oleObject44.bin"/><Relationship Id="rId7" Type="http://schemas.openxmlformats.org/officeDocument/2006/relationships/image" Target="../media/image81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46.bin"/><Relationship Id="rId5" Type="http://schemas.openxmlformats.org/officeDocument/2006/relationships/oleObject" Target="../embeddings/oleObject45.bin"/><Relationship Id="rId4" Type="http://schemas.openxmlformats.org/officeDocument/2006/relationships/image" Target="../media/image68.wmf"/><Relationship Id="rId9" Type="http://schemas.openxmlformats.org/officeDocument/2006/relationships/image" Target="../media/image82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51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55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94.w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59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98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63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103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102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67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104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oleObject" Target="../embeddings/oleObject75.bin"/><Relationship Id="rId18" Type="http://schemas.openxmlformats.org/officeDocument/2006/relationships/image" Target="../media/image112.wmf"/><Relationship Id="rId3" Type="http://schemas.openxmlformats.org/officeDocument/2006/relationships/oleObject" Target="../embeddings/oleObject70.bin"/><Relationship Id="rId21" Type="http://schemas.openxmlformats.org/officeDocument/2006/relationships/oleObject" Target="../embeddings/oleObject79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109.wmf"/><Relationship Id="rId17" Type="http://schemas.openxmlformats.org/officeDocument/2006/relationships/oleObject" Target="../embeddings/oleObject7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11.wmf"/><Relationship Id="rId20" Type="http://schemas.openxmlformats.org/officeDocument/2006/relationships/image" Target="../media/image113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74.bin"/><Relationship Id="rId24" Type="http://schemas.openxmlformats.org/officeDocument/2006/relationships/image" Target="../media/image115.wmf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76.bin"/><Relationship Id="rId23" Type="http://schemas.openxmlformats.org/officeDocument/2006/relationships/oleObject" Target="../embeddings/oleObject80.bin"/><Relationship Id="rId10" Type="http://schemas.openxmlformats.org/officeDocument/2006/relationships/image" Target="../media/image108.wmf"/><Relationship Id="rId19" Type="http://schemas.openxmlformats.org/officeDocument/2006/relationships/oleObject" Target="../embeddings/oleObject78.bin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110.wmf"/><Relationship Id="rId22" Type="http://schemas.openxmlformats.org/officeDocument/2006/relationships/image" Target="../media/image114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116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119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125.wmf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90.bin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F84941-170E-4EF5-A879-CEDF14EBE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362200"/>
            <a:ext cx="6019800" cy="26100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8AE555-2D36-49D9-89F4-06BB97B53B1D}"/>
              </a:ext>
            </a:extLst>
          </p:cNvPr>
          <p:cNvSpPr txBox="1"/>
          <p:nvPr/>
        </p:nvSpPr>
        <p:spPr>
          <a:xfrm>
            <a:off x="1009650" y="1371600"/>
            <a:ext cx="71247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Flux" pitchFamily="50" charset="0"/>
              </a:rPr>
              <a:t>Numerical Integration with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F84941-170E-4EF5-A879-CEDF14EBE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1210"/>
            <a:ext cx="2819400" cy="12224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8AE555-2D36-49D9-89F4-06BB97B53B1D}"/>
              </a:ext>
            </a:extLst>
          </p:cNvPr>
          <p:cNvSpPr txBox="1"/>
          <p:nvPr/>
        </p:nvSpPr>
        <p:spPr>
          <a:xfrm>
            <a:off x="1009650" y="2921169"/>
            <a:ext cx="71247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000" b="1" dirty="0">
                <a:solidFill>
                  <a:schemeClr val="accent5">
                    <a:lumMod val="50000"/>
                  </a:schemeClr>
                </a:solidFill>
                <a:latin typeface="Flux" pitchFamily="50" charset="0"/>
              </a:rPr>
              <a:t>Trapezoidal Rule</a:t>
            </a:r>
            <a:endParaRPr lang="en-GB" sz="4400" b="1" dirty="0">
              <a:solidFill>
                <a:schemeClr val="accent5">
                  <a:lumMod val="50000"/>
                </a:schemeClr>
              </a:solidFill>
              <a:latin typeface="Flux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75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705" y="304800"/>
            <a:ext cx="2420620" cy="68993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I</a:t>
            </a:r>
            <a:r>
              <a:rPr spc="-50" dirty="0"/>
              <a:t>n</a:t>
            </a:r>
            <a:r>
              <a:rPr spc="-55" dirty="0"/>
              <a:t>t</a:t>
            </a:r>
            <a:r>
              <a:rPr spc="-5" dirty="0"/>
              <a:t>eg</a:t>
            </a:r>
            <a:r>
              <a:rPr spc="-105" dirty="0"/>
              <a:t>r</a:t>
            </a:r>
            <a:r>
              <a:rPr dirty="0"/>
              <a:t>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543" y="1371600"/>
            <a:ext cx="6095365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Indefinite</a:t>
            </a:r>
            <a:r>
              <a:rPr sz="2800" b="1" spc="-15" dirty="0">
                <a:latin typeface="Calibri"/>
                <a:cs typeface="Calibri"/>
              </a:rPr>
              <a:t> Integral</a:t>
            </a:r>
            <a:endParaRPr sz="2800">
              <a:latin typeface="Calibri"/>
              <a:cs typeface="Calibri"/>
            </a:endParaRPr>
          </a:p>
          <a:p>
            <a:pPr marL="12700">
              <a:spcBef>
                <a:spcPts val="40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indefinite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integral </a:t>
            </a:r>
            <a:r>
              <a:rPr sz="2400" spc="-5" dirty="0">
                <a:latin typeface="Calibri"/>
                <a:cs typeface="Calibri"/>
              </a:rPr>
              <a:t>of f(x)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40" dirty="0">
                <a:latin typeface="Cambria Math"/>
                <a:cs typeface="Cambria Math"/>
              </a:rPr>
              <a:t>𝐹(𝑥)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8600" y="3329067"/>
            <a:ext cx="416496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/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Definite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Integral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542" y="3723641"/>
            <a:ext cx="8006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definite </a:t>
            </a:r>
            <a:r>
              <a:rPr sz="2400" spc="-15" dirty="0">
                <a:latin typeface="Calibri"/>
                <a:cs typeface="Calibri"/>
              </a:rPr>
              <a:t>integral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f(x)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NUMBER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represents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area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9542" y="4077210"/>
            <a:ext cx="5548630" cy="3705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under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 curve f(x)</a:t>
            </a:r>
            <a:r>
              <a:rPr sz="2400" spc="-10" dirty="0">
                <a:latin typeface="Calibri"/>
                <a:cs typeface="Calibri"/>
              </a:rPr>
              <a:t> from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400" spc="2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𝑎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400" spc="2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25" dirty="0">
                <a:latin typeface="Cambria Math"/>
                <a:cs typeface="Cambria Math"/>
              </a:rPr>
              <a:t>𝑏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18172" y="4403428"/>
            <a:ext cx="2818765" cy="11394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BE4B48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1440" marR="149225">
              <a:lnSpc>
                <a:spcPct val="100400"/>
              </a:lnSpc>
              <a:spcBef>
                <a:spcPts val="245"/>
              </a:spcBef>
            </a:pPr>
            <a:r>
              <a:rPr spc="-5" dirty="0">
                <a:latin typeface="Calibri"/>
                <a:cs typeface="Calibri"/>
              </a:rPr>
              <a:t>Since </a:t>
            </a:r>
            <a:r>
              <a:rPr dirty="0">
                <a:latin typeface="Calibri"/>
                <a:cs typeface="Calibri"/>
              </a:rPr>
              <a:t>the </a:t>
            </a:r>
            <a:r>
              <a:rPr spc="-5" dirty="0">
                <a:latin typeface="Calibri"/>
                <a:cs typeface="Calibri"/>
              </a:rPr>
              <a:t>topic is Numerical </a:t>
            </a:r>
            <a:r>
              <a:rPr spc="-39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Integration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in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Python, </a:t>
            </a:r>
            <a:r>
              <a:rPr spc="-10" dirty="0">
                <a:latin typeface="Calibri"/>
                <a:cs typeface="Calibri"/>
              </a:rPr>
              <a:t>we 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will </a:t>
            </a:r>
            <a:r>
              <a:rPr spc="-10" dirty="0">
                <a:latin typeface="Calibri"/>
                <a:cs typeface="Calibri"/>
              </a:rPr>
              <a:t>focus </a:t>
            </a:r>
            <a:r>
              <a:rPr dirty="0">
                <a:latin typeface="Calibri"/>
                <a:cs typeface="Calibri"/>
              </a:rPr>
              <a:t>on the </a:t>
            </a:r>
            <a:r>
              <a:rPr b="1" spc="-10" dirty="0">
                <a:latin typeface="Calibri"/>
                <a:cs typeface="Calibri"/>
              </a:rPr>
              <a:t>Definite 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Integral</a:t>
            </a:r>
            <a:endParaRPr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33299" y="2861056"/>
            <a:ext cx="196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Where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z="1950" u="sng" spc="82" baseline="44871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𝑑𝐹(𝑥)</a:t>
            </a:r>
            <a:r>
              <a:rPr sz="1950" spc="307" baseline="44871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=</a:t>
            </a:r>
            <a:r>
              <a:rPr spc="85" dirty="0">
                <a:latin typeface="Cambria Math"/>
                <a:cs typeface="Cambria Math"/>
              </a:rPr>
              <a:t> </a:t>
            </a:r>
            <a:r>
              <a:rPr spc="25" dirty="0">
                <a:latin typeface="Cambria Math"/>
                <a:cs typeface="Cambria Math"/>
              </a:rPr>
              <a:t>𝑓(𝑥)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58700" y="3040381"/>
            <a:ext cx="1346835" cy="4895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00">
              <a:lnSpc>
                <a:spcPts val="1525"/>
              </a:lnSpc>
              <a:spcBef>
                <a:spcPts val="100"/>
              </a:spcBef>
            </a:pPr>
            <a:r>
              <a:rPr sz="1300" spc="70" dirty="0">
                <a:latin typeface="Cambria Math"/>
                <a:cs typeface="Cambria Math"/>
              </a:rPr>
              <a:t>𝑑</a:t>
            </a:r>
            <a:r>
              <a:rPr lang="en-US" sz="1300" spc="70" dirty="0">
                <a:latin typeface="Cambria Math"/>
                <a:cs typeface="Cambria Math"/>
              </a:rPr>
              <a:t>x</a:t>
            </a:r>
            <a:endParaRPr sz="1300" dirty="0">
              <a:latin typeface="Cambria Math"/>
              <a:cs typeface="Cambria Math"/>
            </a:endParaRPr>
          </a:p>
          <a:p>
            <a:pPr marL="12700">
              <a:lnSpc>
                <a:spcPts val="2125"/>
              </a:lnSpc>
            </a:pPr>
            <a:r>
              <a:rPr dirty="0">
                <a:latin typeface="Cambria Math"/>
                <a:cs typeface="Cambria Math"/>
              </a:rPr>
              <a:t>𝑐</a:t>
            </a:r>
            <a:r>
              <a:rPr spc="40" dirty="0">
                <a:latin typeface="Cambria Math"/>
                <a:cs typeface="Cambria Math"/>
              </a:rPr>
              <a:t> </a:t>
            </a:r>
            <a:r>
              <a:rPr spc="-5" dirty="0">
                <a:latin typeface="Calibri"/>
                <a:cs typeface="Calibri"/>
              </a:rPr>
              <a:t>is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constant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58699" y="2401825"/>
            <a:ext cx="26517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52425" algn="l"/>
              </a:tabLst>
            </a:pPr>
            <a:r>
              <a:rPr sz="1600" b="1" dirty="0">
                <a:latin typeface="Cambria Math"/>
                <a:cs typeface="Cambria Math"/>
              </a:rPr>
              <a:t>∫</a:t>
            </a:r>
            <a:r>
              <a:rPr lang="en-US" sz="1600" dirty="0">
                <a:latin typeface="Cambria Math"/>
                <a:cs typeface="Cambria Math"/>
              </a:rPr>
              <a:t> </a:t>
            </a:r>
            <a:r>
              <a:rPr sz="2400" spc="-7" baseline="3472" dirty="0">
                <a:latin typeface="Calibri"/>
                <a:cs typeface="Calibri"/>
              </a:rPr>
              <a:t>is</a:t>
            </a:r>
            <a:r>
              <a:rPr sz="2400" spc="-30" baseline="3472" dirty="0">
                <a:latin typeface="Calibri"/>
                <a:cs typeface="Calibri"/>
              </a:rPr>
              <a:t> </a:t>
            </a:r>
            <a:r>
              <a:rPr sz="2400" spc="-7" baseline="3472" dirty="0">
                <a:latin typeface="Calibri"/>
                <a:cs typeface="Calibri"/>
              </a:rPr>
              <a:t>called</a:t>
            </a:r>
            <a:r>
              <a:rPr sz="2400" spc="-30" baseline="3472" dirty="0">
                <a:latin typeface="Calibri"/>
                <a:cs typeface="Calibri"/>
              </a:rPr>
              <a:t> </a:t>
            </a:r>
            <a:r>
              <a:rPr sz="2400" spc="-7" baseline="3472" dirty="0">
                <a:latin typeface="Calibri"/>
                <a:cs typeface="Calibri"/>
              </a:rPr>
              <a:t>the</a:t>
            </a:r>
            <a:r>
              <a:rPr sz="2400" spc="-22" baseline="3472" dirty="0">
                <a:latin typeface="Calibri"/>
                <a:cs typeface="Calibri"/>
              </a:rPr>
              <a:t> </a:t>
            </a:r>
            <a:r>
              <a:rPr sz="2400" spc="-15" baseline="3472" dirty="0">
                <a:latin typeface="Calibri"/>
                <a:cs typeface="Calibri"/>
              </a:rPr>
              <a:t>Integral</a:t>
            </a:r>
            <a:r>
              <a:rPr sz="2400" spc="-22" baseline="3472" dirty="0">
                <a:latin typeface="Calibri"/>
                <a:cs typeface="Calibri"/>
              </a:rPr>
              <a:t> </a:t>
            </a:r>
            <a:r>
              <a:rPr sz="2400" spc="-15" baseline="3472" dirty="0">
                <a:latin typeface="Calibri"/>
                <a:cs typeface="Calibri"/>
              </a:rPr>
              <a:t>symbol</a:t>
            </a:r>
            <a:endParaRPr sz="2400" baseline="3472" dirty="0">
              <a:latin typeface="Calibri"/>
              <a:cs typeface="Calibri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CC53FDE-8B19-49B1-8D97-FE577C320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57362"/>
            <a:ext cx="4267200" cy="9139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D9A09FE-C31E-481C-AAF3-23607D65D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17209"/>
            <a:ext cx="2240281" cy="866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3774" y="304800"/>
            <a:ext cx="3098800" cy="68993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I</a:t>
            </a:r>
            <a:r>
              <a:rPr spc="-50" dirty="0"/>
              <a:t>n</a:t>
            </a:r>
            <a:r>
              <a:rPr spc="-55" dirty="0"/>
              <a:t>t</a:t>
            </a:r>
            <a:r>
              <a:rPr spc="-5" dirty="0"/>
              <a:t>eg</a:t>
            </a:r>
            <a:r>
              <a:rPr spc="-105" dirty="0"/>
              <a:t>r</a:t>
            </a:r>
            <a:r>
              <a:rPr spc="-50" dirty="0"/>
              <a:t>a</a:t>
            </a:r>
            <a:r>
              <a:rPr dirty="0"/>
              <a:t>ti</a:t>
            </a:r>
            <a:r>
              <a:rPr spc="5" dirty="0"/>
              <a:t>o</a:t>
            </a:r>
            <a:r>
              <a:rPr dirty="0"/>
              <a:t>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345014" y="1828800"/>
            <a:ext cx="6264275" cy="2536825"/>
            <a:chOff x="1303075" y="1454171"/>
            <a:chExt cx="6264275" cy="25368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3075" y="1454171"/>
              <a:ext cx="6264017" cy="253641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771379" y="1684421"/>
              <a:ext cx="481330" cy="440055"/>
            </a:xfrm>
            <a:custGeom>
              <a:avLst/>
              <a:gdLst/>
              <a:ahLst/>
              <a:cxnLst/>
              <a:rect l="l" t="t" r="r" b="b"/>
              <a:pathLst>
                <a:path w="481329" h="440055">
                  <a:moveTo>
                    <a:pt x="481263" y="0"/>
                  </a:moveTo>
                  <a:lnTo>
                    <a:pt x="0" y="0"/>
                  </a:lnTo>
                  <a:lnTo>
                    <a:pt x="0" y="440011"/>
                  </a:lnTo>
                  <a:lnTo>
                    <a:pt x="481263" y="440011"/>
                  </a:lnTo>
                  <a:lnTo>
                    <a:pt x="481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71379" y="1684421"/>
              <a:ext cx="481330" cy="440055"/>
            </a:xfrm>
            <a:custGeom>
              <a:avLst/>
              <a:gdLst/>
              <a:ahLst/>
              <a:cxnLst/>
              <a:rect l="l" t="t" r="r" b="b"/>
              <a:pathLst>
                <a:path w="481329" h="440055">
                  <a:moveTo>
                    <a:pt x="0" y="0"/>
                  </a:moveTo>
                  <a:lnTo>
                    <a:pt x="481264" y="0"/>
                  </a:lnTo>
                  <a:lnTo>
                    <a:pt x="481264" y="440012"/>
                  </a:lnTo>
                  <a:lnTo>
                    <a:pt x="0" y="44001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FF339F0-1BE1-4330-B032-98F970456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76" y="4603984"/>
            <a:ext cx="7840924" cy="765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00668"/>
            <a:ext cx="8229600" cy="68993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1158" y="1295400"/>
            <a:ext cx="40138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Given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1158" y="2202687"/>
            <a:ext cx="4366260" cy="582851"/>
          </a:xfrm>
          <a:prstGeom prst="rect">
            <a:avLst/>
          </a:prstGeom>
        </p:spPr>
        <p:txBody>
          <a:bodyPr vert="horz" wrap="square" lIns="0" tIns="211454" rIns="0" bIns="0" rtlCol="0">
            <a:spAutoFit/>
          </a:bodyPr>
          <a:lstStyle/>
          <a:p>
            <a:pPr marL="12700">
              <a:spcBef>
                <a:spcPts val="1664"/>
              </a:spcBef>
            </a:pPr>
            <a:r>
              <a:rPr sz="2400" spc="-45" dirty="0">
                <a:latin typeface="Calibri"/>
                <a:cs typeface="Calibri"/>
              </a:rPr>
              <a:t>We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exact </a:t>
            </a:r>
            <a:r>
              <a:rPr sz="2400" spc="-5" dirty="0">
                <a:latin typeface="Calibri"/>
                <a:cs typeface="Calibri"/>
              </a:rPr>
              <a:t>solution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is: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1158" y="4039567"/>
            <a:ext cx="3243580" cy="359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665"/>
              </a:lnSpc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integral </a:t>
            </a:r>
            <a:r>
              <a:rPr sz="2400" spc="-10" dirty="0">
                <a:latin typeface="Calibri"/>
                <a:cs typeface="Calibri"/>
              </a:rPr>
              <a:t>from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15" dirty="0">
                <a:latin typeface="Calibri"/>
                <a:cs typeface="Calibri"/>
              </a:rPr>
              <a:t> 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is: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1158" y="4716781"/>
            <a:ext cx="2198370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spc="-35" dirty="0">
                <a:latin typeface="Calibri"/>
                <a:cs typeface="Calibri"/>
              </a:rPr>
              <a:t>We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will </a:t>
            </a:r>
            <a:r>
              <a:rPr spc="-25" dirty="0">
                <a:latin typeface="Calibri"/>
                <a:cs typeface="Calibri"/>
              </a:rPr>
              <a:t>take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it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step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by 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step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to</a:t>
            </a:r>
            <a:r>
              <a:rPr spc="-5" dirty="0">
                <a:latin typeface="Calibri"/>
                <a:cs typeface="Calibri"/>
              </a:rPr>
              <a:t> see how </a:t>
            </a:r>
            <a:r>
              <a:rPr spc="-10" dirty="0">
                <a:latin typeface="Calibri"/>
                <a:cs typeface="Calibri"/>
              </a:rPr>
              <a:t>we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can </a:t>
            </a:r>
            <a:r>
              <a:rPr spc="-39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solve</a:t>
            </a:r>
            <a:r>
              <a:rPr spc="-5" dirty="0">
                <a:latin typeface="Calibri"/>
                <a:cs typeface="Calibri"/>
              </a:rPr>
              <a:t> this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using </a:t>
            </a:r>
            <a:r>
              <a:rPr dirty="0">
                <a:latin typeface="Calibri"/>
                <a:cs typeface="Calibri"/>
              </a:rPr>
              <a:t>Python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ECA9B8-C98B-4EB8-A82C-00472CC85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58" y="3026152"/>
            <a:ext cx="2368423" cy="8634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F44A4B9-9DA0-44BC-B400-33A9E1713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58" y="4698495"/>
            <a:ext cx="3243580" cy="95417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AB2F1F3-3CF7-43A8-BC4D-2D7DC47D5457}"/>
              </a:ext>
            </a:extLst>
          </p:cNvPr>
          <p:cNvSpPr txBox="1"/>
          <p:nvPr/>
        </p:nvSpPr>
        <p:spPr>
          <a:xfrm>
            <a:off x="1371600" y="169584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spc="35" dirty="0">
                <a:latin typeface="Cambria Math"/>
                <a:cs typeface="Cambria Math"/>
              </a:rPr>
              <a:t>𝑓(𝑥)</a:t>
            </a:r>
            <a:r>
              <a:rPr lang="en-GB" sz="2400" b="1" spc="105" dirty="0">
                <a:latin typeface="Cambria Math"/>
                <a:cs typeface="Cambria Math"/>
              </a:rPr>
              <a:t> </a:t>
            </a:r>
            <a:r>
              <a:rPr lang="en-GB" sz="2400" b="1" dirty="0">
                <a:latin typeface="Cambria Math"/>
                <a:cs typeface="Cambria Math"/>
              </a:rPr>
              <a:t>=</a:t>
            </a:r>
            <a:r>
              <a:rPr lang="en-GB" sz="2400" b="1" spc="100" dirty="0">
                <a:latin typeface="Cambria Math"/>
                <a:cs typeface="Cambria Math"/>
              </a:rPr>
              <a:t> </a:t>
            </a:r>
            <a:r>
              <a:rPr lang="en-GB" sz="2400" b="1" spc="80" dirty="0">
                <a:latin typeface="Cambria Math"/>
                <a:cs typeface="Cambria Math"/>
              </a:rPr>
              <a:t>𝑥</a:t>
            </a:r>
            <a:r>
              <a:rPr lang="en-GB" sz="2800" b="1" spc="120" baseline="27777" dirty="0">
                <a:latin typeface="Cambria Math"/>
                <a:cs typeface="Cambria Math"/>
              </a:rPr>
              <a:t>2</a:t>
            </a:r>
            <a:endParaRPr lang="en-GB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728" y="4632452"/>
            <a:ext cx="2906527" cy="206488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82010" y="300668"/>
            <a:ext cx="2379980" cy="68993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4400" b="1" spc="-20" dirty="0">
                <a:solidFill>
                  <a:srgbClr val="007DC4"/>
                </a:solidFill>
                <a:latin typeface="+mj-lt"/>
                <a:cs typeface="+mj-cs"/>
              </a:rPr>
              <a:t>Example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02677" y="1905253"/>
            <a:ext cx="1386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400" spc="35" dirty="0">
                <a:latin typeface="Cambria Math"/>
                <a:cs typeface="Cambria Math"/>
              </a:rPr>
              <a:t>𝑓(𝑥)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spc="80" dirty="0">
                <a:latin typeface="Cambria Math"/>
                <a:cs typeface="Cambria Math"/>
              </a:rPr>
              <a:t>𝑥</a:t>
            </a:r>
            <a:r>
              <a:rPr sz="2700" spc="120" baseline="27777" dirty="0">
                <a:latin typeface="Cambria Math"/>
                <a:cs typeface="Cambria Math"/>
              </a:rPr>
              <a:t>2</a:t>
            </a:r>
            <a:endParaRPr sz="2700" baseline="27777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91000" y="1543318"/>
            <a:ext cx="4755777" cy="3480248"/>
          </a:xfrm>
          <a:prstGeom prst="rect">
            <a:avLst/>
          </a:prstGeom>
          <a:ln w="9525">
            <a:solidFill>
              <a:srgbClr val="F6924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0805" marR="715645">
              <a:lnSpc>
                <a:spcPts val="1390"/>
              </a:lnSpc>
              <a:spcBef>
                <a:spcPts val="350"/>
              </a:spcBef>
            </a:pPr>
            <a:r>
              <a:rPr sz="1600" dirty="0">
                <a:latin typeface="Courier New"/>
                <a:cs typeface="Courier New"/>
              </a:rPr>
              <a:t>import matplotlib.pyplot as plt </a:t>
            </a:r>
            <a:r>
              <a:rPr sz="1600" spc="-7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import numpy as np</a:t>
            </a:r>
          </a:p>
          <a:p>
            <a:pPr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90805">
              <a:lnSpc>
                <a:spcPts val="1415"/>
              </a:lnSpc>
            </a:pPr>
            <a:r>
              <a:rPr sz="1600" dirty="0">
                <a:latin typeface="Courier New"/>
                <a:cs typeface="Courier New"/>
              </a:rPr>
              <a:t>xstart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0</a:t>
            </a:r>
          </a:p>
          <a:p>
            <a:pPr marL="90805">
              <a:lnSpc>
                <a:spcPts val="1415"/>
              </a:lnSpc>
            </a:pPr>
            <a:r>
              <a:rPr sz="1600" dirty="0">
                <a:latin typeface="Courier New"/>
                <a:cs typeface="Courier New"/>
              </a:rPr>
              <a:t>xstop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1.1</a:t>
            </a:r>
          </a:p>
          <a:p>
            <a:pPr marL="90805">
              <a:spcBef>
                <a:spcPts val="75"/>
              </a:spcBef>
            </a:pPr>
            <a:r>
              <a:rPr sz="1600" dirty="0">
                <a:latin typeface="Courier New"/>
                <a:cs typeface="Courier New"/>
              </a:rPr>
              <a:t>increment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0.1</a:t>
            </a:r>
          </a:p>
          <a:p>
            <a:pPr>
              <a:spcBef>
                <a:spcPts val="45"/>
              </a:spcBef>
            </a:pPr>
            <a:endParaRPr sz="1600" dirty="0">
              <a:latin typeface="Courier New"/>
              <a:cs typeface="Courier New"/>
            </a:endParaRPr>
          </a:p>
          <a:p>
            <a:pPr marL="90805">
              <a:lnSpc>
                <a:spcPts val="1415"/>
              </a:lnSpc>
            </a:pPr>
            <a:r>
              <a:rPr sz="1600" dirty="0">
                <a:latin typeface="Courier New"/>
                <a:cs typeface="Courier New"/>
              </a:rPr>
              <a:t>x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np.arange(xstart,xstop,increment)</a:t>
            </a:r>
          </a:p>
          <a:p>
            <a:pPr marL="90805">
              <a:lnSpc>
                <a:spcPts val="1415"/>
              </a:lnSpc>
            </a:pPr>
            <a:r>
              <a:rPr sz="1600" b="1" dirty="0">
                <a:solidFill>
                  <a:srgbClr val="632523"/>
                </a:solidFill>
                <a:latin typeface="Courier New"/>
                <a:cs typeface="Courier New"/>
              </a:rPr>
              <a:t>y</a:t>
            </a:r>
            <a:r>
              <a:rPr sz="1600" b="1" spc="-35" dirty="0">
                <a:solidFill>
                  <a:srgbClr val="632523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632523"/>
                </a:solidFill>
                <a:latin typeface="Courier New"/>
                <a:cs typeface="Courier New"/>
              </a:rPr>
              <a:t>=</a:t>
            </a:r>
            <a:r>
              <a:rPr sz="1600" b="1" spc="-35" dirty="0">
                <a:solidFill>
                  <a:srgbClr val="632523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632523"/>
                </a:solidFill>
                <a:latin typeface="Courier New"/>
                <a:cs typeface="Courier New"/>
              </a:rPr>
              <a:t>x**2</a:t>
            </a:r>
            <a:endParaRPr sz="1600" dirty="0">
              <a:latin typeface="Courier New"/>
              <a:cs typeface="Courier New"/>
            </a:endParaRPr>
          </a:p>
          <a:p>
            <a:pPr>
              <a:spcBef>
                <a:spcPts val="50"/>
              </a:spcBef>
            </a:pPr>
            <a:endParaRPr sz="1600" dirty="0">
              <a:latin typeface="Courier New"/>
              <a:cs typeface="Courier New"/>
            </a:endParaRPr>
          </a:p>
          <a:p>
            <a:pPr marL="90805">
              <a:lnSpc>
                <a:spcPts val="1415"/>
              </a:lnSpc>
            </a:pPr>
            <a:r>
              <a:rPr sz="1600" b="1" dirty="0">
                <a:solidFill>
                  <a:srgbClr val="632523"/>
                </a:solidFill>
                <a:latin typeface="Courier New"/>
                <a:cs typeface="Courier New"/>
              </a:rPr>
              <a:t>plt.plot(x,</a:t>
            </a:r>
            <a:r>
              <a:rPr sz="1600" b="1" spc="-60" dirty="0">
                <a:solidFill>
                  <a:srgbClr val="632523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632523"/>
                </a:solidFill>
                <a:latin typeface="Courier New"/>
                <a:cs typeface="Courier New"/>
              </a:rPr>
              <a:t>y)</a:t>
            </a:r>
            <a:endParaRPr sz="1600" dirty="0">
              <a:latin typeface="Courier New"/>
              <a:cs typeface="Courier New"/>
            </a:endParaRPr>
          </a:p>
          <a:p>
            <a:pPr marL="90805">
              <a:lnSpc>
                <a:spcPts val="1415"/>
              </a:lnSpc>
            </a:pPr>
            <a:r>
              <a:rPr sz="1600" dirty="0">
                <a:latin typeface="Courier New"/>
                <a:cs typeface="Courier New"/>
              </a:rPr>
              <a:t>plt.xlabel('x')</a:t>
            </a:r>
          </a:p>
          <a:p>
            <a:pPr marL="90805" marR="1544320">
              <a:lnSpc>
                <a:spcPct val="99400"/>
              </a:lnSpc>
              <a:spcBef>
                <a:spcPts val="80"/>
              </a:spcBef>
            </a:pPr>
            <a:r>
              <a:rPr sz="1600" dirty="0">
                <a:latin typeface="Courier New"/>
                <a:cs typeface="Courier New"/>
              </a:rPr>
              <a:t>plt.ylabel('y') 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plt.axis([0, 1, 0, 1]) </a:t>
            </a:r>
            <a:r>
              <a:rPr sz="1600" spc="-710" dirty="0"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632523"/>
                </a:solidFill>
                <a:latin typeface="Courier New"/>
                <a:cs typeface="Courier New"/>
              </a:rPr>
              <a:t>plt.fill_between(x,y) </a:t>
            </a:r>
            <a:r>
              <a:rPr sz="1600" b="1" spc="5" dirty="0">
                <a:solidFill>
                  <a:srgbClr val="63252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plt.show()</a:t>
            </a:r>
          </a:p>
        </p:txBody>
      </p:sp>
      <p:sp>
        <p:nvSpPr>
          <p:cNvPr id="19" name="object 19"/>
          <p:cNvSpPr/>
          <p:nvPr/>
        </p:nvSpPr>
        <p:spPr>
          <a:xfrm>
            <a:off x="4533913" y="6083708"/>
            <a:ext cx="127000" cy="12700"/>
          </a:xfrm>
          <a:custGeom>
            <a:avLst/>
            <a:gdLst/>
            <a:ahLst/>
            <a:cxnLst/>
            <a:rect l="l" t="t" r="r" b="b"/>
            <a:pathLst>
              <a:path w="127000" h="12700">
                <a:moveTo>
                  <a:pt x="127000" y="0"/>
                </a:moveTo>
                <a:lnTo>
                  <a:pt x="0" y="0"/>
                </a:lnTo>
                <a:lnTo>
                  <a:pt x="0" y="12699"/>
                </a:lnTo>
                <a:lnTo>
                  <a:pt x="127000" y="12699"/>
                </a:lnTo>
                <a:lnTo>
                  <a:pt x="12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516767" y="5746972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mbria Math"/>
                <a:cs typeface="Cambria Math"/>
              </a:rPr>
              <a:t>1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46232" y="5917660"/>
            <a:ext cx="1372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dirty="0">
                <a:latin typeface="Cambria Math"/>
                <a:cs typeface="Cambria Math"/>
              </a:rPr>
              <a:t>𝐴</a:t>
            </a:r>
            <a:r>
              <a:rPr spc="9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=</a:t>
            </a:r>
            <a:r>
              <a:rPr spc="85" dirty="0">
                <a:latin typeface="Cambria Math"/>
                <a:cs typeface="Cambria Math"/>
              </a:rPr>
              <a:t> </a:t>
            </a:r>
            <a:r>
              <a:rPr sz="2700" baseline="-37037" dirty="0">
                <a:latin typeface="Cambria Math"/>
                <a:cs typeface="Cambria Math"/>
              </a:rPr>
              <a:t>3</a:t>
            </a:r>
            <a:r>
              <a:rPr sz="2700" spc="127" baseline="-37037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≈</a:t>
            </a:r>
            <a:r>
              <a:rPr spc="8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0.33</a:t>
            </a:r>
            <a:endParaRPr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83409" y="5302840"/>
            <a:ext cx="2077085" cy="843280"/>
            <a:chOff x="4436423" y="3691496"/>
            <a:chExt cx="2077085" cy="843280"/>
          </a:xfrm>
        </p:grpSpPr>
        <p:sp>
          <p:nvSpPr>
            <p:cNvPr id="23" name="object 23"/>
            <p:cNvSpPr/>
            <p:nvPr/>
          </p:nvSpPr>
          <p:spPr>
            <a:xfrm>
              <a:off x="5757769" y="4420460"/>
              <a:ext cx="755650" cy="114300"/>
            </a:xfrm>
            <a:custGeom>
              <a:avLst/>
              <a:gdLst/>
              <a:ahLst/>
              <a:cxnLst/>
              <a:rect l="l" t="t" r="r" b="b"/>
              <a:pathLst>
                <a:path w="75565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299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75565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755650" h="114300">
                  <a:moveTo>
                    <a:pt x="114300" y="76200"/>
                  </a:moveTo>
                  <a:lnTo>
                    <a:pt x="95250" y="76200"/>
                  </a:lnTo>
                  <a:lnTo>
                    <a:pt x="114300" y="76200"/>
                  </a:lnTo>
                  <a:close/>
                </a:path>
                <a:path w="755650" h="114300">
                  <a:moveTo>
                    <a:pt x="755117" y="38099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755117" y="76199"/>
                  </a:lnTo>
                  <a:lnTo>
                    <a:pt x="755117" y="38099"/>
                  </a:lnTo>
                  <a:close/>
                </a:path>
              </a:pathLst>
            </a:custGeom>
            <a:solidFill>
              <a:srgbClr val="632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36423" y="3691496"/>
              <a:ext cx="127000" cy="12700"/>
            </a:xfrm>
            <a:custGeom>
              <a:avLst/>
              <a:gdLst/>
              <a:ahLst/>
              <a:cxnLst/>
              <a:rect l="l" t="t" r="r" b="b"/>
              <a:pathLst>
                <a:path w="127000" h="12700">
                  <a:moveTo>
                    <a:pt x="1270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7000" y="127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191986" y="4762799"/>
            <a:ext cx="1057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pc="25" dirty="0">
                <a:latin typeface="Cambria Math"/>
                <a:cs typeface="Cambria Math"/>
              </a:rPr>
              <a:t>𝑓(𝑥)</a:t>
            </a:r>
            <a:r>
              <a:rPr spc="65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=</a:t>
            </a:r>
            <a:r>
              <a:rPr spc="70" dirty="0">
                <a:latin typeface="Cambria Math"/>
                <a:cs typeface="Cambria Math"/>
              </a:rPr>
              <a:t> </a:t>
            </a:r>
            <a:r>
              <a:rPr spc="65" dirty="0">
                <a:latin typeface="Cambria Math"/>
                <a:cs typeface="Cambria Math"/>
              </a:rPr>
              <a:t>𝑥</a:t>
            </a:r>
            <a:r>
              <a:rPr sz="1950" spc="97" baseline="27777" dirty="0">
                <a:latin typeface="Cambria Math"/>
                <a:cs typeface="Cambria Math"/>
              </a:rPr>
              <a:t>2</a:t>
            </a:r>
            <a:endParaRPr sz="1950" baseline="27777" dirty="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05254" y="5137372"/>
            <a:ext cx="64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dirty="0">
                <a:latin typeface="Cambria Math"/>
                <a:cs typeface="Cambria Math"/>
              </a:rPr>
              <a:t>𝐴</a:t>
            </a:r>
            <a:r>
              <a:rPr spc="75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=</a:t>
            </a:r>
            <a:r>
              <a:rPr spc="65" dirty="0">
                <a:latin typeface="Cambria Math"/>
                <a:cs typeface="Cambria Math"/>
              </a:rPr>
              <a:t> </a:t>
            </a:r>
            <a:r>
              <a:rPr sz="2700" baseline="41666" dirty="0">
                <a:latin typeface="Cambria Math"/>
                <a:cs typeface="Cambria Math"/>
              </a:rPr>
              <a:t>2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875788" y="5289772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mbria Math"/>
                <a:cs typeface="Cambria Math"/>
              </a:rPr>
              <a:t>3</a:t>
            </a:r>
            <a:endParaRPr>
              <a:latin typeface="Cambria Math"/>
              <a:cs typeface="Cambria Math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89F7412-3CCF-4F29-AAEE-611282BD3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620" y="2746094"/>
            <a:ext cx="2820317" cy="826645"/>
          </a:xfrm>
          <a:prstGeom prst="rect">
            <a:avLst/>
          </a:prstGeom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C42B18D6-2CD3-449A-9078-F8DC1ED1A436}"/>
              </a:ext>
            </a:extLst>
          </p:cNvPr>
          <p:cNvSpPr/>
          <p:nvPr/>
        </p:nvSpPr>
        <p:spPr bwMode="auto">
          <a:xfrm>
            <a:off x="6934200" y="4482592"/>
            <a:ext cx="557586" cy="299720"/>
          </a:xfrm>
          <a:prstGeom prst="leftArrow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Freeform 4">
            <a:extLst>
              <a:ext uri="{FF2B5EF4-FFF2-40B4-BE49-F238E27FC236}">
                <a16:creationId xmlns:a16="http://schemas.microsoft.com/office/drawing/2014/main" id="{86392915-3C59-4392-A0A3-998644EA6D3D}"/>
              </a:ext>
            </a:extLst>
          </p:cNvPr>
          <p:cNvSpPr>
            <a:spLocks/>
          </p:cNvSpPr>
          <p:nvPr/>
        </p:nvSpPr>
        <p:spPr bwMode="auto">
          <a:xfrm>
            <a:off x="1905000" y="2667000"/>
            <a:ext cx="5486400" cy="1384300"/>
          </a:xfrm>
          <a:custGeom>
            <a:avLst/>
            <a:gdLst>
              <a:gd name="T0" fmla="*/ 0 w 3456"/>
              <a:gd name="T1" fmla="*/ 864 h 872"/>
              <a:gd name="T2" fmla="*/ 672 w 3456"/>
              <a:gd name="T3" fmla="*/ 192 h 872"/>
              <a:gd name="T4" fmla="*/ 1248 w 3456"/>
              <a:gd name="T5" fmla="*/ 864 h 872"/>
              <a:gd name="T6" fmla="*/ 2160 w 3456"/>
              <a:gd name="T7" fmla="*/ 240 h 872"/>
              <a:gd name="T8" fmla="*/ 2832 w 3456"/>
              <a:gd name="T9" fmla="*/ 288 h 872"/>
              <a:gd name="T10" fmla="*/ 3456 w 3456"/>
              <a:gd name="T11" fmla="*/ 0 h 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56" h="872">
                <a:moveTo>
                  <a:pt x="0" y="864"/>
                </a:moveTo>
                <a:cubicBezTo>
                  <a:pt x="232" y="528"/>
                  <a:pt x="464" y="192"/>
                  <a:pt x="672" y="192"/>
                </a:cubicBezTo>
                <a:cubicBezTo>
                  <a:pt x="880" y="192"/>
                  <a:pt x="1000" y="856"/>
                  <a:pt x="1248" y="864"/>
                </a:cubicBezTo>
                <a:cubicBezTo>
                  <a:pt x="1496" y="872"/>
                  <a:pt x="1896" y="336"/>
                  <a:pt x="2160" y="240"/>
                </a:cubicBezTo>
                <a:cubicBezTo>
                  <a:pt x="2424" y="144"/>
                  <a:pt x="2616" y="328"/>
                  <a:pt x="2832" y="288"/>
                </a:cubicBezTo>
                <a:cubicBezTo>
                  <a:pt x="3048" y="248"/>
                  <a:pt x="3252" y="124"/>
                  <a:pt x="3456" y="0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/>
            <a:tailEnd/>
          </a:ln>
          <a:effectLst>
            <a:outerShdw dist="1796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0987" name="Group 27">
            <a:extLst>
              <a:ext uri="{FF2B5EF4-FFF2-40B4-BE49-F238E27FC236}">
                <a16:creationId xmlns:a16="http://schemas.microsoft.com/office/drawing/2014/main" id="{17F7ADBD-2149-4E97-A5FF-F762C294C52F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667000"/>
            <a:ext cx="5486400" cy="3276600"/>
            <a:chOff x="1200" y="1680"/>
            <a:chExt cx="3456" cy="2064"/>
          </a:xfrm>
        </p:grpSpPr>
        <p:sp>
          <p:nvSpPr>
            <p:cNvPr id="40984" name="Freeform 24">
              <a:extLst>
                <a:ext uri="{FF2B5EF4-FFF2-40B4-BE49-F238E27FC236}">
                  <a16:creationId xmlns:a16="http://schemas.microsoft.com/office/drawing/2014/main" id="{BE310995-B5E2-476B-8ACB-60817EA38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680"/>
              <a:ext cx="3456" cy="2064"/>
            </a:xfrm>
            <a:custGeom>
              <a:avLst/>
              <a:gdLst>
                <a:gd name="T0" fmla="*/ 0 w 3456"/>
                <a:gd name="T1" fmla="*/ 2064 h 2064"/>
                <a:gd name="T2" fmla="*/ 3456 w 3456"/>
                <a:gd name="T3" fmla="*/ 2064 h 2064"/>
                <a:gd name="T4" fmla="*/ 3456 w 3456"/>
                <a:gd name="T5" fmla="*/ 0 h 2064"/>
                <a:gd name="T6" fmla="*/ 0 w 3456"/>
                <a:gd name="T7" fmla="*/ 864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56" h="2064">
                  <a:moveTo>
                    <a:pt x="0" y="2064"/>
                  </a:moveTo>
                  <a:lnTo>
                    <a:pt x="3456" y="2064"/>
                  </a:lnTo>
                  <a:lnTo>
                    <a:pt x="3456" y="0"/>
                  </a:lnTo>
                  <a:lnTo>
                    <a:pt x="0" y="864"/>
                  </a:lnTo>
                </a:path>
              </a:pathLst>
            </a:custGeom>
            <a:solidFill>
              <a:schemeClr val="tx2">
                <a:lumMod val="65000"/>
                <a:lumOff val="35000"/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40983" name="Freeform 23">
              <a:extLst>
                <a:ext uri="{FF2B5EF4-FFF2-40B4-BE49-F238E27FC236}">
                  <a16:creationId xmlns:a16="http://schemas.microsoft.com/office/drawing/2014/main" id="{7B03FC1A-B434-4FF0-A78E-574E7C90F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680"/>
              <a:ext cx="3456" cy="872"/>
            </a:xfrm>
            <a:custGeom>
              <a:avLst/>
              <a:gdLst>
                <a:gd name="T0" fmla="*/ 0 w 3456"/>
                <a:gd name="T1" fmla="*/ 864 h 872"/>
                <a:gd name="T2" fmla="*/ 672 w 3456"/>
                <a:gd name="T3" fmla="*/ 192 h 872"/>
                <a:gd name="T4" fmla="*/ 1248 w 3456"/>
                <a:gd name="T5" fmla="*/ 864 h 872"/>
                <a:gd name="T6" fmla="*/ 2160 w 3456"/>
                <a:gd name="T7" fmla="*/ 240 h 872"/>
                <a:gd name="T8" fmla="*/ 2832 w 3456"/>
                <a:gd name="T9" fmla="*/ 288 h 872"/>
                <a:gd name="T10" fmla="*/ 3456 w 3456"/>
                <a:gd name="T11" fmla="*/ 0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56" h="872">
                  <a:moveTo>
                    <a:pt x="0" y="864"/>
                  </a:moveTo>
                  <a:cubicBezTo>
                    <a:pt x="232" y="528"/>
                    <a:pt x="464" y="192"/>
                    <a:pt x="672" y="192"/>
                  </a:cubicBezTo>
                  <a:cubicBezTo>
                    <a:pt x="880" y="192"/>
                    <a:pt x="1000" y="856"/>
                    <a:pt x="1248" y="864"/>
                  </a:cubicBezTo>
                  <a:cubicBezTo>
                    <a:pt x="1496" y="872"/>
                    <a:pt x="1896" y="336"/>
                    <a:pt x="2160" y="240"/>
                  </a:cubicBezTo>
                  <a:cubicBezTo>
                    <a:pt x="2424" y="144"/>
                    <a:pt x="2616" y="328"/>
                    <a:pt x="2832" y="288"/>
                  </a:cubicBezTo>
                  <a:cubicBezTo>
                    <a:pt x="3048" y="248"/>
                    <a:pt x="3252" y="124"/>
                    <a:pt x="3456" y="0"/>
                  </a:cubicBezTo>
                </a:path>
              </a:pathLst>
            </a:custGeom>
            <a:noFill/>
            <a:ln w="38100" cap="flat" cmpd="sng">
              <a:solidFill>
                <a:schemeClr val="hlink"/>
              </a:solidFill>
              <a:prstDash val="solid"/>
              <a:round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40962" name="Rectangle 2">
            <a:extLst>
              <a:ext uri="{FF2B5EF4-FFF2-40B4-BE49-F238E27FC236}">
                <a16:creationId xmlns:a16="http://schemas.microsoft.com/office/drawing/2014/main" id="{2B6A88D9-8672-4C7A-A2F0-12231FDA8C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1"/>
            <a:ext cx="8229600" cy="609599"/>
          </a:xfrm>
        </p:spPr>
        <p:txBody>
          <a:bodyPr/>
          <a:lstStyle/>
          <a:p>
            <a:r>
              <a:rPr lang="en-US" altLang="en-US" dirty="0"/>
              <a:t>Trapezoidal Rule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BDC7AB3-26EB-46B8-AC8B-2CAF213091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400" u="sng" dirty="0"/>
              <a:t>Approximate function by trapezoid</a:t>
            </a:r>
          </a:p>
        </p:txBody>
      </p:sp>
      <p:sp>
        <p:nvSpPr>
          <p:cNvPr id="40969" name="Line 9">
            <a:extLst>
              <a:ext uri="{FF2B5EF4-FFF2-40B4-BE49-F238E27FC236}">
                <a16:creationId xmlns:a16="http://schemas.microsoft.com/office/drawing/2014/main" id="{EF0C670C-01CF-4623-A1D8-6E2ACE7B5D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4038600"/>
            <a:ext cx="0" cy="1905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>
            <a:outerShdw dist="1796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0971" name="Line 11">
            <a:extLst>
              <a:ext uri="{FF2B5EF4-FFF2-40B4-BE49-F238E27FC236}">
                <a16:creationId xmlns:a16="http://schemas.microsoft.com/office/drawing/2014/main" id="{E35D4CC6-8FC3-46CB-BD95-06F0F52254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2667000"/>
            <a:ext cx="0" cy="3276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>
            <a:outerShdw dist="1796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0985" name="Group 25">
            <a:extLst>
              <a:ext uri="{FF2B5EF4-FFF2-40B4-BE49-F238E27FC236}">
                <a16:creationId xmlns:a16="http://schemas.microsoft.com/office/drawing/2014/main" id="{2C2D0176-82E3-4419-8FC6-5533CCA9A421}"/>
              </a:ext>
            </a:extLst>
          </p:cNvPr>
          <p:cNvGrpSpPr>
            <a:grpSpLocks/>
          </p:cNvGrpSpPr>
          <p:nvPr/>
        </p:nvGrpSpPr>
        <p:grpSpPr bwMode="auto">
          <a:xfrm>
            <a:off x="1739900" y="5943600"/>
            <a:ext cx="330200" cy="660400"/>
            <a:chOff x="1096" y="3744"/>
            <a:chExt cx="208" cy="416"/>
          </a:xfrm>
        </p:grpSpPr>
        <p:sp>
          <p:nvSpPr>
            <p:cNvPr id="40973" name="Text Box 13">
              <a:extLst>
                <a:ext uri="{FF2B5EF4-FFF2-40B4-BE49-F238E27FC236}">
                  <a16:creationId xmlns:a16="http://schemas.microsoft.com/office/drawing/2014/main" id="{CEF36713-4C80-4A2E-87F3-8759970C7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" y="3872"/>
              <a:ext cx="2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</a:t>
              </a:r>
            </a:p>
          </p:txBody>
        </p:sp>
        <p:sp>
          <p:nvSpPr>
            <p:cNvPr id="40975" name="Line 15">
              <a:extLst>
                <a:ext uri="{FF2B5EF4-FFF2-40B4-BE49-F238E27FC236}">
                  <a16:creationId xmlns:a16="http://schemas.microsoft.com/office/drawing/2014/main" id="{798ED2ED-7563-48C0-A775-AEBAD91945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744"/>
              <a:ext cx="0" cy="14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40986" name="Group 26">
            <a:extLst>
              <a:ext uri="{FF2B5EF4-FFF2-40B4-BE49-F238E27FC236}">
                <a16:creationId xmlns:a16="http://schemas.microsoft.com/office/drawing/2014/main" id="{1E1A520B-7D8A-4AA3-90B2-935B50C7B0B3}"/>
              </a:ext>
            </a:extLst>
          </p:cNvPr>
          <p:cNvGrpSpPr>
            <a:grpSpLocks/>
          </p:cNvGrpSpPr>
          <p:nvPr/>
        </p:nvGrpSpPr>
        <p:grpSpPr bwMode="auto">
          <a:xfrm>
            <a:off x="7216775" y="5943600"/>
            <a:ext cx="350838" cy="660400"/>
            <a:chOff x="4546" y="3744"/>
            <a:chExt cx="221" cy="416"/>
          </a:xfrm>
        </p:grpSpPr>
        <p:sp>
          <p:nvSpPr>
            <p:cNvPr id="40974" name="Text Box 14">
              <a:extLst>
                <a:ext uri="{FF2B5EF4-FFF2-40B4-BE49-F238E27FC236}">
                  <a16:creationId xmlns:a16="http://schemas.microsoft.com/office/drawing/2014/main" id="{387885AE-394C-4D86-ADA5-8C76B23DA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6" y="3872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</a:t>
              </a:r>
            </a:p>
          </p:txBody>
        </p:sp>
        <p:sp>
          <p:nvSpPr>
            <p:cNvPr id="40977" name="Line 17">
              <a:extLst>
                <a:ext uri="{FF2B5EF4-FFF2-40B4-BE49-F238E27FC236}">
                  <a16:creationId xmlns:a16="http://schemas.microsoft.com/office/drawing/2014/main" id="{C80E408D-0214-49F1-B6C8-D9A08D078E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744"/>
              <a:ext cx="0" cy="14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40976" name="Line 16">
            <a:extLst>
              <a:ext uri="{FF2B5EF4-FFF2-40B4-BE49-F238E27FC236}">
                <a16:creationId xmlns:a16="http://schemas.microsoft.com/office/drawing/2014/main" id="{C6A46C1A-9C19-4F61-A75F-69F13D853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5943600"/>
            <a:ext cx="7086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dist="1796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0989" name="Group 29">
            <a:extLst>
              <a:ext uri="{FF2B5EF4-FFF2-40B4-BE49-F238E27FC236}">
                <a16:creationId xmlns:a16="http://schemas.microsoft.com/office/drawing/2014/main" id="{1E44983B-E870-4D87-9F99-6401547B984B}"/>
              </a:ext>
            </a:extLst>
          </p:cNvPr>
          <p:cNvGrpSpPr>
            <a:grpSpLocks/>
          </p:cNvGrpSpPr>
          <p:nvPr/>
        </p:nvGrpSpPr>
        <p:grpSpPr bwMode="auto">
          <a:xfrm>
            <a:off x="1093788" y="3784600"/>
            <a:ext cx="811212" cy="457200"/>
            <a:chOff x="689" y="2384"/>
            <a:chExt cx="511" cy="288"/>
          </a:xfrm>
        </p:grpSpPr>
        <p:sp>
          <p:nvSpPr>
            <p:cNvPr id="40978" name="Line 18">
              <a:extLst>
                <a:ext uri="{FF2B5EF4-FFF2-40B4-BE49-F238E27FC236}">
                  <a16:creationId xmlns:a16="http://schemas.microsoft.com/office/drawing/2014/main" id="{B0768F03-8CA2-4A81-A127-49EFA9C5B00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128" y="2472"/>
              <a:ext cx="0" cy="14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981" name="Text Box 21">
              <a:extLst>
                <a:ext uri="{FF2B5EF4-FFF2-40B4-BE49-F238E27FC236}">
                  <a16:creationId xmlns:a16="http://schemas.microsoft.com/office/drawing/2014/main" id="{B46A84D8-9CD3-450C-9FC5-1396F264DE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" y="2384"/>
              <a:ext cx="3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f(a)</a:t>
              </a:r>
            </a:p>
          </p:txBody>
        </p:sp>
      </p:grpSp>
      <p:grpSp>
        <p:nvGrpSpPr>
          <p:cNvPr id="40988" name="Group 28">
            <a:extLst>
              <a:ext uri="{FF2B5EF4-FFF2-40B4-BE49-F238E27FC236}">
                <a16:creationId xmlns:a16="http://schemas.microsoft.com/office/drawing/2014/main" id="{30607891-8C86-4E18-A64B-2A3083A6312E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438400"/>
            <a:ext cx="831850" cy="457200"/>
            <a:chOff x="4656" y="1536"/>
            <a:chExt cx="524" cy="288"/>
          </a:xfrm>
        </p:grpSpPr>
        <p:sp>
          <p:nvSpPr>
            <p:cNvPr id="40980" name="Line 20">
              <a:extLst>
                <a:ext uri="{FF2B5EF4-FFF2-40B4-BE49-F238E27FC236}">
                  <a16:creationId xmlns:a16="http://schemas.microsoft.com/office/drawing/2014/main" id="{25188E24-AEB3-432C-B337-FF01C73902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728" y="1608"/>
              <a:ext cx="0" cy="14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982" name="Text Box 22">
              <a:extLst>
                <a:ext uri="{FF2B5EF4-FFF2-40B4-BE49-F238E27FC236}">
                  <a16:creationId xmlns:a16="http://schemas.microsoft.com/office/drawing/2014/main" id="{4530D575-B766-4DA5-90AC-3571C06EB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536"/>
              <a:ext cx="3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f(b)</a:t>
              </a:r>
            </a:p>
          </p:txBody>
        </p:sp>
      </p:grpSp>
      <p:sp>
        <p:nvSpPr>
          <p:cNvPr id="40990" name="Oval 30">
            <a:extLst>
              <a:ext uri="{FF2B5EF4-FFF2-40B4-BE49-F238E27FC236}">
                <a16:creationId xmlns:a16="http://schemas.microsoft.com/office/drawing/2014/main" id="{34AF4B8A-D52C-4520-9975-40FD833EE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200" y="4000500"/>
            <a:ext cx="92075" cy="92075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40991" name="Oval 31">
            <a:extLst>
              <a:ext uri="{FF2B5EF4-FFF2-40B4-BE49-F238E27FC236}">
                <a16:creationId xmlns:a16="http://schemas.microsoft.com/office/drawing/2014/main" id="{A5FFB663-3360-47C2-A197-F6A46B620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2628900"/>
            <a:ext cx="92075" cy="92075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88" y="304800"/>
            <a:ext cx="8956040" cy="68993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Numerical</a:t>
            </a:r>
            <a:r>
              <a:rPr spc="5" dirty="0"/>
              <a:t> </a:t>
            </a:r>
            <a:r>
              <a:rPr spc="-30" dirty="0"/>
              <a:t>Integration</a:t>
            </a:r>
            <a:r>
              <a:rPr spc="10" dirty="0"/>
              <a:t> </a:t>
            </a:r>
            <a:r>
              <a:rPr spc="-15" dirty="0"/>
              <a:t>Approach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42D54B-E664-4796-A440-185FCB541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1295400"/>
            <a:ext cx="3978639" cy="213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0AB168-F497-4A6D-892B-7058E80E6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447628"/>
            <a:ext cx="3566469" cy="19813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F6B2FD-D12E-4A9B-9ADF-878A8E337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97" y="3637786"/>
            <a:ext cx="5493911" cy="187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23573F-C2DB-4C47-B63A-3C590D22F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5108" y="5041200"/>
            <a:ext cx="3380871" cy="15120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4CC5D4-C457-439A-BC64-DB89E7DCAB9F}"/>
              </a:ext>
            </a:extLst>
          </p:cNvPr>
          <p:cNvCxnSpPr/>
          <p:nvPr/>
        </p:nvCxnSpPr>
        <p:spPr bwMode="auto">
          <a:xfrm flipH="1">
            <a:off x="2863433" y="4953000"/>
            <a:ext cx="381000" cy="381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7BB2AC3-41A8-49FF-BD8A-88EE28B57478}"/>
              </a:ext>
            </a:extLst>
          </p:cNvPr>
          <p:cNvCxnSpPr/>
          <p:nvPr/>
        </p:nvCxnSpPr>
        <p:spPr bwMode="auto">
          <a:xfrm flipH="1">
            <a:off x="1164769" y="4953000"/>
            <a:ext cx="381000" cy="381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6125" y="304800"/>
            <a:ext cx="6111240" cy="68993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Numerical</a:t>
            </a:r>
            <a:r>
              <a:rPr spc="-20" dirty="0"/>
              <a:t> </a:t>
            </a:r>
            <a:r>
              <a:rPr spc="-30" dirty="0"/>
              <a:t>Integration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968C5F-4526-4668-995C-B6A8FA2CC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371600"/>
            <a:ext cx="4800600" cy="29123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395275-7304-4175-BD69-2915093F7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13" y="4407189"/>
            <a:ext cx="3429000" cy="215842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340D7EC-A72A-49F5-A58E-6C5CC34BDAB8}"/>
              </a:ext>
            </a:extLst>
          </p:cNvPr>
          <p:cNvGrpSpPr/>
          <p:nvPr/>
        </p:nvGrpSpPr>
        <p:grpSpPr>
          <a:xfrm>
            <a:off x="4267200" y="4283964"/>
            <a:ext cx="4876800" cy="1881148"/>
            <a:chOff x="1516125" y="4419600"/>
            <a:chExt cx="4876800" cy="188114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A7AE780-017C-40DA-97E0-6ED47BD62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16125" y="4419600"/>
              <a:ext cx="4876800" cy="1881148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E4D83F5-D251-47FD-B46E-88743CD7571E}"/>
                </a:ext>
              </a:extLst>
            </p:cNvPr>
            <p:cNvGrpSpPr/>
            <p:nvPr/>
          </p:nvGrpSpPr>
          <p:grpSpPr>
            <a:xfrm>
              <a:off x="3505200" y="4860000"/>
              <a:ext cx="2057400" cy="1134975"/>
              <a:chOff x="3505200" y="4860000"/>
              <a:chExt cx="2057400" cy="1134975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0C42C6-02DA-4CDD-BCD3-FD348750F023}"/>
                  </a:ext>
                </a:extLst>
              </p:cNvPr>
              <p:cNvSpPr txBox="1"/>
              <p:nvPr/>
            </p:nvSpPr>
            <p:spPr>
              <a:xfrm>
                <a:off x="3505200" y="4860000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-1</a:t>
                </a:r>
                <a:endParaRPr lang="en-GB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030F95-F426-4051-8141-507D1F06FCEF}"/>
                  </a:ext>
                </a:extLst>
              </p:cNvPr>
              <p:cNvSpPr txBox="1"/>
              <p:nvPr/>
            </p:nvSpPr>
            <p:spPr>
              <a:xfrm>
                <a:off x="3539664" y="5282625"/>
                <a:ext cx="32092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(</a:t>
                </a:r>
                <a:endParaRPr lang="en-GB" sz="320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DC7F28-E41F-487E-A039-3A917E025EE3}"/>
                  </a:ext>
                </a:extLst>
              </p:cNvPr>
              <p:cNvSpPr txBox="1"/>
              <p:nvPr/>
            </p:nvSpPr>
            <p:spPr>
              <a:xfrm flipV="1">
                <a:off x="5241678" y="5410200"/>
                <a:ext cx="32092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(</a:t>
                </a:r>
                <a:endParaRPr lang="en-GB" sz="3200" dirty="0"/>
              </a:p>
            </p:txBody>
          </p:sp>
        </p:grp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8719C8B-166C-439D-9986-D7146F1E05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4171" y="2045907"/>
            <a:ext cx="1674980" cy="10562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DFD4DE4-6A1D-49FA-BAA3-E8FDA0B46FD5}"/>
              </a:ext>
            </a:extLst>
          </p:cNvPr>
          <p:cNvSpPr txBox="1"/>
          <p:nvPr/>
        </p:nvSpPr>
        <p:spPr>
          <a:xfrm>
            <a:off x="5996428" y="2793626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=x</a:t>
            </a:r>
            <a:r>
              <a:rPr lang="en-US" baseline="-25000" dirty="0"/>
              <a:t>0</a:t>
            </a:r>
            <a:endParaRPr lang="en-GB" baseline="-25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46A5D0-C175-4C44-9D22-F49C2C906178}"/>
              </a:ext>
            </a:extLst>
          </p:cNvPr>
          <p:cNvSpPr txBox="1"/>
          <p:nvPr/>
        </p:nvSpPr>
        <p:spPr>
          <a:xfrm>
            <a:off x="6126431" y="2013514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endParaRPr lang="en-GB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6125" y="304800"/>
            <a:ext cx="6111240" cy="68993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Numerical</a:t>
            </a:r>
            <a:r>
              <a:rPr spc="-20" dirty="0"/>
              <a:t> </a:t>
            </a:r>
            <a:r>
              <a:rPr spc="-30" dirty="0"/>
              <a:t>Integration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447800"/>
            <a:ext cx="8060055" cy="1381917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55600" marR="5080" indent="-342900" algn="just">
              <a:lnSpc>
                <a:spcPct val="795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Given </a:t>
            </a:r>
            <a:r>
              <a:rPr sz="2200" dirty="0">
                <a:latin typeface="Calibri"/>
                <a:cs typeface="Calibri"/>
              </a:rPr>
              <a:t>y = </a:t>
            </a:r>
            <a:r>
              <a:rPr sz="2200" spc="-5" dirty="0">
                <a:latin typeface="Calibri"/>
                <a:cs typeface="Calibri"/>
              </a:rPr>
              <a:t>f(x) the </a:t>
            </a:r>
            <a:r>
              <a:rPr sz="2200" spc="-15" dirty="0">
                <a:latin typeface="Calibri"/>
                <a:cs typeface="Calibri"/>
              </a:rPr>
              <a:t>approximation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Area </a:t>
            </a:r>
            <a:r>
              <a:rPr sz="2200" spc="-5" dirty="0">
                <a:latin typeface="Calibri"/>
                <a:cs typeface="Calibri"/>
              </a:rPr>
              <a:t>(A) </a:t>
            </a:r>
            <a:r>
              <a:rPr sz="2200" spc="-10" dirty="0">
                <a:latin typeface="Calibri"/>
                <a:cs typeface="Calibri"/>
              </a:rPr>
              <a:t>under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curve can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5" dirty="0">
                <a:latin typeface="Calibri"/>
                <a:cs typeface="Calibri"/>
              </a:rPr>
              <a:t>found </a:t>
            </a:r>
            <a:r>
              <a:rPr sz="2200" spc="-10" dirty="0">
                <a:latin typeface="Calibri"/>
                <a:cs typeface="Calibri"/>
              </a:rPr>
              <a:t>dividing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area </a:t>
            </a:r>
            <a:r>
              <a:rPr sz="2200" spc="-5" dirty="0">
                <a:latin typeface="Calibri"/>
                <a:cs typeface="Calibri"/>
              </a:rPr>
              <a:t>up </a:t>
            </a:r>
            <a:r>
              <a:rPr sz="2200" spc="-15" dirty="0">
                <a:latin typeface="Calibri"/>
                <a:cs typeface="Calibri"/>
              </a:rPr>
              <a:t>into </a:t>
            </a:r>
            <a:r>
              <a:rPr sz="2200" spc="-10" dirty="0">
                <a:latin typeface="Calibri"/>
                <a:cs typeface="Calibri"/>
              </a:rPr>
              <a:t>rectangles </a:t>
            </a:r>
            <a:r>
              <a:rPr sz="2200" spc="-5" dirty="0">
                <a:latin typeface="Calibri"/>
                <a:cs typeface="Calibri"/>
              </a:rPr>
              <a:t>and then summing </a:t>
            </a: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contribution </a:t>
            </a:r>
            <a:r>
              <a:rPr sz="2200" spc="-15" dirty="0">
                <a:latin typeface="Calibri"/>
                <a:cs typeface="Calibri"/>
              </a:rPr>
              <a:t>from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all 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rectangles</a:t>
            </a:r>
            <a:endParaRPr sz="2200" dirty="0">
              <a:latin typeface="Calibri"/>
              <a:cs typeface="Calibri"/>
            </a:endParaRPr>
          </a:p>
          <a:p>
            <a:pPr marL="355600" indent="-342900" algn="just">
              <a:lnSpc>
                <a:spcPts val="2615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This is known as 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b="1" spc="-30" dirty="0">
                <a:solidFill>
                  <a:srgbClr val="632523"/>
                </a:solidFill>
                <a:latin typeface="Calibri"/>
                <a:cs typeface="Calibri"/>
              </a:rPr>
              <a:t>Trapezoid</a:t>
            </a:r>
            <a:r>
              <a:rPr sz="2200" b="1" spc="-10" dirty="0">
                <a:solidFill>
                  <a:srgbClr val="63252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rule.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9A71B2-55F8-44AE-BCE4-680FF8D5B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29" y="3380722"/>
            <a:ext cx="3081843" cy="129512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2C963C7-C855-4ECD-B0BB-0A85B9582D76}"/>
              </a:ext>
            </a:extLst>
          </p:cNvPr>
          <p:cNvGrpSpPr/>
          <p:nvPr/>
        </p:nvGrpSpPr>
        <p:grpSpPr>
          <a:xfrm>
            <a:off x="4114800" y="2829717"/>
            <a:ext cx="4876800" cy="1881148"/>
            <a:chOff x="1516125" y="4419600"/>
            <a:chExt cx="4876800" cy="188114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3CD6BCB-C0EE-4559-B18F-DD00245CE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6125" y="4419600"/>
              <a:ext cx="4876800" cy="1881148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42681A3-0FAA-46AD-A3BB-038E4F9905D2}"/>
                </a:ext>
              </a:extLst>
            </p:cNvPr>
            <p:cNvGrpSpPr/>
            <p:nvPr/>
          </p:nvGrpSpPr>
          <p:grpSpPr>
            <a:xfrm>
              <a:off x="3505200" y="4860000"/>
              <a:ext cx="2057400" cy="1134975"/>
              <a:chOff x="3505200" y="4860000"/>
              <a:chExt cx="2057400" cy="1134975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C0A9E0-1BFF-4667-90F9-B93C4635194B}"/>
                  </a:ext>
                </a:extLst>
              </p:cNvPr>
              <p:cNvSpPr txBox="1"/>
              <p:nvPr/>
            </p:nvSpPr>
            <p:spPr>
              <a:xfrm>
                <a:off x="3505200" y="4860000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-1</a:t>
                </a:r>
                <a:endParaRPr lang="en-GB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A50FD0-D36E-4A1C-8188-90B4CC572499}"/>
                  </a:ext>
                </a:extLst>
              </p:cNvPr>
              <p:cNvSpPr txBox="1"/>
              <p:nvPr/>
            </p:nvSpPr>
            <p:spPr>
              <a:xfrm>
                <a:off x="3539664" y="5282625"/>
                <a:ext cx="32092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(</a:t>
                </a:r>
                <a:endParaRPr lang="en-GB" sz="32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158A62-3AB1-4265-9994-7484E03CBA04}"/>
                  </a:ext>
                </a:extLst>
              </p:cNvPr>
              <p:cNvSpPr txBox="1"/>
              <p:nvPr/>
            </p:nvSpPr>
            <p:spPr>
              <a:xfrm flipV="1">
                <a:off x="5241678" y="5410200"/>
                <a:ext cx="32092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(</a:t>
                </a:r>
                <a:endParaRPr lang="en-GB" sz="3200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711873-9828-42F0-9864-B9E5915EC3DB}"/>
                  </a:ext>
                </a:extLst>
              </p:cNvPr>
              <p:cNvSpPr txBox="1"/>
              <p:nvPr/>
            </p:nvSpPr>
            <p:spPr>
              <a:xfrm>
                <a:off x="1019736" y="4953000"/>
                <a:ext cx="6607629" cy="1266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GB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GB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GB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711873-9828-42F0-9864-B9E5915EC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736" y="4953000"/>
                <a:ext cx="6607629" cy="12661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DEA355-68C4-4ED0-9D00-EC012EBB51EE}"/>
              </a:ext>
            </a:extLst>
          </p:cNvPr>
          <p:cNvSpPr txBox="1"/>
          <p:nvPr/>
        </p:nvSpPr>
        <p:spPr>
          <a:xfrm>
            <a:off x="266700" y="304800"/>
            <a:ext cx="8610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Example: Use the 2-segment trapezoidal rule to numerically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integrate from a = 0 to b = 2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68375A-7539-4755-8855-3335B2302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47" y="1219200"/>
            <a:ext cx="3176453" cy="504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782679-2677-45FA-AFD7-AC3E0CF2D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4" y="1773946"/>
            <a:ext cx="8136608" cy="154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EADB8E-0F5E-454A-9F5B-9386D51D2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4" y="3200400"/>
            <a:ext cx="9030852" cy="1296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E4135C-9BBC-469C-9485-569994A66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" y="4572000"/>
            <a:ext cx="7120895" cy="136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ED4875F-543E-45E8-B38C-BEA2CCAB6D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308" y="833136"/>
            <a:ext cx="2630573" cy="1654037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24294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300668"/>
            <a:ext cx="8229600" cy="689932"/>
          </a:xfr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4400" b="1" spc="-10" dirty="0">
                <a:solidFill>
                  <a:srgbClr val="007DC4"/>
                </a:solidFill>
                <a:latin typeface="+mj-lt"/>
                <a:cs typeface="+mj-cs"/>
              </a:rPr>
              <a:t>Python Code</a:t>
            </a: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7" y="1447800"/>
            <a:ext cx="3957733" cy="188441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297424" y="1958456"/>
            <a:ext cx="1057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pc="25" dirty="0">
                <a:latin typeface="Cambria Math"/>
                <a:cs typeface="Cambria Math"/>
              </a:rPr>
              <a:t>𝑓(𝑥)</a:t>
            </a:r>
            <a:r>
              <a:rPr spc="65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=</a:t>
            </a:r>
            <a:r>
              <a:rPr spc="70" dirty="0">
                <a:latin typeface="Cambria Math"/>
                <a:cs typeface="Cambria Math"/>
              </a:rPr>
              <a:t> </a:t>
            </a:r>
            <a:r>
              <a:rPr spc="65" dirty="0">
                <a:latin typeface="Cambria Math"/>
                <a:cs typeface="Cambria Math"/>
              </a:rPr>
              <a:t>𝑥</a:t>
            </a:r>
            <a:r>
              <a:rPr sz="1950" spc="97" baseline="27777" dirty="0">
                <a:latin typeface="Cambria Math"/>
                <a:cs typeface="Cambria Math"/>
              </a:rPr>
              <a:t>2</a:t>
            </a:r>
            <a:endParaRPr sz="1950" baseline="27777" dirty="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1944" y="3505200"/>
            <a:ext cx="3799840" cy="1208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Results from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Python </a:t>
            </a:r>
            <a:r>
              <a:rPr spc="-5" dirty="0">
                <a:latin typeface="Calibri"/>
                <a:cs typeface="Calibri"/>
              </a:rPr>
              <a:t>code:</a:t>
            </a:r>
            <a:endParaRPr dirty="0">
              <a:latin typeface="Calibri"/>
              <a:cs typeface="Calibri"/>
            </a:endParaRPr>
          </a:p>
          <a:p>
            <a:pPr marL="435609">
              <a:spcBef>
                <a:spcPts val="45"/>
              </a:spcBef>
            </a:pPr>
            <a:r>
              <a:rPr dirty="0">
                <a:latin typeface="Courier New"/>
                <a:cs typeface="Courier New"/>
              </a:rPr>
              <a:t>A</a:t>
            </a:r>
            <a:r>
              <a:rPr spc="-5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5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0.3350000000000001</a:t>
            </a:r>
            <a:endParaRPr dirty="0">
              <a:latin typeface="Courier New"/>
              <a:cs typeface="Courier New"/>
            </a:endParaRPr>
          </a:p>
          <a:p>
            <a:pPr marL="12700" marR="5080">
              <a:lnSpc>
                <a:spcPts val="2090"/>
              </a:lnSpc>
              <a:spcBef>
                <a:spcPts val="825"/>
              </a:spcBef>
            </a:pPr>
            <a:r>
              <a:rPr spc="-5" dirty="0">
                <a:latin typeface="Calibri"/>
                <a:cs typeface="Calibri"/>
              </a:rPr>
              <a:t>Which is </a:t>
            </a:r>
            <a:r>
              <a:rPr dirty="0">
                <a:latin typeface="Calibri"/>
                <a:cs typeface="Calibri"/>
              </a:rPr>
              <a:t>a </a:t>
            </a:r>
            <a:r>
              <a:rPr spc="-5" dirty="0">
                <a:latin typeface="Calibri"/>
                <a:cs typeface="Calibri"/>
              </a:rPr>
              <a:t>good </a:t>
            </a:r>
            <a:r>
              <a:rPr spc="-10" dirty="0">
                <a:latin typeface="Calibri"/>
                <a:cs typeface="Calibri"/>
              </a:rPr>
              <a:t>approximation </a:t>
            </a:r>
            <a:r>
              <a:rPr dirty="0">
                <a:latin typeface="Calibri"/>
                <a:cs typeface="Calibri"/>
              </a:rPr>
              <a:t>when </a:t>
            </a:r>
            <a:r>
              <a:rPr spc="-10" dirty="0">
                <a:latin typeface="Calibri"/>
                <a:cs typeface="Calibri"/>
              </a:rPr>
              <a:t>we </a:t>
            </a:r>
            <a:r>
              <a:rPr spc="-39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now the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exact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answer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is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 = </a:t>
            </a:r>
            <a:r>
              <a:rPr spc="-5" dirty="0">
                <a:latin typeface="Calibri"/>
                <a:cs typeface="Calibri"/>
              </a:rPr>
              <a:t>1/3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7C79A5-4DB3-49CC-88AA-A9AE3C7FB55E}"/>
              </a:ext>
            </a:extLst>
          </p:cNvPr>
          <p:cNvSpPr txBox="1"/>
          <p:nvPr/>
        </p:nvSpPr>
        <p:spPr>
          <a:xfrm>
            <a:off x="4275943" y="1419360"/>
            <a:ext cx="4706113" cy="5016758"/>
          </a:xfrm>
          <a:prstGeom prst="rect">
            <a:avLst/>
          </a:prstGeom>
          <a:solidFill>
            <a:srgbClr val="FEF7C2"/>
          </a:solidFill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baseline="0" dirty="0">
                <a:solidFill>
                  <a:srgbClr val="000000"/>
                </a:solidFill>
                <a:latin typeface="Courier"/>
              </a:rPr>
              <a:t>import </a:t>
            </a:r>
            <a:r>
              <a:rPr lang="en-GB" sz="1600" b="0" i="0" u="none" strike="noStrike" baseline="0" dirty="0" err="1">
                <a:solidFill>
                  <a:srgbClr val="000000"/>
                </a:solidFill>
                <a:latin typeface="Courier"/>
              </a:rPr>
              <a:t>numpy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urier"/>
              </a:rPr>
              <a:t> as np</a:t>
            </a:r>
          </a:p>
          <a:p>
            <a:pPr algn="l"/>
            <a:r>
              <a:rPr lang="en-US" sz="1600" b="0" i="0" u="none" strike="noStrike" baseline="0" dirty="0">
                <a:solidFill>
                  <a:srgbClr val="000000"/>
                </a:solidFill>
                <a:latin typeface="Courier"/>
              </a:rPr>
              <a:t>import 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Courier"/>
              </a:rPr>
              <a:t>matplotlib.pyplot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Courier"/>
              </a:rPr>
              <a:t> as 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Courier"/>
              </a:rPr>
              <a:t>plt</a:t>
            </a:r>
            <a:endParaRPr lang="en-US" sz="1600" b="0" i="0" u="none" strike="noStrike" baseline="0" dirty="0">
              <a:solidFill>
                <a:srgbClr val="000000"/>
              </a:solidFill>
              <a:latin typeface="Courier"/>
            </a:endParaRPr>
          </a:p>
          <a:p>
            <a:pPr algn="l"/>
            <a:endParaRPr lang="en-US" sz="1600" b="0" i="0" u="none" strike="noStrike" baseline="0" dirty="0">
              <a:solidFill>
                <a:srgbClr val="000000"/>
              </a:solidFill>
              <a:latin typeface="Courier"/>
            </a:endParaRPr>
          </a:p>
          <a:p>
            <a:pPr algn="l"/>
            <a:r>
              <a:rPr lang="en-GB" sz="1600" b="0" i="0" u="none" strike="noStrike" baseline="0" dirty="0">
                <a:solidFill>
                  <a:srgbClr val="000000"/>
                </a:solidFill>
                <a:latin typeface="Courier"/>
              </a:rPr>
              <a:t>a = 0; b = 1</a:t>
            </a:r>
          </a:p>
          <a:p>
            <a:pPr algn="l"/>
            <a:r>
              <a:rPr lang="en-GB" sz="1600" b="0" i="0" u="none" strike="noStrike" baseline="0" dirty="0">
                <a:solidFill>
                  <a:srgbClr val="000000"/>
                </a:solidFill>
                <a:latin typeface="Courier"/>
              </a:rPr>
              <a:t>N = 10</a:t>
            </a:r>
          </a:p>
          <a:p>
            <a:pPr algn="l"/>
            <a:endParaRPr lang="en-GB" sz="1600" b="0" i="0" u="none" strike="noStrike" baseline="0" dirty="0">
              <a:solidFill>
                <a:srgbClr val="000000"/>
              </a:solidFill>
              <a:latin typeface="Courier"/>
            </a:endParaRPr>
          </a:p>
          <a:p>
            <a:pPr algn="l"/>
            <a:r>
              <a:rPr lang="pt-BR" sz="1600" b="0" i="0" u="none" strike="noStrike" baseline="0" dirty="0">
                <a:solidFill>
                  <a:srgbClr val="000000"/>
                </a:solidFill>
                <a:latin typeface="Courier"/>
              </a:rPr>
              <a:t>x = np.linspace(a, b ,N+1)</a:t>
            </a:r>
          </a:p>
          <a:p>
            <a:pPr algn="l"/>
            <a:r>
              <a:rPr lang="en-GB" sz="1600" b="0" i="0" u="none" strike="noStrike" baseline="0" dirty="0">
                <a:solidFill>
                  <a:srgbClr val="632523"/>
                </a:solidFill>
                <a:latin typeface="Courier"/>
              </a:rPr>
              <a:t>y = x**2;</a:t>
            </a:r>
          </a:p>
          <a:p>
            <a:pPr algn="l"/>
            <a:endParaRPr lang="en-GB" sz="1600" b="0" i="0" u="none" strike="noStrike" baseline="0" dirty="0">
              <a:solidFill>
                <a:srgbClr val="632523"/>
              </a:solidFill>
              <a:latin typeface="Courier"/>
            </a:endParaRPr>
          </a:p>
          <a:p>
            <a:pPr algn="l"/>
            <a:r>
              <a:rPr lang="en-GB" sz="1600" b="1" i="0" u="none" strike="noStrike" baseline="0" dirty="0" err="1">
                <a:solidFill>
                  <a:srgbClr val="632523"/>
                </a:solidFill>
                <a:latin typeface="Courier"/>
              </a:rPr>
              <a:t>y_right</a:t>
            </a:r>
            <a:r>
              <a:rPr lang="en-GB" sz="1600" b="1" i="0" u="none" strike="noStrike" baseline="0" dirty="0">
                <a:solidFill>
                  <a:srgbClr val="632523"/>
                </a:solidFill>
                <a:latin typeface="Courier"/>
              </a:rPr>
              <a:t> = y[1:]</a:t>
            </a:r>
          </a:p>
          <a:p>
            <a:pPr algn="l"/>
            <a:r>
              <a:rPr lang="en-GB" sz="1600" b="1" i="0" u="none" strike="noStrike" baseline="0" dirty="0" err="1">
                <a:solidFill>
                  <a:srgbClr val="632523"/>
                </a:solidFill>
                <a:latin typeface="Courier"/>
              </a:rPr>
              <a:t>y_left</a:t>
            </a:r>
            <a:r>
              <a:rPr lang="en-GB" sz="1600" b="1" i="0" u="none" strike="noStrike" baseline="0" dirty="0">
                <a:solidFill>
                  <a:srgbClr val="632523"/>
                </a:solidFill>
                <a:latin typeface="Courier"/>
              </a:rPr>
              <a:t> = y[:-1]</a:t>
            </a:r>
          </a:p>
          <a:p>
            <a:pPr algn="l"/>
            <a:endParaRPr lang="en-GB" sz="1600" b="0" i="0" u="none" strike="noStrike" baseline="0" dirty="0">
              <a:solidFill>
                <a:srgbClr val="000000"/>
              </a:solidFill>
              <a:latin typeface="Courier"/>
            </a:endParaRPr>
          </a:p>
          <a:p>
            <a:pPr algn="l"/>
            <a:r>
              <a:rPr lang="en-GB" sz="1600" b="0" i="0" u="none" strike="noStrike" baseline="0" dirty="0">
                <a:solidFill>
                  <a:srgbClr val="000000"/>
                </a:solidFill>
                <a:latin typeface="Courier"/>
              </a:rPr>
              <a:t># Trapezoid Rule</a:t>
            </a:r>
          </a:p>
          <a:p>
            <a:pPr algn="l"/>
            <a:r>
              <a:rPr lang="en-GB" sz="1600" b="1" i="0" u="none" strike="noStrike" baseline="0" dirty="0">
                <a:solidFill>
                  <a:srgbClr val="632523"/>
                </a:solidFill>
                <a:latin typeface="Courier-Bold"/>
              </a:rPr>
              <a:t>dx = (b - a)/N</a:t>
            </a:r>
          </a:p>
          <a:p>
            <a:pPr algn="l"/>
            <a:r>
              <a:rPr lang="en-GB" sz="1600" b="1" i="0" u="none" strike="noStrike" baseline="0" dirty="0">
                <a:solidFill>
                  <a:srgbClr val="632523"/>
                </a:solidFill>
                <a:latin typeface="Courier-Bold"/>
              </a:rPr>
              <a:t>A = (dx/2) * </a:t>
            </a:r>
            <a:r>
              <a:rPr lang="en-GB" sz="1600" b="1" i="0" u="none" strike="noStrike" baseline="0" dirty="0" err="1">
                <a:solidFill>
                  <a:srgbClr val="632523"/>
                </a:solidFill>
                <a:latin typeface="Courier-Bold"/>
              </a:rPr>
              <a:t>np.sum</a:t>
            </a:r>
            <a:r>
              <a:rPr lang="en-GB" sz="1600" b="1" i="0" u="none" strike="noStrike" baseline="0" dirty="0">
                <a:solidFill>
                  <a:srgbClr val="632523"/>
                </a:solidFill>
                <a:latin typeface="Courier-Bold"/>
              </a:rPr>
              <a:t>(</a:t>
            </a:r>
            <a:r>
              <a:rPr lang="en-GB" sz="1600" b="1" i="0" u="none" strike="noStrike" baseline="0" dirty="0" err="1">
                <a:solidFill>
                  <a:srgbClr val="632523"/>
                </a:solidFill>
                <a:latin typeface="Courier-Bold"/>
              </a:rPr>
              <a:t>y_right</a:t>
            </a:r>
            <a:r>
              <a:rPr lang="en-GB" sz="1600" b="1" i="0" u="none" strike="noStrike" baseline="0" dirty="0">
                <a:solidFill>
                  <a:srgbClr val="632523"/>
                </a:solidFill>
                <a:latin typeface="Courier-Bold"/>
              </a:rPr>
              <a:t> + </a:t>
            </a:r>
            <a:r>
              <a:rPr lang="en-GB" sz="1600" b="1" i="0" u="none" strike="noStrike" baseline="0" dirty="0" err="1">
                <a:solidFill>
                  <a:srgbClr val="632523"/>
                </a:solidFill>
                <a:latin typeface="Courier-Bold"/>
              </a:rPr>
              <a:t>y_left</a:t>
            </a:r>
            <a:r>
              <a:rPr lang="en-GB" sz="1600" b="1" i="0" u="none" strike="noStrike" baseline="0" dirty="0">
                <a:solidFill>
                  <a:srgbClr val="632523"/>
                </a:solidFill>
                <a:latin typeface="Courier-Bold"/>
              </a:rPr>
              <a:t>)</a:t>
            </a:r>
          </a:p>
          <a:p>
            <a:pPr algn="l"/>
            <a:endParaRPr lang="en-GB" sz="1600" b="0" i="0" u="none" strike="noStrike" baseline="0" dirty="0">
              <a:solidFill>
                <a:srgbClr val="000000"/>
              </a:solidFill>
              <a:latin typeface="Courier"/>
            </a:endParaRPr>
          </a:p>
          <a:p>
            <a:pPr algn="l"/>
            <a:r>
              <a:rPr lang="en-GB" sz="1600" b="0" i="0" u="none" strike="noStrike" baseline="0" dirty="0">
                <a:solidFill>
                  <a:srgbClr val="000000"/>
                </a:solidFill>
                <a:latin typeface="Courier"/>
              </a:rPr>
              <a:t>print("A =", A)</a:t>
            </a:r>
          </a:p>
          <a:p>
            <a:pPr algn="l"/>
            <a:r>
              <a:rPr lang="en-GB" sz="1600" b="0" i="0" u="none" strike="noStrike" baseline="0" dirty="0" err="1">
                <a:solidFill>
                  <a:srgbClr val="000000"/>
                </a:solidFill>
                <a:latin typeface="Courier"/>
              </a:rPr>
              <a:t>plt.plot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urier"/>
              </a:rPr>
              <a:t>(</a:t>
            </a:r>
            <a:r>
              <a:rPr lang="en-GB" sz="1600" b="0" i="0" u="none" strike="noStrike" baseline="0" dirty="0" err="1">
                <a:solidFill>
                  <a:srgbClr val="000000"/>
                </a:solidFill>
                <a:latin typeface="Courier"/>
              </a:rPr>
              <a:t>x,y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urier"/>
              </a:rPr>
              <a:t>)</a:t>
            </a:r>
          </a:p>
          <a:p>
            <a:pPr algn="l"/>
            <a:r>
              <a:rPr lang="en-GB" sz="1600" b="0" i="0" u="none" strike="noStrike" baseline="0" dirty="0" err="1">
                <a:solidFill>
                  <a:srgbClr val="000000"/>
                </a:solidFill>
                <a:latin typeface="Courier"/>
              </a:rPr>
              <a:t>plt.xlim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urier"/>
              </a:rPr>
              <a:t>([0,1])</a:t>
            </a:r>
          </a:p>
          <a:p>
            <a:pPr algn="l"/>
            <a:r>
              <a:rPr lang="en-GB" sz="1600" b="0" i="0" u="none" strike="noStrike" baseline="0" dirty="0" err="1">
                <a:solidFill>
                  <a:srgbClr val="000000"/>
                </a:solidFill>
                <a:latin typeface="Courier"/>
              </a:rPr>
              <a:t>plt.ylim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urier"/>
              </a:rPr>
              <a:t>([0,1])</a:t>
            </a:r>
            <a:endParaRPr lang="en-GB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FE4F3C-3EB7-4D7D-97C6-D3FA2487C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5" y="4908585"/>
            <a:ext cx="4036475" cy="1559088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EF69E9-9145-4238-BC13-2876859E5DA3}"/>
              </a:ext>
            </a:extLst>
          </p:cNvPr>
          <p:cNvCxnSpPr/>
          <p:nvPr/>
        </p:nvCxnSpPr>
        <p:spPr bwMode="auto">
          <a:xfrm flipH="1">
            <a:off x="3133559" y="4164129"/>
            <a:ext cx="2590800" cy="15240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9567" y="1295400"/>
            <a:ext cx="8444865" cy="1470724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2900" algn="just">
              <a:spcBef>
                <a:spcPts val="12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SciPy </a:t>
            </a:r>
            <a:r>
              <a:rPr sz="2400" spc="-5" dirty="0">
                <a:latin typeface="Calibri"/>
                <a:cs typeface="Calibri"/>
              </a:rPr>
              <a:t>has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many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Numerical </a:t>
            </a:r>
            <a:r>
              <a:rPr sz="2400" spc="-15" dirty="0">
                <a:latin typeface="Calibri"/>
                <a:cs typeface="Calibri"/>
              </a:rPr>
              <a:t>Integration</a:t>
            </a:r>
            <a:endParaRPr sz="2400" dirty="0">
              <a:latin typeface="Calibri"/>
              <a:cs typeface="Calibri"/>
            </a:endParaRPr>
          </a:p>
          <a:p>
            <a:pPr marL="355600" indent="-342900" algn="just">
              <a:lnSpc>
                <a:spcPts val="2995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0" dirty="0">
                <a:latin typeface="Calibri"/>
                <a:cs typeface="Calibri"/>
              </a:rPr>
              <a:t>We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 functions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SciPy</a:t>
            </a:r>
            <a:r>
              <a:rPr sz="2400" spc="-5" dirty="0">
                <a:latin typeface="Calibri"/>
                <a:cs typeface="Calibri"/>
              </a:rPr>
              <a:t> Module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32523"/>
                </a:solidFill>
                <a:latin typeface="Calibri"/>
                <a:cs typeface="Calibri"/>
              </a:rPr>
              <a:t>scipy.integrate</a:t>
            </a:r>
            <a:endParaRPr sz="2400" dirty="0">
              <a:latin typeface="Calibri"/>
              <a:cs typeface="Calibri"/>
            </a:endParaRPr>
          </a:p>
          <a:p>
            <a:pPr marL="355600" indent="-342900" algn="just">
              <a:lnSpc>
                <a:spcPts val="2515"/>
              </a:lnSpc>
              <a:spcBef>
                <a:spcPts val="1200"/>
              </a:spcBef>
              <a:buClr>
                <a:srgbClr val="00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u="sng" spc="-15" dirty="0">
                <a:solidFill>
                  <a:srgbClr val="F4511D"/>
                </a:solidFill>
                <a:uFill>
                  <a:solidFill>
                    <a:srgbClr val="F4511D"/>
                  </a:solidFill>
                </a:uFill>
                <a:latin typeface="Calibri"/>
                <a:cs typeface="Calibri"/>
              </a:rPr>
              <a:t>https://docs.scipy.org/doc/scipy/reference/integrate.html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98260" y="304800"/>
            <a:ext cx="1947481" cy="68993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S</a:t>
            </a:r>
            <a:r>
              <a:rPr spc="-5" dirty="0"/>
              <a:t>ci</a:t>
            </a:r>
            <a:r>
              <a:rPr spc="30" dirty="0"/>
              <a:t>P</a:t>
            </a:r>
            <a:r>
              <a:rPr dirty="0"/>
              <a:t>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4831" y="304800"/>
            <a:ext cx="5494020" cy="68993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Courier New"/>
                <a:cs typeface="Courier New"/>
              </a:rPr>
              <a:t>trapz(</a:t>
            </a:r>
            <a:r>
              <a:rPr dirty="0">
                <a:latin typeface="Courier New"/>
                <a:cs typeface="Courier New"/>
              </a:rPr>
              <a:t>)</a:t>
            </a:r>
            <a:r>
              <a:rPr spc="-2020" dirty="0">
                <a:latin typeface="Courier New"/>
                <a:cs typeface="Courier New"/>
              </a:rPr>
              <a:t> </a:t>
            </a:r>
            <a:r>
              <a:rPr spc="-10" dirty="0"/>
              <a:t>F</a:t>
            </a:r>
            <a:r>
              <a:rPr spc="-5" dirty="0"/>
              <a:t>un</a:t>
            </a:r>
            <a:r>
              <a:rPr dirty="0"/>
              <a:t>ct</a:t>
            </a:r>
            <a:r>
              <a:rPr spc="-5" dirty="0"/>
              <a:t>i</a:t>
            </a:r>
            <a:r>
              <a:rPr spc="5" dirty="0"/>
              <a:t>o</a:t>
            </a:r>
            <a:r>
              <a:rPr dirty="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371600"/>
            <a:ext cx="8422640" cy="2505173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spcBef>
                <a:spcPts val="795"/>
              </a:spcBef>
            </a:pPr>
            <a:r>
              <a:rPr sz="2400" spc="-4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start</a:t>
            </a:r>
            <a:r>
              <a:rPr sz="2400" spc="-5" dirty="0">
                <a:latin typeface="Calibri"/>
                <a:cs typeface="Calibri"/>
              </a:rPr>
              <a:t> with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using 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built-in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Trapezoid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rule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 </a:t>
            </a:r>
            <a:r>
              <a:rPr sz="2400" spc="-5" dirty="0">
                <a:latin typeface="Courier New"/>
                <a:cs typeface="Courier New"/>
              </a:rPr>
              <a:t>trapz()</a:t>
            </a:r>
            <a:r>
              <a:rPr sz="2400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508634" indent="-343535">
              <a:spcBef>
                <a:spcPts val="1160"/>
              </a:spcBef>
              <a:buFont typeface="Arial MT"/>
              <a:buChar char="•"/>
              <a:tabLst>
                <a:tab pos="50927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trapz(y,x,</a:t>
            </a:r>
            <a:r>
              <a:rPr sz="2400" dirty="0">
                <a:latin typeface="Cambria Math"/>
                <a:cs typeface="Cambria Math"/>
              </a:rPr>
              <a:t>∆𝑥</a:t>
            </a:r>
            <a:r>
              <a:rPr sz="2400" dirty="0">
                <a:latin typeface="Courier New"/>
                <a:cs typeface="Courier New"/>
              </a:rPr>
              <a:t>)</a:t>
            </a:r>
          </a:p>
          <a:p>
            <a:pPr marL="508634">
              <a:lnSpc>
                <a:spcPts val="4310"/>
              </a:lnSpc>
              <a:spcBef>
                <a:spcPts val="305"/>
              </a:spcBef>
            </a:pPr>
            <a:r>
              <a:rPr sz="2400" dirty="0">
                <a:latin typeface="Cambria Math"/>
                <a:cs typeface="Cambria Math"/>
              </a:rPr>
              <a:t>𝑥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Array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values</a:t>
            </a:r>
            <a:endParaRPr sz="2400" dirty="0">
              <a:latin typeface="Calibri"/>
              <a:cs typeface="Calibri"/>
            </a:endParaRPr>
          </a:p>
          <a:p>
            <a:pPr marL="508634">
              <a:lnSpc>
                <a:spcPts val="4310"/>
              </a:lnSpc>
            </a:pP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Array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values</a:t>
            </a:r>
            <a:endParaRPr sz="2400" dirty="0">
              <a:latin typeface="Calibri"/>
              <a:cs typeface="Calibri"/>
            </a:endParaRPr>
          </a:p>
          <a:p>
            <a:pPr marL="508634"/>
            <a:r>
              <a:rPr sz="2400" dirty="0">
                <a:latin typeface="Cambria Math"/>
                <a:cs typeface="Cambria Math"/>
              </a:rPr>
              <a:t>∆𝑥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spacing </a:t>
            </a:r>
            <a:r>
              <a:rPr sz="2400" spc="-15" dirty="0">
                <a:latin typeface="Calibri"/>
                <a:cs typeface="Calibri"/>
              </a:rPr>
              <a:t>between </a:t>
            </a:r>
            <a:r>
              <a:rPr sz="2400" spc="-5" dirty="0">
                <a:latin typeface="Calibri"/>
                <a:cs typeface="Calibri"/>
              </a:rPr>
              <a:t>sample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5906" y="152400"/>
            <a:ext cx="8372189" cy="836768"/>
          </a:xfrm>
          <a:prstGeom prst="rect">
            <a:avLst/>
          </a:prstGeom>
        </p:spPr>
        <p:txBody>
          <a:bodyPr vert="horz" wrap="square" lIns="0" tIns="15811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4400" b="1" spc="-5" dirty="0">
                <a:solidFill>
                  <a:srgbClr val="007DC4"/>
                </a:solidFill>
                <a:latin typeface="Courier New"/>
                <a:cs typeface="Courier New"/>
              </a:rPr>
              <a:t>Python Code - </a:t>
            </a:r>
            <a:r>
              <a:rPr sz="4400" b="1" spc="-5" dirty="0" err="1">
                <a:solidFill>
                  <a:srgbClr val="007DC4"/>
                </a:solidFill>
                <a:latin typeface="Courier New"/>
                <a:cs typeface="Courier New"/>
              </a:rPr>
              <a:t>trapz</a:t>
            </a:r>
            <a:r>
              <a:rPr sz="4400" b="1" spc="-5" dirty="0">
                <a:solidFill>
                  <a:srgbClr val="007DC4"/>
                </a:solidFill>
                <a:latin typeface="Courier New"/>
                <a:cs typeface="Courier New"/>
              </a:rPr>
              <a:t>()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sz="half" idx="2"/>
          </p:nvPr>
        </p:nvSpPr>
        <p:spPr>
          <a:xfrm>
            <a:off x="226451" y="2133600"/>
            <a:ext cx="3677920" cy="566822"/>
          </a:xfrm>
          <a:prstGeom prst="rect">
            <a:avLst/>
          </a:prstGeom>
        </p:spPr>
        <p:txBody>
          <a:bodyPr vert="horz" wrap="square" lIns="0" tIns="127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09319">
              <a:spcBef>
                <a:spcPts val="100"/>
              </a:spcBef>
            </a:pPr>
            <a:r>
              <a:rPr spc="50" dirty="0"/>
              <a:t>𝑓(𝑥)</a:t>
            </a:r>
            <a:r>
              <a:rPr spc="180" dirty="0"/>
              <a:t> </a:t>
            </a:r>
            <a:r>
              <a:rPr dirty="0"/>
              <a:t>=</a:t>
            </a:r>
            <a:r>
              <a:rPr spc="180" dirty="0"/>
              <a:t> </a:t>
            </a:r>
            <a:r>
              <a:rPr spc="125" dirty="0"/>
              <a:t>𝑥</a:t>
            </a:r>
            <a:r>
              <a:rPr sz="3900" spc="187" baseline="27777" dirty="0"/>
              <a:t>2</a:t>
            </a:r>
            <a:endParaRPr sz="3900" baseline="27777" dirty="0"/>
          </a:p>
        </p:txBody>
      </p:sp>
      <p:sp>
        <p:nvSpPr>
          <p:cNvPr id="13" name="object 13"/>
          <p:cNvSpPr txBox="1"/>
          <p:nvPr/>
        </p:nvSpPr>
        <p:spPr>
          <a:xfrm>
            <a:off x="363910" y="1453862"/>
            <a:ext cx="619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Gi</a:t>
            </a:r>
            <a:r>
              <a:rPr spc="-20" dirty="0">
                <a:latin typeface="Calibri"/>
                <a:cs typeface="Calibri"/>
              </a:rPr>
              <a:t>v</a:t>
            </a:r>
            <a:r>
              <a:rPr dirty="0">
                <a:latin typeface="Calibri"/>
                <a:cs typeface="Calibri"/>
              </a:rPr>
              <a:t>en: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ABFE20-0724-4DB4-9122-F3A7B0B24F46}"/>
              </a:ext>
            </a:extLst>
          </p:cNvPr>
          <p:cNvSpPr txBox="1"/>
          <p:nvPr/>
        </p:nvSpPr>
        <p:spPr>
          <a:xfrm>
            <a:off x="4275077" y="1953146"/>
            <a:ext cx="4609706" cy="3416320"/>
          </a:xfrm>
          <a:prstGeom prst="rect">
            <a:avLst/>
          </a:prstGeom>
          <a:solidFill>
            <a:srgbClr val="FEF7C2"/>
          </a:solidFill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0" i="0" u="none" strike="noStrike" baseline="0">
                <a:solidFill>
                  <a:srgbClr val="000000"/>
                </a:solidFill>
                <a:latin typeface="Courier"/>
              </a:defRPr>
            </a:lvl1pPr>
          </a:lstStyle>
          <a:p>
            <a:r>
              <a:rPr lang="en-GB" sz="1800" dirty="0"/>
              <a:t>import </a:t>
            </a:r>
            <a:r>
              <a:rPr lang="en-GB" sz="1800" dirty="0" err="1"/>
              <a:t>numpy</a:t>
            </a:r>
            <a:r>
              <a:rPr lang="en-GB" sz="1800" dirty="0"/>
              <a:t> as np</a:t>
            </a:r>
          </a:p>
          <a:p>
            <a:endParaRPr lang="en-GB" sz="1800" dirty="0"/>
          </a:p>
          <a:p>
            <a:r>
              <a:rPr lang="en-GB" sz="1800" dirty="0"/>
              <a:t>a = 0</a:t>
            </a:r>
          </a:p>
          <a:p>
            <a:r>
              <a:rPr lang="en-GB" sz="1800" dirty="0"/>
              <a:t>b = 1</a:t>
            </a:r>
          </a:p>
          <a:p>
            <a:r>
              <a:rPr lang="en-GB" sz="1800" dirty="0"/>
              <a:t>N = 10</a:t>
            </a:r>
          </a:p>
          <a:p>
            <a:r>
              <a:rPr lang="en-GB" sz="1800" dirty="0"/>
              <a:t>dx = (b - a)/N</a:t>
            </a:r>
          </a:p>
          <a:p>
            <a:endParaRPr lang="pt-BR" sz="1800" dirty="0"/>
          </a:p>
          <a:p>
            <a:r>
              <a:rPr lang="pt-BR" sz="1800" dirty="0"/>
              <a:t>x = np.linspace(a,b,N+1)</a:t>
            </a:r>
          </a:p>
          <a:p>
            <a:r>
              <a:rPr lang="en-GB" sz="1800" dirty="0"/>
              <a:t>y = x**2;</a:t>
            </a:r>
          </a:p>
          <a:p>
            <a:endParaRPr lang="en-GB" sz="1800" dirty="0"/>
          </a:p>
          <a:p>
            <a:r>
              <a:rPr lang="es-ES" sz="1800" b="1" dirty="0"/>
              <a:t>A = </a:t>
            </a:r>
            <a:r>
              <a:rPr lang="es-ES" sz="1800" b="1" dirty="0" err="1"/>
              <a:t>np.trapz</a:t>
            </a:r>
            <a:r>
              <a:rPr lang="es-ES" sz="1800" b="1" dirty="0"/>
              <a:t>(</a:t>
            </a:r>
            <a:r>
              <a:rPr lang="es-ES" sz="1800" b="1" dirty="0" err="1"/>
              <a:t>y,x,dx</a:t>
            </a:r>
            <a:r>
              <a:rPr lang="es-ES" sz="1800" b="1" dirty="0"/>
              <a:t>)</a:t>
            </a:r>
          </a:p>
          <a:p>
            <a:r>
              <a:rPr lang="en-GB" sz="1800" dirty="0"/>
              <a:t>print(A)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D314C7B-C3EF-4A60-AE50-654A5DCD8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01" y="2995881"/>
            <a:ext cx="3341820" cy="24381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6095" y="1447800"/>
            <a:ext cx="8131809" cy="2829621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2900">
              <a:spcBef>
                <a:spcPts val="38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5" dirty="0">
                <a:latin typeface="Courier New"/>
                <a:cs typeface="Courier New"/>
              </a:rPr>
              <a:t>A,err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quad(f,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a,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b)</a:t>
            </a:r>
            <a:endParaRPr sz="2400" dirty="0">
              <a:latin typeface="Courier New"/>
              <a:cs typeface="Courier New"/>
            </a:endParaRPr>
          </a:p>
          <a:p>
            <a:pPr marL="354965">
              <a:spcBef>
                <a:spcPts val="290"/>
              </a:spcBef>
            </a:pPr>
            <a:r>
              <a:rPr sz="2400" dirty="0">
                <a:latin typeface="Cambria Math"/>
                <a:cs typeface="Cambria Math"/>
              </a:rPr>
              <a:t>𝑓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</a:t>
            </a:r>
            <a:r>
              <a:rPr sz="2400" spc="-15" dirty="0">
                <a:latin typeface="Calibri"/>
                <a:cs typeface="Calibri"/>
              </a:rPr>
              <a:t> that </a:t>
            </a:r>
            <a:r>
              <a:rPr sz="2400" spc="-10" dirty="0">
                <a:latin typeface="Calibri"/>
                <a:cs typeface="Calibri"/>
              </a:rPr>
              <a:t>shall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integrated</a:t>
            </a:r>
            <a:endParaRPr sz="2400" dirty="0">
              <a:latin typeface="Calibri"/>
              <a:cs typeface="Calibri"/>
            </a:endParaRPr>
          </a:p>
          <a:p>
            <a:pPr marL="354965"/>
            <a:r>
              <a:rPr sz="2400" dirty="0">
                <a:latin typeface="Cambria Math"/>
                <a:cs typeface="Cambria Math"/>
              </a:rPr>
              <a:t>𝑎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Lower</a:t>
            </a:r>
            <a:r>
              <a:rPr sz="2400" spc="-5" dirty="0">
                <a:latin typeface="Calibri"/>
                <a:cs typeface="Calibri"/>
              </a:rPr>
              <a:t> Limit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Integration</a:t>
            </a:r>
            <a:endParaRPr sz="2400" dirty="0">
              <a:latin typeface="Calibri"/>
              <a:cs typeface="Calibri"/>
            </a:endParaRPr>
          </a:p>
          <a:p>
            <a:pPr marL="354965"/>
            <a:r>
              <a:rPr sz="2400" dirty="0">
                <a:latin typeface="Cambria Math"/>
                <a:cs typeface="Cambria Math"/>
              </a:rPr>
              <a:t>𝑏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Upper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Limit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Integration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spcBef>
                <a:spcPts val="4105"/>
              </a:spcBef>
              <a:buClr>
                <a:srgbClr val="00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u="heavy" spc="-15" dirty="0">
                <a:solidFill>
                  <a:srgbClr val="F4511D"/>
                </a:solidFill>
                <a:uFill>
                  <a:solidFill>
                    <a:srgbClr val="F4511D"/>
                  </a:solidFill>
                </a:uFill>
                <a:latin typeface="Calibri"/>
                <a:cs typeface="Calibri"/>
              </a:rPr>
              <a:t>https://docs.scipy.org/doc/scipy/reference/generated</a:t>
            </a:r>
            <a:endParaRPr sz="2400" dirty="0">
              <a:latin typeface="Calibri"/>
              <a:cs typeface="Calibri"/>
            </a:endParaRPr>
          </a:p>
          <a:p>
            <a:pPr marL="354965">
              <a:spcBef>
                <a:spcPts val="45"/>
              </a:spcBef>
            </a:pPr>
            <a:r>
              <a:rPr sz="2400" u="heavy" spc="-20" dirty="0">
                <a:solidFill>
                  <a:srgbClr val="F4511D"/>
                </a:solidFill>
                <a:uFill>
                  <a:solidFill>
                    <a:srgbClr val="F4511D"/>
                  </a:solidFill>
                </a:uFill>
                <a:latin typeface="Calibri"/>
                <a:cs typeface="Calibri"/>
              </a:rPr>
              <a:t>/scipy.integrate.quad.html#scipy.integrate.quad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30413" y="304800"/>
            <a:ext cx="5083175" cy="68993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Courier New"/>
                <a:cs typeface="Courier New"/>
              </a:rPr>
              <a:t>quad(</a:t>
            </a:r>
            <a:r>
              <a:rPr dirty="0">
                <a:latin typeface="Courier New"/>
                <a:cs typeface="Courier New"/>
              </a:rPr>
              <a:t>)</a:t>
            </a:r>
            <a:r>
              <a:rPr spc="-2020" dirty="0">
                <a:latin typeface="Courier New"/>
                <a:cs typeface="Courier New"/>
              </a:rPr>
              <a:t> </a:t>
            </a:r>
            <a:r>
              <a:rPr spc="-10" dirty="0"/>
              <a:t>F</a:t>
            </a:r>
            <a:r>
              <a:rPr spc="-5" dirty="0"/>
              <a:t>un</a:t>
            </a:r>
            <a:r>
              <a:rPr dirty="0"/>
              <a:t>ct</a:t>
            </a:r>
            <a:r>
              <a:rPr spc="-5" dirty="0"/>
              <a:t>i</a:t>
            </a:r>
            <a:r>
              <a:rPr spc="5" dirty="0"/>
              <a:t>o</a:t>
            </a:r>
            <a:r>
              <a:rPr dirty="0"/>
              <a:t>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B7F3D15-ECB4-427C-8CA6-8F2B952C41B7}"/>
              </a:ext>
            </a:extLst>
          </p:cNvPr>
          <p:cNvSpPr txBox="1">
            <a:spLocks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4755" y="381000"/>
            <a:ext cx="6714490" cy="68993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4400" b="1" spc="-5" dirty="0">
                <a:solidFill>
                  <a:srgbClr val="007DC4"/>
                </a:solidFill>
                <a:latin typeface="Courier New"/>
                <a:cs typeface="Courier New"/>
              </a:rPr>
              <a:t>Python Code – quad()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81631" y="2150114"/>
            <a:ext cx="4800600" cy="2862322"/>
          </a:xfrm>
          <a:prstGeom prst="rect">
            <a:avLst/>
          </a:prstGeom>
          <a:solidFill>
            <a:srgbClr val="FEF7C2"/>
          </a:solidFill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0" i="0" u="none" strike="noStrike" baseline="0">
                <a:solidFill>
                  <a:srgbClr val="000000"/>
                </a:solidFill>
                <a:latin typeface="Courier"/>
              </a:defRPr>
            </a:lvl1pPr>
          </a:lstStyle>
          <a:p>
            <a:r>
              <a:rPr sz="1800" dirty="0"/>
              <a:t>from scipy import integrate</a:t>
            </a:r>
          </a:p>
          <a:p>
            <a:endParaRPr sz="1800" dirty="0"/>
          </a:p>
          <a:p>
            <a:r>
              <a:rPr sz="1800" dirty="0"/>
              <a:t>a = 0; b = 1</a:t>
            </a:r>
          </a:p>
          <a:p>
            <a:endParaRPr sz="1800" dirty="0"/>
          </a:p>
          <a:p>
            <a:r>
              <a:rPr sz="1800" dirty="0"/>
              <a:t>def y(x):</a:t>
            </a:r>
          </a:p>
          <a:p>
            <a:r>
              <a:rPr lang="en-US" sz="1800" dirty="0"/>
              <a:t>     </a:t>
            </a:r>
            <a:r>
              <a:rPr sz="1800" dirty="0"/>
              <a:t>return x**2</a:t>
            </a:r>
          </a:p>
          <a:p>
            <a:endParaRPr sz="1800" dirty="0"/>
          </a:p>
          <a:p>
            <a:r>
              <a:rPr sz="1800" b="1" dirty="0"/>
              <a:t>A, e = integrate.quad(y, a, b)</a:t>
            </a:r>
          </a:p>
          <a:p>
            <a:endParaRPr sz="1800" dirty="0"/>
          </a:p>
          <a:p>
            <a:r>
              <a:rPr sz="1800" dirty="0"/>
              <a:t>print("A =", A)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78696" y="5330698"/>
            <a:ext cx="3165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A</a:t>
            </a:r>
            <a:r>
              <a:rPr b="1" spc="-6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=</a:t>
            </a:r>
            <a:r>
              <a:rPr b="1" spc="-6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0.33333333333333337</a:t>
            </a:r>
            <a:endParaRPr b="1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863" y="1948433"/>
            <a:ext cx="3888740" cy="3353482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91440">
              <a:spcBef>
                <a:spcPts val="470"/>
              </a:spcBef>
            </a:pPr>
            <a:r>
              <a:rPr spc="-5" dirty="0">
                <a:latin typeface="Calibri"/>
                <a:cs typeface="Calibri"/>
              </a:rPr>
              <a:t>Given:</a:t>
            </a:r>
            <a:endParaRPr dirty="0">
              <a:latin typeface="Calibri"/>
              <a:cs typeface="Calibri"/>
            </a:endParaRPr>
          </a:p>
          <a:p>
            <a:pPr marL="843915">
              <a:spcBef>
                <a:spcPts val="745"/>
              </a:spcBef>
            </a:pPr>
            <a:r>
              <a:rPr sz="2800" spc="50" dirty="0">
                <a:latin typeface="Cambria Math"/>
                <a:cs typeface="Cambria Math"/>
              </a:rPr>
              <a:t>𝑓(𝑥)</a:t>
            </a:r>
            <a:r>
              <a:rPr sz="2800" spc="18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80" dirty="0">
                <a:latin typeface="Cambria Math"/>
                <a:cs typeface="Cambria Math"/>
              </a:rPr>
              <a:t> </a:t>
            </a:r>
            <a:r>
              <a:rPr sz="2800" spc="125" dirty="0">
                <a:latin typeface="Cambria Math"/>
                <a:cs typeface="Cambria Math"/>
              </a:rPr>
              <a:t>𝑥</a:t>
            </a:r>
            <a:r>
              <a:rPr sz="2800" spc="187" baseline="27777" dirty="0">
                <a:latin typeface="Cambria Math"/>
                <a:cs typeface="Cambria Math"/>
              </a:rPr>
              <a:t>2</a:t>
            </a:r>
            <a:endParaRPr sz="2800" baseline="27777" dirty="0">
              <a:latin typeface="Cambria Math"/>
              <a:cs typeface="Cambria Math"/>
            </a:endParaRPr>
          </a:p>
          <a:p>
            <a:pPr marL="63500">
              <a:spcBef>
                <a:spcPts val="3215"/>
              </a:spcBef>
            </a:pPr>
            <a:r>
              <a:rPr spc="-35" dirty="0">
                <a:latin typeface="Calibri"/>
                <a:cs typeface="Calibri"/>
              </a:rPr>
              <a:t>We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will</a:t>
            </a:r>
            <a:r>
              <a:rPr dirty="0">
                <a:latin typeface="Calibri"/>
                <a:cs typeface="Calibri"/>
              </a:rPr>
              <a:t> find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Integral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using Python:</a:t>
            </a:r>
          </a:p>
          <a:p>
            <a:pPr>
              <a:lnSpc>
                <a:spcPct val="100000"/>
              </a:lnSpc>
            </a:pPr>
            <a:endParaRPr lang="en-US" sz="21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lang="en-US" sz="21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100" dirty="0">
              <a:latin typeface="Cambria Math"/>
              <a:cs typeface="Cambria Math"/>
            </a:endParaRPr>
          </a:p>
          <a:p>
            <a:pPr>
              <a:spcBef>
                <a:spcPts val="10"/>
              </a:spcBef>
            </a:pPr>
            <a:endParaRPr sz="1950" dirty="0">
              <a:latin typeface="Cambria Math"/>
              <a:cs typeface="Cambria Math"/>
            </a:endParaRPr>
          </a:p>
          <a:p>
            <a:pPr marL="184785" marR="17780">
              <a:lnSpc>
                <a:spcPts val="2090"/>
              </a:lnSpc>
            </a:pPr>
            <a:r>
              <a:rPr spc="-5" dirty="0">
                <a:latin typeface="Calibri"/>
                <a:cs typeface="Calibri"/>
              </a:rPr>
              <a:t>This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5" dirty="0">
                <a:latin typeface="Calibri"/>
                <a:cs typeface="Calibri"/>
              </a:rPr>
              <a:t> very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good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approximation</a:t>
            </a:r>
            <a:r>
              <a:rPr dirty="0">
                <a:latin typeface="Calibri"/>
                <a:cs typeface="Calibri"/>
              </a:rPr>
              <a:t> when </a:t>
            </a:r>
            <a:r>
              <a:rPr spc="-39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we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now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the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exact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answer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is </a:t>
            </a:r>
            <a:r>
              <a:rPr dirty="0">
                <a:latin typeface="Calibri"/>
                <a:cs typeface="Calibri"/>
              </a:rPr>
              <a:t>A =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1/3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8FC0F1-4552-46AA-BDC0-69FDC1245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733800"/>
            <a:ext cx="1866900" cy="804414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DE54E7C-C340-4CCA-8752-904CC539BB14}"/>
              </a:ext>
            </a:extLst>
          </p:cNvPr>
          <p:cNvSpPr txBox="1">
            <a:spLocks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Slide Number Placeholder 5">
            <a:extLst>
              <a:ext uri="{FF2B5EF4-FFF2-40B4-BE49-F238E27FC236}">
                <a16:creationId xmlns:a16="http://schemas.microsoft.com/office/drawing/2014/main" id="{F1BAEAA9-A023-40BA-82E5-5F1A1A4B1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18</a:t>
            </a:fld>
            <a:endParaRPr lang="en-US" altLang="en-US"/>
          </a:p>
        </p:txBody>
      </p:sp>
      <p:sp>
        <p:nvSpPr>
          <p:cNvPr id="510978" name="Rectangle 2">
            <a:extLst>
              <a:ext uri="{FF2B5EF4-FFF2-40B4-BE49-F238E27FC236}">
                <a16:creationId xmlns:a16="http://schemas.microsoft.com/office/drawing/2014/main" id="{98EAFFD0-CF67-4110-A9D9-A91B6F948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Error in estimating the integral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0979" name="Object 3">
                <a:extLst>
                  <a:ext uri="{FF2B5EF4-FFF2-40B4-BE49-F238E27FC236}">
                    <a16:creationId xmlns:a16="http://schemas.microsoft.com/office/drawing/2014/main" id="{AAC454C9-E967-4849-87E8-797245282036}"/>
                  </a:ext>
                </a:extLst>
              </p:cNvPr>
              <p:cNvSpPr txBox="1"/>
              <p:nvPr/>
            </p:nvSpPr>
            <p:spPr bwMode="auto">
              <a:xfrm>
                <a:off x="685800" y="1524000"/>
                <a:ext cx="8229600" cy="46466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Assumption</m:t>
                      </m:r>
                      <m:r>
                        <m:rPr>
                          <m:nor/>
                        </m:rPr>
                        <a:rPr lang="en-GB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    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′′(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continuous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on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Equal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intervals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width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GB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sz="240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sz="240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Theorem</m:t>
                      </m:r>
                      <m:r>
                        <m:rPr>
                          <m:nor/>
                        </m:rPr>
                        <a:rPr lang="en-GB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Trapezoid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Method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used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to</m:t>
                      </m:r>
                      <m:r>
                        <m:rPr>
                          <m:nor/>
                        </m:rPr>
                        <a:rPr lang="en-GB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approximate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then</m:t>
                      </m:r>
                    </m:oMath>
                  </m:oMathPara>
                </a14:m>
                <a:br>
                  <a:rPr lang="en-GB" sz="24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sz="1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sSup>
                        <m:sSup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𝐸𝑟𝑟𝑜𝑟</m:t>
                          </m:r>
                        </m:e>
                      </m:d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sSup>
                        <m:sSup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limLow>
                        <m:limLow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∈[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lim>
                      </m:limLow>
                      <m:d>
                        <m:dPr>
                          <m:begChr m:val="|"/>
                          <m:endChr m:val="|"/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′′(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10979" name="Object 3">
                <a:extLst>
                  <a:ext uri="{FF2B5EF4-FFF2-40B4-BE49-F238E27FC236}">
                    <a16:creationId xmlns:a16="http://schemas.microsoft.com/office/drawing/2014/main" id="{AAC454C9-E967-4849-87E8-797245282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1524000"/>
                <a:ext cx="8229600" cy="4646613"/>
              </a:xfrm>
              <a:prstGeom prst="rect">
                <a:avLst/>
              </a:prstGeom>
              <a:blipFill>
                <a:blip r:embed="rId3"/>
                <a:stretch>
                  <a:fillRect l="-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row: Up 1">
            <a:extLst>
              <a:ext uri="{FF2B5EF4-FFF2-40B4-BE49-F238E27FC236}">
                <a16:creationId xmlns:a16="http://schemas.microsoft.com/office/drawing/2014/main" id="{335E4C93-80C3-4C3B-A15A-62F814B8DD31}"/>
              </a:ext>
            </a:extLst>
          </p:cNvPr>
          <p:cNvSpPr/>
          <p:nvPr/>
        </p:nvSpPr>
        <p:spPr bwMode="auto">
          <a:xfrm>
            <a:off x="2895600" y="5638800"/>
            <a:ext cx="228600" cy="609600"/>
          </a:xfrm>
          <a:prstGeom prst="upArrow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9D6D8F-3C2F-4EDE-AE21-3D3224939476}"/>
              </a:ext>
            </a:extLst>
          </p:cNvPr>
          <p:cNvSpPr txBox="1"/>
          <p:nvPr/>
        </p:nvSpPr>
        <p:spPr>
          <a:xfrm>
            <a:off x="3124200" y="6063734"/>
            <a:ext cx="805029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O(h</a:t>
            </a:r>
            <a:r>
              <a:rPr lang="en-US" sz="2000" b="1" baseline="30000" dirty="0"/>
              <a:t>2</a:t>
            </a:r>
            <a:r>
              <a:rPr lang="en-US" sz="2000" b="1" dirty="0"/>
              <a:t>)</a:t>
            </a:r>
            <a:endParaRPr lang="en-GB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Date Placeholder 5">
            <a:extLst>
              <a:ext uri="{FF2B5EF4-FFF2-40B4-BE49-F238E27FC236}">
                <a16:creationId xmlns:a16="http://schemas.microsoft.com/office/drawing/2014/main" id="{C1052B56-0459-4C21-B281-BC92A9CAD93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CISE301_Topic1</a:t>
            </a:r>
          </a:p>
        </p:txBody>
      </p:sp>
      <p:sp>
        <p:nvSpPr>
          <p:cNvPr id="15365" name="Slide Number Placeholder 7">
            <a:extLst>
              <a:ext uri="{FF2B5EF4-FFF2-40B4-BE49-F238E27FC236}">
                <a16:creationId xmlns:a16="http://schemas.microsoft.com/office/drawing/2014/main" id="{D25750BB-010D-4240-903C-F089D1151C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E9587B6-B90A-462F-B14C-9C8D98B255A8}" type="slidenum">
              <a:rPr lang="ar-SA" altLang="en-US"/>
              <a:pPr eaLnBrk="1" hangingPunct="1"/>
              <a:t>19</a:t>
            </a:fld>
            <a:endParaRPr lang="en-US" altLang="en-US"/>
          </a:p>
        </p:txBody>
      </p:sp>
      <p:sp>
        <p:nvSpPr>
          <p:cNvPr id="15366" name="Rectangle 2">
            <a:extLst>
              <a:ext uri="{FF2B5EF4-FFF2-40B4-BE49-F238E27FC236}">
                <a16:creationId xmlns:a16="http://schemas.microsoft.com/office/drawing/2014/main" id="{1A8D0520-FD1E-4535-80CD-BB9F8853B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429000"/>
            <a:ext cx="8305800" cy="2362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7" name="Rectangle 3">
            <a:extLst>
              <a:ext uri="{FF2B5EF4-FFF2-40B4-BE49-F238E27FC236}">
                <a16:creationId xmlns:a16="http://schemas.microsoft.com/office/drawing/2014/main" id="{73C3295C-7A48-49C2-83A5-FDAB346A6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305800" cy="1600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8" name="Rectangle 5">
            <a:extLst>
              <a:ext uri="{FF2B5EF4-FFF2-40B4-BE49-F238E27FC236}">
                <a16:creationId xmlns:a16="http://schemas.microsoft.com/office/drawing/2014/main" id="{84711B46-AED3-48B1-8705-BCB9058DEB2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8305800" cy="29718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900" dirty="0"/>
              <a:t>We say that the estimate is correct to </a:t>
            </a:r>
            <a:r>
              <a:rPr lang="en-US" altLang="en-US" sz="2900" i="1" dirty="0"/>
              <a:t>n</a:t>
            </a:r>
            <a:r>
              <a:rPr lang="en-US" altLang="en-US" sz="2900" dirty="0"/>
              <a:t> decimal digits if:</a:t>
            </a: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900" dirty="0"/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900" dirty="0"/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900" dirty="0"/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900" dirty="0"/>
              <a:t>We say that the estimate is correct to </a:t>
            </a:r>
            <a:r>
              <a:rPr lang="en-US" altLang="en-US" sz="2900" i="1" dirty="0"/>
              <a:t>n</a:t>
            </a:r>
            <a:r>
              <a:rPr lang="en-US" altLang="en-US" sz="2900" dirty="0"/>
              <a:t> decimal digits </a:t>
            </a:r>
            <a:r>
              <a:rPr lang="en-US" altLang="en-US" sz="2900" b="1" dirty="0"/>
              <a:t>rounded</a:t>
            </a:r>
            <a:r>
              <a:rPr lang="en-US" altLang="en-US" sz="2900" dirty="0"/>
              <a:t> if:</a:t>
            </a: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900" dirty="0"/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900" dirty="0"/>
          </a:p>
        </p:txBody>
      </p:sp>
      <p:graphicFrame>
        <p:nvGraphicFramePr>
          <p:cNvPr id="15362" name="Object 6">
            <a:extLst>
              <a:ext uri="{FF2B5EF4-FFF2-40B4-BE49-F238E27FC236}">
                <a16:creationId xmlns:a16="http://schemas.microsoft.com/office/drawing/2014/main" id="{C252264A-F202-4489-B298-D64D96ABDED8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800600" y="2220913"/>
          <a:ext cx="28956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8" name="Equation" r:id="rId4" imgW="977760" imgH="279360" progId="Equation.3">
                  <p:embed/>
                </p:oleObj>
              </mc:Choice>
              <mc:Fallback>
                <p:oleObj name="Equation" r:id="rId4" imgW="977760" imgH="279360" progId="Equation.3">
                  <p:embed/>
                  <p:pic>
                    <p:nvPicPr>
                      <p:cNvPr id="15362" name="Object 6">
                        <a:extLst>
                          <a:ext uri="{FF2B5EF4-FFF2-40B4-BE49-F238E27FC236}">
                            <a16:creationId xmlns:a16="http://schemas.microsoft.com/office/drawing/2014/main" id="{C252264A-F202-4489-B298-D64D96ABDE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220913"/>
                        <a:ext cx="2895600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7">
            <a:extLst>
              <a:ext uri="{FF2B5EF4-FFF2-40B4-BE49-F238E27FC236}">
                <a16:creationId xmlns:a16="http://schemas.microsoft.com/office/drawing/2014/main" id="{5310FE0E-97BF-4F65-8F90-23F74B76F49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876800" y="4392613"/>
          <a:ext cx="3810000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9" name="Equation" r:id="rId6" imgW="1282680" imgH="393480" progId="Equation.3">
                  <p:embed/>
                </p:oleObj>
              </mc:Choice>
              <mc:Fallback>
                <p:oleObj name="Equation" r:id="rId6" imgW="1282680" imgH="393480" progId="Equation.3">
                  <p:embed/>
                  <p:pic>
                    <p:nvPicPr>
                      <p:cNvPr id="15363" name="Object 7">
                        <a:extLst>
                          <a:ext uri="{FF2B5EF4-FFF2-40B4-BE49-F238E27FC236}">
                            <a16:creationId xmlns:a16="http://schemas.microsoft.com/office/drawing/2014/main" id="{5310FE0E-97BF-4F65-8F90-23F74B76F4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392613"/>
                        <a:ext cx="3810000" cy="116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Rectangle 8">
            <a:extLst>
              <a:ext uri="{FF2B5EF4-FFF2-40B4-BE49-F238E27FC236}">
                <a16:creationId xmlns:a16="http://schemas.microsoft.com/office/drawing/2014/main" id="{B640714F-5C19-4825-A9E9-2758C04B8A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>
            <a:extLst>
              <a:ext uri="{FF2B5EF4-FFF2-40B4-BE49-F238E27FC236}">
                <a16:creationId xmlns:a16="http://schemas.microsoft.com/office/drawing/2014/main" id="{95903689-1118-43F7-9645-3F244A9E7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Estimating the Error </a:t>
            </a:r>
            <a:b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 Trapezoid Method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8931" name="Object 3">
                <a:extLst>
                  <a:ext uri="{FF2B5EF4-FFF2-40B4-BE49-F238E27FC236}">
                    <a16:creationId xmlns:a16="http://schemas.microsoft.com/office/drawing/2014/main" id="{8D2419DB-F7CC-4ED4-9770-0F518C22B3A0}"/>
                  </a:ext>
                </a:extLst>
              </p:cNvPr>
              <p:cNvSpPr txBox="1"/>
              <p:nvPr/>
            </p:nvSpPr>
            <p:spPr bwMode="auto">
              <a:xfrm>
                <a:off x="457201" y="1371601"/>
                <a:ext cx="8229600" cy="2209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How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many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equally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spaced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intervals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are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needed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to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compute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trlPr>
                            <a:rPr lang="en-GB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8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p>
                        <m:e>
                          <m:func>
                            <m:funcPr>
                              <m:ctrlPr>
                                <a:rPr lang="en-GB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2800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GB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to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decimal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digit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m:rPr>
                          <m:nor/>
                        </m:rPr>
                        <a:rPr lang="en-GB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8931" name="Object 3">
                <a:extLst>
                  <a:ext uri="{FF2B5EF4-FFF2-40B4-BE49-F238E27FC236}">
                    <a16:creationId xmlns:a16="http://schemas.microsoft.com/office/drawing/2014/main" id="{8D2419DB-F7CC-4ED4-9770-0F518C22B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1" y="1371601"/>
                <a:ext cx="8229600" cy="2209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2FB79-C640-41AB-99FE-AC93C190A6D7}"/>
              </a:ext>
            </a:extLst>
          </p:cNvPr>
          <p:cNvSpPr txBox="1">
            <a:spLocks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5">
            <a:extLst>
              <a:ext uri="{FF2B5EF4-FFF2-40B4-BE49-F238E27FC236}">
                <a16:creationId xmlns:a16="http://schemas.microsoft.com/office/drawing/2014/main" id="{E7BE8789-BAF6-4D4A-9E92-66962A4C2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21</a:t>
            </a:fld>
            <a:endParaRPr lang="en-US" altLang="en-US"/>
          </a:p>
        </p:txBody>
      </p:sp>
      <p:sp>
        <p:nvSpPr>
          <p:cNvPr id="513026" name="Rectangle 2">
            <a:extLst>
              <a:ext uri="{FF2B5EF4-FFF2-40B4-BE49-F238E27FC236}">
                <a16:creationId xmlns:a16="http://schemas.microsoft.com/office/drawing/2014/main" id="{551739C3-91A2-4B75-980A-ADD144E81D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3027" name="Object 3">
                <a:extLst>
                  <a:ext uri="{FF2B5EF4-FFF2-40B4-BE49-F238E27FC236}">
                    <a16:creationId xmlns:a16="http://schemas.microsoft.com/office/drawing/2014/main" id="{59A8CE1A-60AF-478D-B86E-85DAB5AED6E8}"/>
                  </a:ext>
                </a:extLst>
              </p:cNvPr>
              <p:cNvSpPr txBox="1"/>
              <p:nvPr/>
            </p:nvSpPr>
            <p:spPr bwMode="auto">
              <a:xfrm>
                <a:off x="762000" y="1439863"/>
                <a:ext cx="8001000" cy="50371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func>
                            <m:funcPr>
                              <m:ctrlP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𝑓𝑖𝑛𝑑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𝑠𝑜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error</m:t>
                          </m:r>
                        </m:e>
                      </m:d>
                      <m: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br>
                  <a:rPr lang="en-GB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GB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𝐸𝑟𝑟𝑜𝑟</m:t>
                          </m:r>
                        </m:e>
                      </m:d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sSup>
                        <m:sSup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limLow>
                        <m:limLow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lim>
                      </m:limLow>
                      <m:d>
                        <m:dPr>
                          <m:begChr m:val="|"/>
                          <m:endChr m:val="|"/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GB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);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′′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func>
                        <m:func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GB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𝐸𝑟𝑟𝑜𝑟</m:t>
                          </m:r>
                        </m:e>
                      </m:d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sSup>
                        <m:sSup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00437</m:t>
                      </m:r>
                    </m:oMath>
                  </m:oMathPara>
                </a14:m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00437</m:t>
                          </m:r>
                        </m:den>
                      </m:f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719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intervals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13027" name="Object 3">
                <a:extLst>
                  <a:ext uri="{FF2B5EF4-FFF2-40B4-BE49-F238E27FC236}">
                    <a16:creationId xmlns:a16="http://schemas.microsoft.com/office/drawing/2014/main" id="{59A8CE1A-60AF-478D-B86E-85DAB5AED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0" y="1439863"/>
                <a:ext cx="8001000" cy="5037137"/>
              </a:xfrm>
              <a:prstGeom prst="rect">
                <a:avLst/>
              </a:prstGeom>
              <a:blipFill>
                <a:blip r:embed="rId3"/>
                <a:stretch>
                  <a:fillRect l="-2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D1514BE-B5F4-4640-A14B-A45D8C628E58}"/>
              </a:ext>
            </a:extLst>
          </p:cNvPr>
          <p:cNvSpPr txBox="1"/>
          <p:nvPr/>
        </p:nvSpPr>
        <p:spPr>
          <a:xfrm>
            <a:off x="3962400" y="242434"/>
            <a:ext cx="4800600" cy="783193"/>
          </a:xfrm>
          <a:prstGeom prst="wedgeRoundRectCallout">
            <a:avLst>
              <a:gd name="adj1" fmla="val -5414"/>
              <a:gd name="adj2" fmla="val 120877"/>
              <a:gd name="adj3" fmla="val 16667"/>
            </a:avLst>
          </a:prstGeom>
          <a:solidFill>
            <a:srgbClr val="FFF7D5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2000" b="1" dirty="0"/>
              <a:t>estimate is correct to </a:t>
            </a:r>
            <a:r>
              <a:rPr lang="en-US" altLang="en-US" sz="2000" b="1" i="1" dirty="0">
                <a:solidFill>
                  <a:srgbClr val="FF0000"/>
                </a:solidFill>
              </a:rPr>
              <a:t>n</a:t>
            </a:r>
            <a:r>
              <a:rPr lang="en-US" altLang="en-US" sz="2000" b="1" dirty="0">
                <a:solidFill>
                  <a:srgbClr val="FF0000"/>
                </a:solidFill>
              </a:rPr>
              <a:t> decimal </a:t>
            </a:r>
            <a:r>
              <a:rPr lang="en-US" altLang="en-US" sz="2000" b="1" dirty="0"/>
              <a:t>digits rounded </a:t>
            </a:r>
            <a:endParaRPr lang="en-GB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Slide Number Placeholder 5">
            <a:extLst>
              <a:ext uri="{FF2B5EF4-FFF2-40B4-BE49-F238E27FC236}">
                <a16:creationId xmlns:a16="http://schemas.microsoft.com/office/drawing/2014/main" id="{18532020-68B8-4614-9F7E-B7018BBD0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22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2" name="Object 3">
                <a:extLst>
                  <a:ext uri="{FF2B5EF4-FFF2-40B4-BE49-F238E27FC236}">
                    <a16:creationId xmlns:a16="http://schemas.microsoft.com/office/drawing/2014/main" id="{9B76636E-F63D-4E0F-8991-EDDB024F92BD}"/>
                  </a:ext>
                </a:extLst>
              </p:cNvPr>
              <p:cNvSpPr txBox="1"/>
              <p:nvPr/>
            </p:nvSpPr>
            <p:spPr bwMode="auto">
              <a:xfrm>
                <a:off x="838200" y="2708275"/>
                <a:ext cx="7848600" cy="3408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Use</m:t>
                      </m:r>
                      <m:r>
                        <m:rPr>
                          <m:nor/>
                        </m:rPr>
                        <a:rPr lang="en-GB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Trapezoid</m:t>
                      </m:r>
                      <m:r>
                        <m:rPr>
                          <m:nor/>
                        </m:rPr>
                        <a:rPr lang="en-GB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GB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method</m:t>
                      </m:r>
                      <m:r>
                        <m:rPr>
                          <m:nor/>
                        </m:rPr>
                        <a:rPr lang="en-GB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GB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to</m:t>
                      </m:r>
                      <m:r>
                        <m:rPr>
                          <m:nor/>
                        </m:rPr>
                        <a:rPr lang="en-GB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GB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compute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nary>
                        <m:naryPr>
                          <m:ctrlP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𝑇𝑟𝑎𝑝𝑒𝑧𝑜𝑖𝑑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d>
                        <m:dPr>
                          <m:ctrlP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sz="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𝑆𝑝𝑒𝑐𝑖𝑎𝑙𝐶𝑎𝑠𝑒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:⥂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GB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m:rPr>
                          <m:nor/>
                        </m:rPr>
                        <a:rPr lang="en-GB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482" name="Object 3">
                <a:extLst>
                  <a:ext uri="{FF2B5EF4-FFF2-40B4-BE49-F238E27FC236}">
                    <a16:creationId xmlns:a16="http://schemas.microsoft.com/office/drawing/2014/main" id="{9B76636E-F63D-4E0F-8991-EDDB024F9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708275"/>
                <a:ext cx="7848600" cy="3408363"/>
              </a:xfrm>
              <a:prstGeom prst="rect">
                <a:avLst/>
              </a:prstGeom>
              <a:blipFill>
                <a:blip r:embed="rId3"/>
                <a:stretch>
                  <a:fillRect l="-3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99044" name="Group 4">
            <a:extLst>
              <a:ext uri="{FF2B5EF4-FFF2-40B4-BE49-F238E27FC236}">
                <a16:creationId xmlns:a16="http://schemas.microsoft.com/office/drawing/2014/main" id="{F4580686-BC6D-4BFF-B0C6-4D75D79229FC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600200"/>
          <a:ext cx="7467600" cy="1035050"/>
        </p:xfrm>
        <a:graphic>
          <a:graphicData uri="http://schemas.openxmlformats.org/drawingml/2006/table">
            <a:tbl>
              <a:tblPr/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39CF67C4-995E-43C6-9638-D35899B2A3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Slide Number Placeholder 5">
            <a:extLst>
              <a:ext uri="{FF2B5EF4-FFF2-40B4-BE49-F238E27FC236}">
                <a16:creationId xmlns:a16="http://schemas.microsoft.com/office/drawing/2014/main" id="{EE0FD4C8-FC30-45D7-99CF-F7D4EECE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23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6" name="Object 3">
                <a:extLst>
                  <a:ext uri="{FF2B5EF4-FFF2-40B4-BE49-F238E27FC236}">
                    <a16:creationId xmlns:a16="http://schemas.microsoft.com/office/drawing/2014/main" id="{16778EFA-8E72-42EE-BA5E-495C7A0D47A2}"/>
                  </a:ext>
                </a:extLst>
              </p:cNvPr>
              <p:cNvSpPr txBox="1"/>
              <p:nvPr/>
            </p:nvSpPr>
            <p:spPr bwMode="auto">
              <a:xfrm>
                <a:off x="800100" y="2976906"/>
                <a:ext cx="7543800" cy="2895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3.2+3.4+2.8+</m:t>
                          </m:r>
                          <m:f>
                            <m:fPr>
                              <m:ctrlP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2.1+2.7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=5.9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506" name="Object 3">
                <a:extLst>
                  <a:ext uri="{FF2B5EF4-FFF2-40B4-BE49-F238E27FC236}">
                    <a16:creationId xmlns:a16="http://schemas.microsoft.com/office/drawing/2014/main" id="{16778EFA-8E72-42EE-BA5E-495C7A0D4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0100" y="2976906"/>
                <a:ext cx="7543800" cy="2895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7124" name="Group 4">
            <a:extLst>
              <a:ext uri="{FF2B5EF4-FFF2-40B4-BE49-F238E27FC236}">
                <a16:creationId xmlns:a16="http://schemas.microsoft.com/office/drawing/2014/main" id="{9D259358-8EEA-40E7-9799-A21458D7CF8C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752600"/>
          <a:ext cx="7467600" cy="914400"/>
        </p:xfrm>
        <a:graphic>
          <a:graphicData uri="http://schemas.openxmlformats.org/drawingml/2006/table">
            <a:tbl>
              <a:tblPr/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396B87A3-666D-467A-B8EC-4E8F7FD95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Slide Number Placeholder 5">
            <a:extLst>
              <a:ext uri="{FF2B5EF4-FFF2-40B4-BE49-F238E27FC236}">
                <a16:creationId xmlns:a16="http://schemas.microsoft.com/office/drawing/2014/main" id="{0EA9DD49-4185-4F9D-8C67-BE9239245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24</a:t>
            </a:fld>
            <a:endParaRPr lang="en-US" altLang="en-US"/>
          </a:p>
        </p:txBody>
      </p:sp>
      <p:sp>
        <p:nvSpPr>
          <p:cNvPr id="523266" name="Rectangle 2">
            <a:extLst>
              <a:ext uri="{FF2B5EF4-FFF2-40B4-BE49-F238E27FC236}">
                <a16:creationId xmlns:a16="http://schemas.microsoft.com/office/drawing/2014/main" id="{EE2B84CF-09DF-447B-AE3C-EF6034339E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0961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Recursive Trapezoid Method</a:t>
            </a:r>
          </a:p>
        </p:txBody>
      </p:sp>
      <p:sp>
        <p:nvSpPr>
          <p:cNvPr id="23559" name="Text Box 3">
            <a:extLst>
              <a:ext uri="{FF2B5EF4-FFF2-40B4-BE49-F238E27FC236}">
                <a16:creationId xmlns:a16="http://schemas.microsoft.com/office/drawing/2014/main" id="{739515D2-2E59-4C23-80F5-003291E6C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19233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f(x)</a:t>
            </a:r>
          </a:p>
        </p:txBody>
      </p:sp>
      <p:sp>
        <p:nvSpPr>
          <p:cNvPr id="23560" name="Line 4">
            <a:extLst>
              <a:ext uri="{FF2B5EF4-FFF2-40B4-BE49-F238E27FC236}">
                <a16:creationId xmlns:a16="http://schemas.microsoft.com/office/drawing/2014/main" id="{4804C82B-94AF-46D5-BBB3-E477786835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2573337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1" name="Line 5">
            <a:extLst>
              <a:ext uri="{FF2B5EF4-FFF2-40B4-BE49-F238E27FC236}">
                <a16:creationId xmlns:a16="http://schemas.microsoft.com/office/drawing/2014/main" id="{BC3D9F96-DA2F-49CC-B371-8D91F2F9895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545137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23554" name="Object 6">
            <a:extLst>
              <a:ext uri="{FF2B5EF4-FFF2-40B4-BE49-F238E27FC236}">
                <a16:creationId xmlns:a16="http://schemas.microsoft.com/office/drawing/2014/main" id="{4ACE4D86-9DE5-4F16-A2C2-C2F6D2B1ED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538562"/>
              </p:ext>
            </p:extLst>
          </p:nvPr>
        </p:nvGraphicFramePr>
        <p:xfrm>
          <a:off x="6019800" y="5722937"/>
          <a:ext cx="26670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8" name="Equation" r:id="rId4" imgW="1638000" imgH="203040" progId="Equation.3">
                  <p:embed/>
                </p:oleObj>
              </mc:Choice>
              <mc:Fallback>
                <p:oleObj name="Equation" r:id="rId4" imgW="1638000" imgH="203040" progId="Equation.3">
                  <p:embed/>
                  <p:pic>
                    <p:nvPicPr>
                      <p:cNvPr id="23554" name="Object 6">
                        <a:extLst>
                          <a:ext uri="{FF2B5EF4-FFF2-40B4-BE49-F238E27FC236}">
                            <a16:creationId xmlns:a16="http://schemas.microsoft.com/office/drawing/2014/main" id="{4ACE4D86-9DE5-4F16-A2C2-C2F6D2B1ED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722937"/>
                        <a:ext cx="2667000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Freeform 7">
            <a:extLst>
              <a:ext uri="{FF2B5EF4-FFF2-40B4-BE49-F238E27FC236}">
                <a16:creationId xmlns:a16="http://schemas.microsoft.com/office/drawing/2014/main" id="{CA355118-54A2-45A3-8350-81268CCC27A3}"/>
              </a:ext>
            </a:extLst>
          </p:cNvPr>
          <p:cNvSpPr>
            <a:spLocks/>
          </p:cNvSpPr>
          <p:nvPr/>
        </p:nvSpPr>
        <p:spPr bwMode="auto">
          <a:xfrm>
            <a:off x="5791200" y="3094037"/>
            <a:ext cx="3276600" cy="1447800"/>
          </a:xfrm>
          <a:custGeom>
            <a:avLst/>
            <a:gdLst>
              <a:gd name="T0" fmla="*/ 0 w 2064"/>
              <a:gd name="T1" fmla="*/ 2147483647 h 912"/>
              <a:gd name="T2" fmla="*/ 2147483647 w 2064"/>
              <a:gd name="T3" fmla="*/ 2147483647 h 912"/>
              <a:gd name="T4" fmla="*/ 2147483647 w 2064"/>
              <a:gd name="T5" fmla="*/ 2147483647 h 912"/>
              <a:gd name="T6" fmla="*/ 2147483647 w 2064"/>
              <a:gd name="T7" fmla="*/ 2147483647 h 912"/>
              <a:gd name="T8" fmla="*/ 2147483647 w 2064"/>
              <a:gd name="T9" fmla="*/ 2147483647 h 912"/>
              <a:gd name="T10" fmla="*/ 2147483647 w 2064"/>
              <a:gd name="T11" fmla="*/ 2147483647 h 9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064"/>
              <a:gd name="T19" fmla="*/ 0 h 912"/>
              <a:gd name="T20" fmla="*/ 2064 w 2064"/>
              <a:gd name="T21" fmla="*/ 912 h 91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064" h="912">
                <a:moveTo>
                  <a:pt x="0" y="488"/>
                </a:moveTo>
                <a:cubicBezTo>
                  <a:pt x="116" y="680"/>
                  <a:pt x="232" y="872"/>
                  <a:pt x="384" y="824"/>
                </a:cubicBezTo>
                <a:cubicBezTo>
                  <a:pt x="536" y="776"/>
                  <a:pt x="744" y="320"/>
                  <a:pt x="912" y="200"/>
                </a:cubicBezTo>
                <a:cubicBezTo>
                  <a:pt x="1080" y="80"/>
                  <a:pt x="1240" y="0"/>
                  <a:pt x="1392" y="104"/>
                </a:cubicBezTo>
                <a:cubicBezTo>
                  <a:pt x="1544" y="208"/>
                  <a:pt x="1712" y="736"/>
                  <a:pt x="1824" y="824"/>
                </a:cubicBezTo>
                <a:cubicBezTo>
                  <a:pt x="1936" y="912"/>
                  <a:pt x="2024" y="664"/>
                  <a:pt x="2064" y="63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3" name="Line 8">
            <a:extLst>
              <a:ext uri="{FF2B5EF4-FFF2-40B4-BE49-F238E27FC236}">
                <a16:creationId xmlns:a16="http://schemas.microsoft.com/office/drawing/2014/main" id="{61F61562-A548-4E55-BE49-273525A1FF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4325937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4" name="Line 9">
            <a:extLst>
              <a:ext uri="{FF2B5EF4-FFF2-40B4-BE49-F238E27FC236}">
                <a16:creationId xmlns:a16="http://schemas.microsoft.com/office/drawing/2014/main" id="{DA33278A-2899-49A9-9EB3-BEAE7D1E0D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4021137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5" name="Line 10">
            <a:extLst>
              <a:ext uri="{FF2B5EF4-FFF2-40B4-BE49-F238E27FC236}">
                <a16:creationId xmlns:a16="http://schemas.microsoft.com/office/drawing/2014/main" id="{44B457F7-B347-4749-954F-2955C0564D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3563937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6" name="Rectangle 11">
            <a:extLst>
              <a:ext uri="{FF2B5EF4-FFF2-40B4-BE49-F238E27FC236}">
                <a16:creationId xmlns:a16="http://schemas.microsoft.com/office/drawing/2014/main" id="{61828CF8-B2B5-4CB7-A24E-461044EE7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563937"/>
            <a:ext cx="1143000" cy="1981200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7" name="Rectangle 12">
            <a:extLst>
              <a:ext uri="{FF2B5EF4-FFF2-40B4-BE49-F238E27FC236}">
                <a16:creationId xmlns:a16="http://schemas.microsoft.com/office/drawing/2014/main" id="{3E624F2A-536F-4AF9-BD02-C67DDD6FD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325937"/>
            <a:ext cx="990600" cy="1219200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8" name="AutoShape 13">
            <a:extLst>
              <a:ext uri="{FF2B5EF4-FFF2-40B4-BE49-F238E27FC236}">
                <a16:creationId xmlns:a16="http://schemas.microsoft.com/office/drawing/2014/main" id="{4CD9B54F-3089-45D2-AA20-E7AB9C8C91C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096000" y="3563937"/>
            <a:ext cx="990600" cy="762000"/>
          </a:xfrm>
          <a:prstGeom prst="rtTriangle">
            <a:avLst/>
          </a:prstGeom>
          <a:solidFill>
            <a:schemeClr val="accent1">
              <a:alpha val="3019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5" name="Object 14">
                <a:extLst>
                  <a:ext uri="{FF2B5EF4-FFF2-40B4-BE49-F238E27FC236}">
                    <a16:creationId xmlns:a16="http://schemas.microsoft.com/office/drawing/2014/main" id="{DCC0334F-29D2-4408-9749-A81BFC3BD0C4}"/>
                  </a:ext>
                </a:extLst>
              </p:cNvPr>
              <p:cNvSpPr txBox="1"/>
              <p:nvPr/>
            </p:nvSpPr>
            <p:spPr bwMode="auto">
              <a:xfrm>
                <a:off x="565150" y="1974850"/>
                <a:ext cx="4738688" cy="3813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Estimate</m:t>
                      </m:r>
                      <m:r>
                        <m:rPr>
                          <m:nor/>
                        </m:rPr>
                        <a:rPr lang="en-GB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GB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based</m:t>
                      </m:r>
                      <m:r>
                        <m:rPr>
                          <m:nor/>
                        </m:rPr>
                        <a:rPr lang="en-GB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GB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on</m:t>
                      </m:r>
                      <m:r>
                        <m:rPr>
                          <m:nor/>
                        </m:rPr>
                        <a:rPr lang="en-GB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GB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2  </m:t>
                      </m:r>
                      <m:r>
                        <m:rPr>
                          <m:nor/>
                        </m:rPr>
                        <a:rPr lang="en-GB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intervals</m:t>
                      </m:r>
                      <m:r>
                        <m:rPr>
                          <m:nor/>
                        </m:rPr>
                        <a:rPr lang="en-GB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br>
                  <a:rPr lang="en-GB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GB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GB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GB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GB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GB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br>
                  <a:rPr lang="en-GB" dirty="0">
                    <a:solidFill>
                      <a:srgbClr val="000000"/>
                    </a:solidFill>
                  </a:rPr>
                </a:br>
                <a:endParaRPr lang="en-GB" dirty="0"/>
              </a:p>
            </p:txBody>
          </p:sp>
        </mc:Choice>
        <mc:Fallback xmlns="">
          <p:sp>
            <p:nvSpPr>
              <p:cNvPr id="23555" name="Object 14">
                <a:extLst>
                  <a:ext uri="{FF2B5EF4-FFF2-40B4-BE49-F238E27FC236}">
                    <a16:creationId xmlns:a16="http://schemas.microsoft.com/office/drawing/2014/main" id="{DCC0334F-29D2-4408-9749-A81BFC3BD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150" y="1974850"/>
                <a:ext cx="4738688" cy="38131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69" name="Text Box 15">
            <a:extLst>
              <a:ext uri="{FF2B5EF4-FFF2-40B4-BE49-F238E27FC236}">
                <a16:creationId xmlns:a16="http://schemas.microsoft.com/office/drawing/2014/main" id="{62CF1AA3-A733-4610-B6F0-31B5A88D0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4295" y="5899943"/>
            <a:ext cx="77724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</a:rPr>
              <a:t>Based on previous estimate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dirty="0"/>
              <a:t>                                </a:t>
            </a:r>
            <a:r>
              <a:rPr lang="en-US" altLang="en-US" dirty="0">
                <a:solidFill>
                  <a:schemeClr val="folHlink"/>
                </a:solidFill>
              </a:rPr>
              <a:t>Based on new point </a:t>
            </a:r>
          </a:p>
        </p:txBody>
      </p:sp>
      <p:sp>
        <p:nvSpPr>
          <p:cNvPr id="23570" name="Line 16">
            <a:extLst>
              <a:ext uri="{FF2B5EF4-FFF2-40B4-BE49-F238E27FC236}">
                <a16:creationId xmlns:a16="http://schemas.microsoft.com/office/drawing/2014/main" id="{C4AA4240-BE82-4DC5-A1B7-0C876016AD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9800" y="5443226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1" name="Line 17">
            <a:extLst>
              <a:ext uri="{FF2B5EF4-FFF2-40B4-BE49-F238E27FC236}">
                <a16:creationId xmlns:a16="http://schemas.microsoft.com/office/drawing/2014/main" id="{84DC69CC-4629-4750-8F24-75324AE9BB5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78186" y="5545931"/>
            <a:ext cx="1371600" cy="8382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A0C607-D19E-489F-A82D-ED1AC1365F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0386" y="1211937"/>
            <a:ext cx="4076309" cy="828000"/>
          </a:xfrm>
          <a:prstGeom prst="rect">
            <a:avLst/>
          </a:prstGeom>
          <a:ln w="19050"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C13297-E088-4738-B149-43EBE1D1B75C}"/>
              </a:ext>
            </a:extLst>
          </p:cNvPr>
          <p:cNvSpPr txBox="1"/>
          <p:nvPr/>
        </p:nvSpPr>
        <p:spPr>
          <a:xfrm>
            <a:off x="8461558" y="568908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=b</a:t>
            </a:r>
            <a:endParaRPr lang="en-GB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9" grpId="0"/>
      <p:bldP spid="23570" grpId="0" animBg="1"/>
      <p:bldP spid="2357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Slide Number Placeholder 5">
            <a:extLst>
              <a:ext uri="{FF2B5EF4-FFF2-40B4-BE49-F238E27FC236}">
                <a16:creationId xmlns:a16="http://schemas.microsoft.com/office/drawing/2014/main" id="{06948603-1BBA-4DE4-A41A-E784EFAF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25</a:t>
            </a:fld>
            <a:endParaRPr lang="en-US" altLang="en-US"/>
          </a:p>
        </p:txBody>
      </p:sp>
      <p:sp>
        <p:nvSpPr>
          <p:cNvPr id="24583" name="Text Box 3">
            <a:extLst>
              <a:ext uri="{FF2B5EF4-FFF2-40B4-BE49-F238E27FC236}">
                <a16:creationId xmlns:a16="http://schemas.microsoft.com/office/drawing/2014/main" id="{EB81A6C1-3404-47E4-989B-592DB7D11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2147888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Arial" panose="020B0604020202020204" pitchFamily="34" charset="0"/>
              </a:rPr>
              <a:t>f(x)</a:t>
            </a:r>
          </a:p>
        </p:txBody>
      </p:sp>
      <p:sp>
        <p:nvSpPr>
          <p:cNvPr id="24584" name="Line 4">
            <a:extLst>
              <a:ext uri="{FF2B5EF4-FFF2-40B4-BE49-F238E27FC236}">
                <a16:creationId xmlns:a16="http://schemas.microsoft.com/office/drawing/2014/main" id="{F6171DE9-B452-4F5E-AFEC-8814E17649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22098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85" name="Line 5">
            <a:extLst>
              <a:ext uri="{FF2B5EF4-FFF2-40B4-BE49-F238E27FC236}">
                <a16:creationId xmlns:a16="http://schemas.microsoft.com/office/drawing/2014/main" id="{63CEFB9F-53A2-4B74-999D-41E27B2E9F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181600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86" name="Freeform 6">
            <a:extLst>
              <a:ext uri="{FF2B5EF4-FFF2-40B4-BE49-F238E27FC236}">
                <a16:creationId xmlns:a16="http://schemas.microsoft.com/office/drawing/2014/main" id="{8567B869-5D8E-4745-B8D3-5E3C3EC261AD}"/>
              </a:ext>
            </a:extLst>
          </p:cNvPr>
          <p:cNvSpPr>
            <a:spLocks/>
          </p:cNvSpPr>
          <p:nvPr/>
        </p:nvSpPr>
        <p:spPr bwMode="auto">
          <a:xfrm>
            <a:off x="5791200" y="2730500"/>
            <a:ext cx="3276600" cy="1447800"/>
          </a:xfrm>
          <a:custGeom>
            <a:avLst/>
            <a:gdLst>
              <a:gd name="T0" fmla="*/ 0 w 2064"/>
              <a:gd name="T1" fmla="*/ 2147483647 h 912"/>
              <a:gd name="T2" fmla="*/ 2147483647 w 2064"/>
              <a:gd name="T3" fmla="*/ 2147483647 h 912"/>
              <a:gd name="T4" fmla="*/ 2147483647 w 2064"/>
              <a:gd name="T5" fmla="*/ 2147483647 h 912"/>
              <a:gd name="T6" fmla="*/ 2147483647 w 2064"/>
              <a:gd name="T7" fmla="*/ 2147483647 h 912"/>
              <a:gd name="T8" fmla="*/ 2147483647 w 2064"/>
              <a:gd name="T9" fmla="*/ 2147483647 h 912"/>
              <a:gd name="T10" fmla="*/ 2147483647 w 2064"/>
              <a:gd name="T11" fmla="*/ 2147483647 h 9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064"/>
              <a:gd name="T19" fmla="*/ 0 h 912"/>
              <a:gd name="T20" fmla="*/ 2064 w 2064"/>
              <a:gd name="T21" fmla="*/ 912 h 91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064" h="912">
                <a:moveTo>
                  <a:pt x="0" y="488"/>
                </a:moveTo>
                <a:cubicBezTo>
                  <a:pt x="116" y="680"/>
                  <a:pt x="232" y="872"/>
                  <a:pt x="384" y="824"/>
                </a:cubicBezTo>
                <a:cubicBezTo>
                  <a:pt x="536" y="776"/>
                  <a:pt x="744" y="320"/>
                  <a:pt x="912" y="200"/>
                </a:cubicBezTo>
                <a:cubicBezTo>
                  <a:pt x="1080" y="80"/>
                  <a:pt x="1240" y="0"/>
                  <a:pt x="1392" y="104"/>
                </a:cubicBezTo>
                <a:cubicBezTo>
                  <a:pt x="1544" y="208"/>
                  <a:pt x="1712" y="736"/>
                  <a:pt x="1824" y="824"/>
                </a:cubicBezTo>
                <a:cubicBezTo>
                  <a:pt x="1936" y="912"/>
                  <a:pt x="2024" y="664"/>
                  <a:pt x="2064" y="63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87" name="Line 7">
            <a:extLst>
              <a:ext uri="{FF2B5EF4-FFF2-40B4-BE49-F238E27FC236}">
                <a16:creationId xmlns:a16="http://schemas.microsoft.com/office/drawing/2014/main" id="{C7D0D666-DC70-4458-9D32-A7DC6DA4EA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3962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88" name="Line 8">
            <a:extLst>
              <a:ext uri="{FF2B5EF4-FFF2-40B4-BE49-F238E27FC236}">
                <a16:creationId xmlns:a16="http://schemas.microsoft.com/office/drawing/2014/main" id="{DFEF9BE0-01E4-4A7F-9AA9-AAB8503BEB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32004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89" name="Line 9">
            <a:extLst>
              <a:ext uri="{FF2B5EF4-FFF2-40B4-BE49-F238E27FC236}">
                <a16:creationId xmlns:a16="http://schemas.microsoft.com/office/drawing/2014/main" id="{5953C39F-F426-442B-9784-FD9801D4BC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200400"/>
            <a:ext cx="5334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90" name="Rectangle 10">
            <a:extLst>
              <a:ext uri="{FF2B5EF4-FFF2-40B4-BE49-F238E27FC236}">
                <a16:creationId xmlns:a16="http://schemas.microsoft.com/office/drawing/2014/main" id="{60EF64B8-6AF7-4084-BBE5-7EF035798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200400"/>
            <a:ext cx="609600" cy="1981200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1" name="Rectangle 11">
            <a:extLst>
              <a:ext uri="{FF2B5EF4-FFF2-40B4-BE49-F238E27FC236}">
                <a16:creationId xmlns:a16="http://schemas.microsoft.com/office/drawing/2014/main" id="{B04E51D2-7B80-45D8-8D3C-F23DE206B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962400"/>
            <a:ext cx="457200" cy="1219200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2" name="AutoShape 12">
            <a:extLst>
              <a:ext uri="{FF2B5EF4-FFF2-40B4-BE49-F238E27FC236}">
                <a16:creationId xmlns:a16="http://schemas.microsoft.com/office/drawing/2014/main" id="{3CE3455F-75DF-43C6-AF92-731BF3F720F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53200" y="3200400"/>
            <a:ext cx="533400" cy="762000"/>
          </a:xfrm>
          <a:prstGeom prst="rtTriangle">
            <a:avLst/>
          </a:prstGeom>
          <a:solidFill>
            <a:schemeClr val="accent1">
              <a:alpha val="3019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8" name="Object 13">
                <a:extLst>
                  <a:ext uri="{FF2B5EF4-FFF2-40B4-BE49-F238E27FC236}">
                    <a16:creationId xmlns:a16="http://schemas.microsoft.com/office/drawing/2014/main" id="{37B2EA45-2AC7-476B-9913-774C8C39B6BE}"/>
                  </a:ext>
                </a:extLst>
              </p:cNvPr>
              <p:cNvSpPr txBox="1"/>
              <p:nvPr/>
            </p:nvSpPr>
            <p:spPr bwMode="auto">
              <a:xfrm>
                <a:off x="228600" y="2027238"/>
                <a:ext cx="5119688" cy="33829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7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sz="17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7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GB" sz="17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7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d>
                        <m:dPr>
                          <m:ctrlP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1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"/>
                          <m:ctrlP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"/>
                          <m:endChr m:val="]"/>
                          <m:ctrlP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GB" sz="1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GB" sz="1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GB" sz="1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GB" sz="1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1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17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GB" sz="17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sz="1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sz="1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GB" sz="1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br>
                  <a:rPr lang="en-GB" dirty="0">
                    <a:solidFill>
                      <a:srgbClr val="000000"/>
                    </a:solidFill>
                  </a:rPr>
                </a:br>
                <a:endParaRPr lang="en-GB" dirty="0"/>
              </a:p>
            </p:txBody>
          </p:sp>
        </mc:Choice>
        <mc:Fallback xmlns="">
          <p:sp>
            <p:nvSpPr>
              <p:cNvPr id="24578" name="Object 13">
                <a:extLst>
                  <a:ext uri="{FF2B5EF4-FFF2-40B4-BE49-F238E27FC236}">
                    <a16:creationId xmlns:a16="http://schemas.microsoft.com/office/drawing/2014/main" id="{37B2EA45-2AC7-476B-9913-774C8C39B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2027238"/>
                <a:ext cx="5119688" cy="33829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93" name="Rectangle 14">
            <a:extLst>
              <a:ext uri="{FF2B5EF4-FFF2-40B4-BE49-F238E27FC236}">
                <a16:creationId xmlns:a16="http://schemas.microsoft.com/office/drawing/2014/main" id="{FCA4FB28-4B23-44E4-BE9D-1FA5F866A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962400"/>
            <a:ext cx="533400" cy="1219200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4" name="Line 15">
            <a:extLst>
              <a:ext uri="{FF2B5EF4-FFF2-40B4-BE49-F238E27FC236}">
                <a16:creationId xmlns:a16="http://schemas.microsoft.com/office/drawing/2014/main" id="{F25F16C7-DD75-4382-9F5C-EEEAA8348A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962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95" name="Line 16">
            <a:extLst>
              <a:ext uri="{FF2B5EF4-FFF2-40B4-BE49-F238E27FC236}">
                <a16:creationId xmlns:a16="http://schemas.microsoft.com/office/drawing/2014/main" id="{C6FC26C0-534C-43A6-8A51-8D417EC9E0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9624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96" name="AutoShape 17">
            <a:extLst>
              <a:ext uri="{FF2B5EF4-FFF2-40B4-BE49-F238E27FC236}">
                <a16:creationId xmlns:a16="http://schemas.microsoft.com/office/drawing/2014/main" id="{092706BE-AA40-4E49-BF15-ECF7CA18336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86600" y="2819400"/>
            <a:ext cx="609600" cy="381000"/>
          </a:xfrm>
          <a:prstGeom prst="rtTriangle">
            <a:avLst/>
          </a:prstGeom>
          <a:solidFill>
            <a:schemeClr val="accent1">
              <a:alpha val="3019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7" name="Line 18">
            <a:extLst>
              <a:ext uri="{FF2B5EF4-FFF2-40B4-BE49-F238E27FC236}">
                <a16:creationId xmlns:a16="http://schemas.microsoft.com/office/drawing/2014/main" id="{BF0F05C4-9705-4A09-BA4A-FBF4577E1B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2819400"/>
            <a:ext cx="6096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98" name="Rectangle 19">
            <a:extLst>
              <a:ext uri="{FF2B5EF4-FFF2-40B4-BE49-F238E27FC236}">
                <a16:creationId xmlns:a16="http://schemas.microsoft.com/office/drawing/2014/main" id="{735F43C2-9131-419B-8864-17BAE410D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276600"/>
            <a:ext cx="609600" cy="1905000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9" name="AutoShape 20">
            <a:extLst>
              <a:ext uri="{FF2B5EF4-FFF2-40B4-BE49-F238E27FC236}">
                <a16:creationId xmlns:a16="http://schemas.microsoft.com/office/drawing/2014/main" id="{7BDBA82D-4EF5-4D68-AAC9-83EFBA540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819400"/>
            <a:ext cx="533400" cy="457200"/>
          </a:xfrm>
          <a:prstGeom prst="rtTriangle">
            <a:avLst/>
          </a:prstGeom>
          <a:solidFill>
            <a:schemeClr val="accent1">
              <a:alpha val="3019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600" name="Line 21">
            <a:extLst>
              <a:ext uri="{FF2B5EF4-FFF2-40B4-BE49-F238E27FC236}">
                <a16:creationId xmlns:a16="http://schemas.microsoft.com/office/drawing/2014/main" id="{7CF8A776-A10B-417D-8F1E-2983346B0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81940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01" name="Line 22">
            <a:extLst>
              <a:ext uri="{FF2B5EF4-FFF2-40B4-BE49-F238E27FC236}">
                <a16:creationId xmlns:a16="http://schemas.microsoft.com/office/drawing/2014/main" id="{72B557B4-4D72-42FE-A81B-31BC80830B2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8194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02" name="Line 23">
            <a:extLst>
              <a:ext uri="{FF2B5EF4-FFF2-40B4-BE49-F238E27FC236}">
                <a16:creationId xmlns:a16="http://schemas.microsoft.com/office/drawing/2014/main" id="{50B601A4-1130-464A-A875-FB26803F49F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3276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24579" name="Object 24">
            <a:extLst>
              <a:ext uri="{FF2B5EF4-FFF2-40B4-BE49-F238E27FC236}">
                <a16:creationId xmlns:a16="http://schemas.microsoft.com/office/drawing/2014/main" id="{0DCB14B1-AF38-486E-B473-CF9F6E046A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7888" y="5359400"/>
          <a:ext cx="2792412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1" name="Equation" r:id="rId5" imgW="1714320" imgH="203040" progId="Equation.3">
                  <p:embed/>
                </p:oleObj>
              </mc:Choice>
              <mc:Fallback>
                <p:oleObj name="Equation" r:id="rId5" imgW="1714320" imgH="203040" progId="Equation.3">
                  <p:embed/>
                  <p:pic>
                    <p:nvPicPr>
                      <p:cNvPr id="24579" name="Object 24">
                        <a:extLst>
                          <a:ext uri="{FF2B5EF4-FFF2-40B4-BE49-F238E27FC236}">
                            <a16:creationId xmlns:a16="http://schemas.microsoft.com/office/drawing/2014/main" id="{0DCB14B1-AF38-486E-B473-CF9F6E046A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7888" y="5359400"/>
                        <a:ext cx="2792412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3" name="Line 25">
            <a:extLst>
              <a:ext uri="{FF2B5EF4-FFF2-40B4-BE49-F238E27FC236}">
                <a16:creationId xmlns:a16="http://schemas.microsoft.com/office/drawing/2014/main" id="{E1CF9393-B601-4716-8855-505D21ACE5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4572000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04" name="Line 26">
            <a:extLst>
              <a:ext uri="{FF2B5EF4-FFF2-40B4-BE49-F238E27FC236}">
                <a16:creationId xmlns:a16="http://schemas.microsoft.com/office/drawing/2014/main" id="{26431BDA-55F4-40D5-BD9D-162CB3F8D60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86202" y="4769412"/>
            <a:ext cx="548323" cy="773217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05" name="Text Box 27">
            <a:extLst>
              <a:ext uri="{FF2B5EF4-FFF2-40B4-BE49-F238E27FC236}">
                <a16:creationId xmlns:a16="http://schemas.microsoft.com/office/drawing/2014/main" id="{DF40927A-4449-4E02-8DB7-E31EA2F6F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526" y="5161630"/>
            <a:ext cx="77724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</a:rPr>
              <a:t>Based on previous estimate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dirty="0"/>
              <a:t>                                </a:t>
            </a:r>
            <a:r>
              <a:rPr lang="en-US" altLang="en-US" dirty="0">
                <a:solidFill>
                  <a:schemeClr val="folHlink"/>
                </a:solidFill>
              </a:rPr>
              <a:t>Based on new points </a:t>
            </a:r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F589ADB1-6DF4-4DB1-B7CC-08C4512CB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8229600" cy="709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kern="0">
                <a:effectLst>
                  <a:outerShdw blurRad="38100" dist="38100" dir="2700000" algn="tl">
                    <a:srgbClr val="C0C0C0"/>
                  </a:outerShdw>
                </a:effectLst>
              </a:rPr>
              <a:t>Recursive Trapezoid Method</a:t>
            </a:r>
            <a:endParaRPr lang="en-US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2AF9C95-CB05-482F-8393-B0C744D967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1916" y="1146510"/>
            <a:ext cx="4076309" cy="828000"/>
          </a:xfrm>
          <a:prstGeom prst="rect">
            <a:avLst/>
          </a:prstGeom>
          <a:ln w="19050"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03" grpId="0" animBg="1"/>
      <p:bldP spid="24604" grpId="0" animBg="1"/>
      <p:bldP spid="2460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Slide Number Placeholder 5">
            <a:extLst>
              <a:ext uri="{FF2B5EF4-FFF2-40B4-BE49-F238E27FC236}">
                <a16:creationId xmlns:a16="http://schemas.microsoft.com/office/drawing/2014/main" id="{ABA864BC-718C-4C9A-BEAD-4FED1345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26</a:t>
            </a:fld>
            <a:endParaRPr lang="en-US" altLang="en-US"/>
          </a:p>
        </p:txBody>
      </p:sp>
      <p:sp>
        <p:nvSpPr>
          <p:cNvPr id="527362" name="Rectangle 2">
            <a:extLst>
              <a:ext uri="{FF2B5EF4-FFF2-40B4-BE49-F238E27FC236}">
                <a16:creationId xmlns:a16="http://schemas.microsoft.com/office/drawing/2014/main" id="{0462C7FB-743D-4DEB-9D7C-0FD2BCF7C9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Recursive Trapezoid Method</a:t>
            </a:r>
            <a:b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Formulas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2" name="Object 3">
                <a:extLst>
                  <a:ext uri="{FF2B5EF4-FFF2-40B4-BE49-F238E27FC236}">
                    <a16:creationId xmlns:a16="http://schemas.microsoft.com/office/drawing/2014/main" id="{C5F4B7C3-3310-4C07-911C-A3AAF46EE890}"/>
                  </a:ext>
                </a:extLst>
              </p:cNvPr>
              <p:cNvSpPr txBox="1"/>
              <p:nvPr/>
            </p:nvSpPr>
            <p:spPr bwMode="auto">
              <a:xfrm>
                <a:off x="609600" y="1447800"/>
                <a:ext cx="6362700" cy="3527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br>
                  <a:rPr lang="en-GB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GB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sup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+(</m:t>
                                  </m:r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602" name="Object 3">
                <a:extLst>
                  <a:ext uri="{FF2B5EF4-FFF2-40B4-BE49-F238E27FC236}">
                    <a16:creationId xmlns:a16="http://schemas.microsoft.com/office/drawing/2014/main" id="{C5F4B7C3-3310-4C07-911C-A3AAF46EE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1447800"/>
                <a:ext cx="6362700" cy="35274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Slide Number Placeholder 5">
            <a:extLst>
              <a:ext uri="{FF2B5EF4-FFF2-40B4-BE49-F238E27FC236}">
                <a16:creationId xmlns:a16="http://schemas.microsoft.com/office/drawing/2014/main" id="{6667CBB8-EB7D-4FBD-887F-DE94E352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27</a:t>
            </a:fld>
            <a:endParaRPr lang="en-US" altLang="en-US"/>
          </a:p>
        </p:txBody>
      </p:sp>
      <p:sp>
        <p:nvSpPr>
          <p:cNvPr id="529410" name="Rectangle 2">
            <a:extLst>
              <a:ext uri="{FF2B5EF4-FFF2-40B4-BE49-F238E27FC236}">
                <a16:creationId xmlns:a16="http://schemas.microsoft.com/office/drawing/2014/main" id="{5014ED10-92B8-4BD2-AF56-E07B716CF8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Recursive Trapezoid Method</a:t>
            </a:r>
          </a:p>
        </p:txBody>
      </p:sp>
      <p:graphicFrame>
        <p:nvGraphicFramePr>
          <p:cNvPr id="26626" name="Object 3">
            <a:extLst>
              <a:ext uri="{FF2B5EF4-FFF2-40B4-BE49-F238E27FC236}">
                <a16:creationId xmlns:a16="http://schemas.microsoft.com/office/drawing/2014/main" id="{1248CA4C-8928-42E7-8A5B-0E68693185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1752600"/>
          <a:ext cx="6477000" cy="454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1" name="Equation" r:id="rId4" imgW="3695400" imgH="2590560" progId="Equation.3">
                  <p:embed/>
                </p:oleObj>
              </mc:Choice>
              <mc:Fallback>
                <p:oleObj name="Equation" r:id="rId4" imgW="3695400" imgH="2590560" progId="Equation.3">
                  <p:embed/>
                  <p:pic>
                    <p:nvPicPr>
                      <p:cNvPr id="26626" name="Object 3">
                        <a:extLst>
                          <a:ext uri="{FF2B5EF4-FFF2-40B4-BE49-F238E27FC236}">
                            <a16:creationId xmlns:a16="http://schemas.microsoft.com/office/drawing/2014/main" id="{1248CA4C-8928-42E7-8A5B-0E68693185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752600"/>
                        <a:ext cx="6477000" cy="454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itle 1">
            <a:extLst>
              <a:ext uri="{FF2B5EF4-FFF2-40B4-BE49-F238E27FC236}">
                <a16:creationId xmlns:a16="http://schemas.microsoft.com/office/drawing/2014/main" id="{F23BC09E-75AA-4ED9-B6FA-50F408CCA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r>
              <a:rPr lang="en-US" altLang="en-US" sz="4000" b="1" dirty="0"/>
              <a:t>Example on Recursive Trapezoid</a:t>
            </a:r>
          </a:p>
        </p:txBody>
      </p:sp>
      <p:sp>
        <p:nvSpPr>
          <p:cNvPr id="27653" name="Slide Number Placeholder 4">
            <a:extLst>
              <a:ext uri="{FF2B5EF4-FFF2-40B4-BE49-F238E27FC236}">
                <a16:creationId xmlns:a16="http://schemas.microsoft.com/office/drawing/2014/main" id="{AC4A8F38-21FC-410D-8B1D-F3D461D60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28</a:t>
            </a:fld>
            <a:endParaRPr lang="en-US" altLang="en-US"/>
          </a:p>
        </p:txBody>
      </p:sp>
      <p:graphicFrame>
        <p:nvGraphicFramePr>
          <p:cNvPr id="27650" name="Object 3">
            <a:extLst>
              <a:ext uri="{FF2B5EF4-FFF2-40B4-BE49-F238E27FC236}">
                <a16:creationId xmlns:a16="http://schemas.microsoft.com/office/drawing/2014/main" id="{70BB6859-D6F4-4F6C-B34A-555BCA061F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1600200"/>
          <a:ext cx="6878638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6" name="Equation" r:id="rId3" imgW="3479760" imgH="838080" progId="Equation.3">
                  <p:embed/>
                </p:oleObj>
              </mc:Choice>
              <mc:Fallback>
                <p:oleObj name="Equation" r:id="rId3" imgW="3479760" imgH="838080" progId="Equation.3">
                  <p:embed/>
                  <p:pic>
                    <p:nvPicPr>
                      <p:cNvPr id="27650" name="Object 3">
                        <a:extLst>
                          <a:ext uri="{FF2B5EF4-FFF2-40B4-BE49-F238E27FC236}">
                            <a16:creationId xmlns:a16="http://schemas.microsoft.com/office/drawing/2014/main" id="{70BB6859-D6F4-4F6C-B34A-555BCA061F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00200"/>
                        <a:ext cx="6878638" cy="165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5931428-985D-4D38-8D43-73AA58066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314868"/>
              </p:ext>
            </p:extLst>
          </p:nvPr>
        </p:nvGraphicFramePr>
        <p:xfrm>
          <a:off x="228600" y="3276600"/>
          <a:ext cx="8763000" cy="2062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7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83">
                <a:tc>
                  <a:txBody>
                    <a:bodyPr/>
                    <a:lstStyle/>
                    <a:p>
                      <a:r>
                        <a:rPr lang="en-US" sz="1800" dirty="0"/>
                        <a:t>n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R(n,0)</a:t>
                      </a:r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83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(b-a)=</a:t>
                      </a:r>
                      <a:r>
                        <a:rPr lang="en-US" sz="1600" dirty="0">
                          <a:sym typeface="Symbol"/>
                        </a:rPr>
                        <a:t>/2</a:t>
                      </a:r>
                      <a:endParaRPr lang="en-US" sz="16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ym typeface="Symbol"/>
                        </a:rPr>
                        <a:t>(/4) [sin</a:t>
                      </a:r>
                      <a:r>
                        <a:rPr lang="en-US" sz="1600" baseline="0" dirty="0">
                          <a:sym typeface="Symbol"/>
                        </a:rPr>
                        <a:t>(0) + sin(</a:t>
                      </a:r>
                      <a:r>
                        <a:rPr lang="en-US" sz="1600" dirty="0">
                          <a:sym typeface="Symbol"/>
                        </a:rPr>
                        <a:t>/2)]=0.785398</a:t>
                      </a:r>
                      <a:r>
                        <a:rPr lang="en-US" sz="1600" baseline="0" dirty="0">
                          <a:sym typeface="Symbol"/>
                        </a:rPr>
                        <a:t> </a:t>
                      </a:r>
                      <a:endParaRPr lang="en-US" sz="16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83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(b-a)/2=</a:t>
                      </a:r>
                      <a:r>
                        <a:rPr lang="en-US" sz="1600" dirty="0">
                          <a:sym typeface="Symbol"/>
                        </a:rPr>
                        <a:t>/4</a:t>
                      </a:r>
                      <a:endParaRPr lang="en-US" sz="16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R(0,0)/2</a:t>
                      </a:r>
                      <a:r>
                        <a:rPr lang="en-US" sz="1600" baseline="0" dirty="0"/>
                        <a:t> + (</a:t>
                      </a:r>
                      <a:r>
                        <a:rPr lang="en-US" sz="1600" dirty="0">
                          <a:sym typeface="Symbol"/>
                        </a:rPr>
                        <a:t>/4) sin(/4) = 0.948059</a:t>
                      </a:r>
                      <a:endParaRPr lang="en-US" sz="16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83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(b-a)/4=</a:t>
                      </a:r>
                      <a:r>
                        <a:rPr lang="en-US" sz="1600" dirty="0">
                          <a:sym typeface="Symbol"/>
                        </a:rPr>
                        <a:t>/8</a:t>
                      </a:r>
                      <a:endParaRPr lang="en-US" sz="16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R(1,0)/2</a:t>
                      </a:r>
                      <a:r>
                        <a:rPr lang="en-US" sz="1600" baseline="0" dirty="0"/>
                        <a:t> + (</a:t>
                      </a:r>
                      <a:r>
                        <a:rPr lang="en-US" sz="1600" dirty="0">
                          <a:sym typeface="Symbol"/>
                        </a:rPr>
                        <a:t>/8)[sin(/8)+sin(3/8)] = 0.987116</a:t>
                      </a:r>
                      <a:endParaRPr lang="en-US" sz="16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031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(b-a)/8=</a:t>
                      </a:r>
                      <a:r>
                        <a:rPr lang="en-US" sz="1600" dirty="0">
                          <a:sym typeface="Symbol"/>
                        </a:rPr>
                        <a:t>/16</a:t>
                      </a:r>
                      <a:endParaRPr lang="en-US" sz="16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R(2,0)/2</a:t>
                      </a:r>
                      <a:r>
                        <a:rPr lang="en-US" sz="1600" baseline="0" dirty="0"/>
                        <a:t> + (</a:t>
                      </a:r>
                      <a:r>
                        <a:rPr lang="en-US" sz="1600" dirty="0">
                          <a:sym typeface="Symbol"/>
                        </a:rPr>
                        <a:t>/16)[sin(/16)+sin(3/16)+sin(5/16)+ sin(7/16)] = 0.996785</a:t>
                      </a:r>
                      <a:endParaRPr lang="en-US" sz="16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680" name="TextBox 9">
            <a:extLst>
              <a:ext uri="{FF2B5EF4-FFF2-40B4-BE49-F238E27FC236}">
                <a16:creationId xmlns:a16="http://schemas.microsoft.com/office/drawing/2014/main" id="{8AD5CA09-946B-487E-B2AB-8005808BE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032" y="6155032"/>
            <a:ext cx="7696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Estimated Error = |R(3,0) – R(2,0)| = 0.009669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C520D2-8B83-4C5D-9AA3-E50F9189B5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36" y="5149904"/>
            <a:ext cx="5302433" cy="91355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Slide Number Placeholder 5">
            <a:extLst>
              <a:ext uri="{FF2B5EF4-FFF2-40B4-BE49-F238E27FC236}">
                <a16:creationId xmlns:a16="http://schemas.microsoft.com/office/drawing/2014/main" id="{3A0615D4-58A1-4576-A695-4E4E3A3B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29</a:t>
            </a:fld>
            <a:endParaRPr lang="en-US" altLang="en-US"/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FBC59581-2FA1-4504-A339-28A726B76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Advantages of Recursive Trapezoid</a:t>
            </a:r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7727C47E-016D-49AA-A26D-64E2419F15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229600" cy="3384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Recursive Trapezoid:</a:t>
            </a:r>
          </a:p>
          <a:p>
            <a:pPr marL="0" indent="0" eaLnBrk="1" hangingPunct="1">
              <a:buNone/>
            </a:pPr>
            <a:r>
              <a:rPr lang="en-US" altLang="en-US" sz="2800" b="0" dirty="0"/>
              <a:t>Gives the same answer as the standard Trapezoid method. </a:t>
            </a:r>
          </a:p>
          <a:p>
            <a:pPr marL="0" indent="0" eaLnBrk="1" hangingPunct="1">
              <a:buNone/>
            </a:pPr>
            <a:r>
              <a:rPr lang="en-US" altLang="en-US" sz="2800" b="0" dirty="0"/>
              <a:t>Makes use of the available information to reduce the computation time.</a:t>
            </a:r>
          </a:p>
          <a:p>
            <a:pPr marL="0" indent="0" eaLnBrk="1" hangingPunct="1">
              <a:buNone/>
            </a:pPr>
            <a:r>
              <a:rPr lang="en-US" altLang="en-US" sz="2800" b="0" dirty="0"/>
              <a:t>Useful if the number of iterations is not known in advance.</a:t>
            </a:r>
          </a:p>
          <a:p>
            <a:pPr marL="0" indent="0" eaLnBrk="1" hangingPunct="1">
              <a:buNone/>
            </a:pPr>
            <a:endParaRPr lang="en-US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F84941-170E-4EF5-A879-CEDF14EBE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1210"/>
            <a:ext cx="2819400" cy="12224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8AE555-2D36-49D9-89F4-06BB97B53B1D}"/>
              </a:ext>
            </a:extLst>
          </p:cNvPr>
          <p:cNvSpPr txBox="1"/>
          <p:nvPr/>
        </p:nvSpPr>
        <p:spPr>
          <a:xfrm>
            <a:off x="1009650" y="2921169"/>
            <a:ext cx="71247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000" b="1" dirty="0">
                <a:solidFill>
                  <a:schemeClr val="accent5">
                    <a:lumMod val="50000"/>
                  </a:schemeClr>
                </a:solidFill>
                <a:latin typeface="Flux" pitchFamily="50" charset="0"/>
              </a:rPr>
              <a:t>Romberg Method</a:t>
            </a:r>
            <a:endParaRPr lang="en-GB" sz="4400" b="1" dirty="0">
              <a:solidFill>
                <a:schemeClr val="accent5">
                  <a:lumMod val="50000"/>
                </a:schemeClr>
              </a:solidFill>
              <a:latin typeface="Flux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496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AB96C2A0-3912-497A-948A-644BC41C7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Motivation for Romberg Method</a:t>
            </a: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E370AA86-56BC-4230-AFD6-A8F0BE89A8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2400" b="0" dirty="0"/>
              <a:t>Trapezoid formula with a sub-interval </a:t>
            </a:r>
            <a:r>
              <a:rPr lang="en-US" altLang="en-US" sz="2400" b="0" i="1" dirty="0"/>
              <a:t>h</a:t>
            </a:r>
            <a:r>
              <a:rPr lang="en-US" altLang="en-US" sz="2400" b="0" dirty="0"/>
              <a:t> gives an error of the order </a:t>
            </a:r>
            <a:r>
              <a:rPr lang="en-US" altLang="en-US" sz="2400" b="0" i="1" dirty="0"/>
              <a:t>O(h</a:t>
            </a:r>
            <a:r>
              <a:rPr lang="en-US" altLang="en-US" sz="2400" b="0" i="1" baseline="30000" dirty="0"/>
              <a:t>2</a:t>
            </a:r>
            <a:r>
              <a:rPr lang="en-US" altLang="en-US" sz="2400" b="0" i="1" dirty="0"/>
              <a:t>).</a:t>
            </a:r>
          </a:p>
          <a:p>
            <a:pPr marL="0" indent="0" eaLnBrk="1" hangingPunct="1">
              <a:buNone/>
            </a:pPr>
            <a:endParaRPr lang="en-US" altLang="en-US" sz="2400" b="0" i="1" dirty="0"/>
          </a:p>
          <a:p>
            <a:pPr marL="0" indent="0" eaLnBrk="1" hangingPunct="1">
              <a:buNone/>
            </a:pPr>
            <a:r>
              <a:rPr lang="en-US" altLang="en-US" sz="2400" b="0" i="1" dirty="0"/>
              <a:t>We can combine two Trapezoid estimates with intervals “h” and “h/2”  to get a better estimate.</a:t>
            </a:r>
            <a:r>
              <a:rPr lang="en-US" altLang="en-US" b="0" i="1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38760-792F-4BC7-8A84-3E99111C6791}"/>
              </a:ext>
            </a:extLst>
          </p:cNvPr>
          <p:cNvSpPr txBox="1">
            <a:spLocks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31</a:t>
            </a:fld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Slide Number Placeholder 5">
            <a:extLst>
              <a:ext uri="{FF2B5EF4-FFF2-40B4-BE49-F238E27FC236}">
                <a16:creationId xmlns:a16="http://schemas.microsoft.com/office/drawing/2014/main" id="{10EC5FB7-CF67-4ACA-ABBB-EAE3123B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32</a:t>
            </a:fld>
            <a:endParaRPr lang="en-US" altLang="en-US"/>
          </a:p>
        </p:txBody>
      </p:sp>
      <p:sp>
        <p:nvSpPr>
          <p:cNvPr id="537602" name="Rectangle 2">
            <a:extLst>
              <a:ext uri="{FF2B5EF4-FFF2-40B4-BE49-F238E27FC236}">
                <a16:creationId xmlns:a16="http://schemas.microsoft.com/office/drawing/2014/main" id="{77FC8943-122C-4158-A736-F71C09832A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Romberg Method</a:t>
            </a:r>
          </a:p>
        </p:txBody>
      </p:sp>
      <p:sp>
        <p:nvSpPr>
          <p:cNvPr id="28678" name="AutoShape 3">
            <a:extLst>
              <a:ext uri="{FF2B5EF4-FFF2-40B4-BE49-F238E27FC236}">
                <a16:creationId xmlns:a16="http://schemas.microsoft.com/office/drawing/2014/main" id="{DA40CC59-0977-45BC-B393-F1393BC31D82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533400" y="3352800"/>
            <a:ext cx="3048000" cy="762000"/>
          </a:xfrm>
          <a:prstGeom prst="wedgeRectCallout">
            <a:avLst>
              <a:gd name="adj1" fmla="val -76875"/>
              <a:gd name="adj2" fmla="val -95833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First column is obtained using Trapezoid Method</a:t>
            </a:r>
          </a:p>
          <a:p>
            <a:pPr algn="ctr" eaLnBrk="1" hangingPunct="1"/>
            <a:endParaRPr lang="en-US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8679" name="Rectangle 4">
            <a:extLst>
              <a:ext uri="{FF2B5EF4-FFF2-40B4-BE49-F238E27FC236}">
                <a16:creationId xmlns:a16="http://schemas.microsoft.com/office/drawing/2014/main" id="{D83134A2-3E8A-4EF1-87E3-6154163B3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24000"/>
            <a:ext cx="8305800" cy="1676400"/>
          </a:xfrm>
          <a:prstGeom prst="rect">
            <a:avLst/>
          </a:prstGeom>
          <a:noFill/>
          <a:ln w="38100">
            <a:solidFill>
              <a:srgbClr val="9933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8674" name="Object 5">
            <a:extLst>
              <a:ext uri="{FF2B5EF4-FFF2-40B4-BE49-F238E27FC236}">
                <a16:creationId xmlns:a16="http://schemas.microsoft.com/office/drawing/2014/main" id="{C952E3F7-0D6A-4483-92C3-AA21EDA550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550" y="1665288"/>
          <a:ext cx="7939088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9" name="Equation" r:id="rId4" imgW="4190760" imgH="838080" progId="Equation.3">
                  <p:embed/>
                </p:oleObj>
              </mc:Choice>
              <mc:Fallback>
                <p:oleObj name="Equation" r:id="rId4" imgW="4190760" imgH="838080" progId="Equation.3">
                  <p:embed/>
                  <p:pic>
                    <p:nvPicPr>
                      <p:cNvPr id="28674" name="Object 5">
                        <a:extLst>
                          <a:ext uri="{FF2B5EF4-FFF2-40B4-BE49-F238E27FC236}">
                            <a16:creationId xmlns:a16="http://schemas.microsoft.com/office/drawing/2014/main" id="{C952E3F7-0D6A-4483-92C3-AA21EDA550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1665288"/>
                        <a:ext cx="7939088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06" name="Group 6">
            <a:extLst>
              <a:ext uri="{FF2B5EF4-FFF2-40B4-BE49-F238E27FC236}">
                <a16:creationId xmlns:a16="http://schemas.microsoft.com/office/drawing/2014/main" id="{FA7139DF-0768-49F1-8A05-64C4E717F62D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3276600"/>
          <a:ext cx="4114800" cy="195580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R(0,0)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R(1,0)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R(1,1)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R(2,0)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R(2,1)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R(2,2)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R(3,0)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R(3,1)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R(3,2)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R(3,3)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707" name="Rectangle 33">
            <a:extLst>
              <a:ext uri="{FF2B5EF4-FFF2-40B4-BE49-F238E27FC236}">
                <a16:creationId xmlns:a16="http://schemas.microsoft.com/office/drawing/2014/main" id="{ED730828-D316-468E-94F0-C0C4D9D09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276600"/>
            <a:ext cx="1143000" cy="2057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8" name="Text Box 34">
            <a:extLst>
              <a:ext uri="{FF2B5EF4-FFF2-40B4-BE49-F238E27FC236}">
                <a16:creationId xmlns:a16="http://schemas.microsoft.com/office/drawing/2014/main" id="{41A41E1F-75E2-4A75-9F6E-607ED82A7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029200"/>
            <a:ext cx="32004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The other elements are obtained using  the Romberg Method</a:t>
            </a:r>
          </a:p>
        </p:txBody>
      </p:sp>
      <p:sp>
        <p:nvSpPr>
          <p:cNvPr id="28709" name="Freeform 35">
            <a:extLst>
              <a:ext uri="{FF2B5EF4-FFF2-40B4-BE49-F238E27FC236}">
                <a16:creationId xmlns:a16="http://schemas.microsoft.com/office/drawing/2014/main" id="{B655DC9D-C77F-47D2-BD86-5676A12C60C1}"/>
              </a:ext>
            </a:extLst>
          </p:cNvPr>
          <p:cNvSpPr>
            <a:spLocks/>
          </p:cNvSpPr>
          <p:nvPr/>
        </p:nvSpPr>
        <p:spPr bwMode="auto">
          <a:xfrm>
            <a:off x="3733800" y="5105400"/>
            <a:ext cx="3505200" cy="1003300"/>
          </a:xfrm>
          <a:custGeom>
            <a:avLst/>
            <a:gdLst>
              <a:gd name="T0" fmla="*/ 2147483647 w 2208"/>
              <a:gd name="T1" fmla="*/ 0 h 632"/>
              <a:gd name="T2" fmla="*/ 2147483647 w 2208"/>
              <a:gd name="T3" fmla="*/ 2147483647 h 632"/>
              <a:gd name="T4" fmla="*/ 2147483647 w 2208"/>
              <a:gd name="T5" fmla="*/ 2147483647 h 632"/>
              <a:gd name="T6" fmla="*/ 0 w 2208"/>
              <a:gd name="T7" fmla="*/ 2147483647 h 632"/>
              <a:gd name="T8" fmla="*/ 0 60000 65536"/>
              <a:gd name="T9" fmla="*/ 0 60000 65536"/>
              <a:gd name="T10" fmla="*/ 0 60000 65536"/>
              <a:gd name="T11" fmla="*/ 0 60000 65536"/>
              <a:gd name="T12" fmla="*/ 0 w 2208"/>
              <a:gd name="T13" fmla="*/ 0 h 632"/>
              <a:gd name="T14" fmla="*/ 2208 w 2208"/>
              <a:gd name="T15" fmla="*/ 632 h 6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08" h="632">
                <a:moveTo>
                  <a:pt x="2208" y="0"/>
                </a:moveTo>
                <a:cubicBezTo>
                  <a:pt x="2204" y="164"/>
                  <a:pt x="2200" y="328"/>
                  <a:pt x="2112" y="432"/>
                </a:cubicBezTo>
                <a:cubicBezTo>
                  <a:pt x="2024" y="536"/>
                  <a:pt x="2032" y="632"/>
                  <a:pt x="1680" y="624"/>
                </a:cubicBezTo>
                <a:cubicBezTo>
                  <a:pt x="1328" y="616"/>
                  <a:pt x="664" y="500"/>
                  <a:pt x="0" y="384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 animBg="1"/>
      <p:bldP spid="28708" grpId="0"/>
      <p:bldP spid="2870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>
            <a:extLst>
              <a:ext uri="{FF2B5EF4-FFF2-40B4-BE49-F238E27FC236}">
                <a16:creationId xmlns:a16="http://schemas.microsoft.com/office/drawing/2014/main" id="{D2993365-9617-4B98-8CA0-826BF2996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First Column  </a:t>
            </a:r>
            <a:b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Recursive Trapezoid Method</a:t>
            </a:r>
          </a:p>
        </p:txBody>
      </p:sp>
      <p:graphicFrame>
        <p:nvGraphicFramePr>
          <p:cNvPr id="29698" name="Object 3">
            <a:extLst>
              <a:ext uri="{FF2B5EF4-FFF2-40B4-BE49-F238E27FC236}">
                <a16:creationId xmlns:a16="http://schemas.microsoft.com/office/drawing/2014/main" id="{663F730C-524B-41E1-8428-42A9447A32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19056"/>
              </p:ext>
            </p:extLst>
          </p:nvPr>
        </p:nvGraphicFramePr>
        <p:xfrm>
          <a:off x="481553" y="1371600"/>
          <a:ext cx="6167679" cy="34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3" name="Equation" r:id="rId4" imgW="2793960" imgH="1549080" progId="Equation.3">
                  <p:embed/>
                </p:oleObj>
              </mc:Choice>
              <mc:Fallback>
                <p:oleObj name="Equation" r:id="rId4" imgW="2793960" imgH="1549080" progId="Equation.3">
                  <p:embed/>
                  <p:pic>
                    <p:nvPicPr>
                      <p:cNvPr id="29698" name="Object 3">
                        <a:extLst>
                          <a:ext uri="{FF2B5EF4-FFF2-40B4-BE49-F238E27FC236}">
                            <a16:creationId xmlns:a16="http://schemas.microsoft.com/office/drawing/2014/main" id="{663F730C-524B-41E1-8428-42A9447A32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553" y="1371600"/>
                        <a:ext cx="6167679" cy="342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2D13C-4509-41F9-8767-0C2267E9753F}"/>
              </a:ext>
            </a:extLst>
          </p:cNvPr>
          <p:cNvSpPr txBox="1">
            <a:spLocks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33</a:t>
            </a:fld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Slide Number Placeholder 5">
            <a:extLst>
              <a:ext uri="{FF2B5EF4-FFF2-40B4-BE49-F238E27FC236}">
                <a16:creationId xmlns:a16="http://schemas.microsoft.com/office/drawing/2014/main" id="{7ACC6BCD-6861-487D-AE88-9A99872D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34</a:t>
            </a:fld>
            <a:endParaRPr lang="en-US" altLang="en-US"/>
          </a:p>
        </p:txBody>
      </p:sp>
      <p:sp>
        <p:nvSpPr>
          <p:cNvPr id="541698" name="Rectangle 2">
            <a:extLst>
              <a:ext uri="{FF2B5EF4-FFF2-40B4-BE49-F238E27FC236}">
                <a16:creationId xmlns:a16="http://schemas.microsoft.com/office/drawing/2014/main" id="{0434B9F1-44A0-46CB-BD69-1948A15A3F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87388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Derivation of Romberg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2" name="Object 3">
                <a:extLst>
                  <a:ext uri="{FF2B5EF4-FFF2-40B4-BE49-F238E27FC236}">
                    <a16:creationId xmlns:a16="http://schemas.microsoft.com/office/drawing/2014/main" id="{3558E51B-232B-4C19-8A59-62B2D43CF547}"/>
                  </a:ext>
                </a:extLst>
              </p:cNvPr>
              <p:cNvSpPr txBox="1"/>
              <p:nvPr/>
            </p:nvSpPr>
            <p:spPr bwMode="auto">
              <a:xfrm>
                <a:off x="685800" y="1371600"/>
                <a:ext cx="8229600" cy="48021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Trapezoid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method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GB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𝑒𝑞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1)</m:t>
                      </m:r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More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accurate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estimate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obtained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by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64</m:t>
                          </m:r>
                        </m:den>
                      </m:f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𝑒𝑞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GB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𝑒𝑞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1−4∗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𝑒𝑞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𝑔𝑖𝑣𝑒𝑠</m:t>
                      </m:r>
                    </m:oMath>
                  </m:oMathPara>
                </a14:m>
                <a:endParaRPr lang="en-GB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GB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4×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,0)−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−1,0)</m:t>
                          </m:r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722" name="Object 3">
                <a:extLst>
                  <a:ext uri="{FF2B5EF4-FFF2-40B4-BE49-F238E27FC236}">
                    <a16:creationId xmlns:a16="http://schemas.microsoft.com/office/drawing/2014/main" id="{3558E51B-232B-4C19-8A59-62B2D43CF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1371600"/>
                <a:ext cx="8229600" cy="48021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8EB737-32EC-4674-9364-B6F996CD88F2}"/>
              </a:ext>
            </a:extLst>
          </p:cNvPr>
          <p:cNvCxnSpPr/>
          <p:nvPr/>
        </p:nvCxnSpPr>
        <p:spPr bwMode="auto">
          <a:xfrm flipH="1">
            <a:off x="3352800" y="2362200"/>
            <a:ext cx="381000" cy="685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6589070-6F3D-4BC6-9123-FEE7F08E8CEC}"/>
              </a:ext>
            </a:extLst>
          </p:cNvPr>
          <p:cNvCxnSpPr/>
          <p:nvPr/>
        </p:nvCxnSpPr>
        <p:spPr bwMode="auto">
          <a:xfrm flipH="1">
            <a:off x="3019720" y="3754626"/>
            <a:ext cx="381000" cy="685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Arrow: Down 1">
            <a:extLst>
              <a:ext uri="{FF2B5EF4-FFF2-40B4-BE49-F238E27FC236}">
                <a16:creationId xmlns:a16="http://schemas.microsoft.com/office/drawing/2014/main" id="{720CB97F-8ACB-4C7E-9DB0-BA8F6AC620B9}"/>
              </a:ext>
            </a:extLst>
          </p:cNvPr>
          <p:cNvSpPr/>
          <p:nvPr/>
        </p:nvSpPr>
        <p:spPr bwMode="auto">
          <a:xfrm>
            <a:off x="5257800" y="5007429"/>
            <a:ext cx="228600" cy="304800"/>
          </a:xfrm>
          <a:prstGeom prst="downArrow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0C02E-5926-443C-B8AD-0859DE8223BD}"/>
              </a:ext>
            </a:extLst>
          </p:cNvPr>
          <p:cNvSpPr txBox="1"/>
          <p:nvPr/>
        </p:nvSpPr>
        <p:spPr>
          <a:xfrm>
            <a:off x="4969585" y="4532707"/>
            <a:ext cx="805029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O(h</a:t>
            </a:r>
            <a:r>
              <a:rPr lang="en-US" sz="2000" b="1" baseline="30000" dirty="0"/>
              <a:t>2</a:t>
            </a:r>
            <a:r>
              <a:rPr lang="en-US" sz="2000" b="1" dirty="0"/>
              <a:t>)</a:t>
            </a:r>
            <a:endParaRPr lang="en-GB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612E2D9D-3652-43E6-8B88-2B077922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35</a:t>
            </a:fld>
            <a:endParaRPr lang="en-US" altLang="en-US"/>
          </a:p>
        </p:txBody>
      </p:sp>
      <p:sp>
        <p:nvSpPr>
          <p:cNvPr id="543746" name="Rectangle 2">
            <a:extLst>
              <a:ext uri="{FF2B5EF4-FFF2-40B4-BE49-F238E27FC236}">
                <a16:creationId xmlns:a16="http://schemas.microsoft.com/office/drawing/2014/main" id="{769D3D20-6199-4B2F-A839-D578B70F2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Romberg Method</a:t>
            </a:r>
          </a:p>
        </p:txBody>
      </p:sp>
      <p:graphicFrame>
        <p:nvGraphicFramePr>
          <p:cNvPr id="31746" name="Object 3">
            <a:extLst>
              <a:ext uri="{FF2B5EF4-FFF2-40B4-BE49-F238E27FC236}">
                <a16:creationId xmlns:a16="http://schemas.microsoft.com/office/drawing/2014/main" id="{E07A6857-AD24-4B12-B170-B1F482BDF8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987944"/>
              </p:ext>
            </p:extLst>
          </p:nvPr>
        </p:nvGraphicFramePr>
        <p:xfrm>
          <a:off x="533400" y="1679575"/>
          <a:ext cx="7181850" cy="414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2" name="Equation" r:id="rId4" imgW="3987720" imgH="2298600" progId="Equation.3">
                  <p:embed/>
                </p:oleObj>
              </mc:Choice>
              <mc:Fallback>
                <p:oleObj name="Equation" r:id="rId4" imgW="3987720" imgH="2298600" progId="Equation.3">
                  <p:embed/>
                  <p:pic>
                    <p:nvPicPr>
                      <p:cNvPr id="31746" name="Object 3">
                        <a:extLst>
                          <a:ext uri="{FF2B5EF4-FFF2-40B4-BE49-F238E27FC236}">
                            <a16:creationId xmlns:a16="http://schemas.microsoft.com/office/drawing/2014/main" id="{E07A6857-AD24-4B12-B170-B1F482BDF8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79575"/>
                        <a:ext cx="7181850" cy="414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748" name="Group 4">
            <a:extLst>
              <a:ext uri="{FF2B5EF4-FFF2-40B4-BE49-F238E27FC236}">
                <a16:creationId xmlns:a16="http://schemas.microsoft.com/office/drawing/2014/main" id="{794CED36-EC17-4D04-8410-DF75F9813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519411"/>
              </p:ext>
            </p:extLst>
          </p:nvPr>
        </p:nvGraphicFramePr>
        <p:xfrm>
          <a:off x="4529137" y="1447800"/>
          <a:ext cx="3733800" cy="153193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R(0,0)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R(1,0)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R(1,1)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R(2,0)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R(2,1)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R(2,2)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R(3,0)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R(3,1)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R(3,2)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R(3,3)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Arrow: Up 1">
            <a:extLst>
              <a:ext uri="{FF2B5EF4-FFF2-40B4-BE49-F238E27FC236}">
                <a16:creationId xmlns:a16="http://schemas.microsoft.com/office/drawing/2014/main" id="{DD38FB5D-E32D-4EF2-928A-373DC6F4A7D1}"/>
              </a:ext>
            </a:extLst>
          </p:cNvPr>
          <p:cNvSpPr/>
          <p:nvPr/>
        </p:nvSpPr>
        <p:spPr bwMode="auto">
          <a:xfrm>
            <a:off x="4800600" y="3124200"/>
            <a:ext cx="304800" cy="381000"/>
          </a:xfrm>
          <a:prstGeom prst="upArrow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>
            <a:extLst>
              <a:ext uri="{FF2B5EF4-FFF2-40B4-BE49-F238E27FC236}">
                <a16:creationId xmlns:a16="http://schemas.microsoft.com/office/drawing/2014/main" id="{945EA798-D5C5-4DE2-B2DF-987A312CD3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Property of Romberg Method</a:t>
            </a:r>
          </a:p>
        </p:txBody>
      </p:sp>
      <p:graphicFrame>
        <p:nvGraphicFramePr>
          <p:cNvPr id="32770" name="Object 3">
            <a:extLst>
              <a:ext uri="{FF2B5EF4-FFF2-40B4-BE49-F238E27FC236}">
                <a16:creationId xmlns:a16="http://schemas.microsoft.com/office/drawing/2014/main" id="{78B4B6A7-38B3-4BEB-8B58-5C534470BB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508543"/>
              </p:ext>
            </p:extLst>
          </p:nvPr>
        </p:nvGraphicFramePr>
        <p:xfrm>
          <a:off x="228600" y="1524000"/>
          <a:ext cx="4005263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70" name="Equation" r:id="rId4" imgW="1866600" imgH="685800" progId="Equation.3">
                  <p:embed/>
                </p:oleObj>
              </mc:Choice>
              <mc:Fallback>
                <p:oleObj name="Equation" r:id="rId4" imgW="1866600" imgH="685800" progId="Equation.3">
                  <p:embed/>
                  <p:pic>
                    <p:nvPicPr>
                      <p:cNvPr id="32770" name="Object 3">
                        <a:extLst>
                          <a:ext uri="{FF2B5EF4-FFF2-40B4-BE49-F238E27FC236}">
                            <a16:creationId xmlns:a16="http://schemas.microsoft.com/office/drawing/2014/main" id="{78B4B6A7-38B3-4BEB-8B58-5C534470BB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24000"/>
                        <a:ext cx="4005263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796" name="Group 4">
            <a:extLst>
              <a:ext uri="{FF2B5EF4-FFF2-40B4-BE49-F238E27FC236}">
                <a16:creationId xmlns:a16="http://schemas.microsoft.com/office/drawing/2014/main" id="{5E99FC59-BCE2-4770-89FA-DF7325AA1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66239"/>
              </p:ext>
            </p:extLst>
          </p:nvPr>
        </p:nvGraphicFramePr>
        <p:xfrm>
          <a:off x="4419600" y="1447800"/>
          <a:ext cx="3886200" cy="157480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R(0,0)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R(1,0)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R(1,1)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R(2,0)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R(2,1)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R(2,2)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R(3,0)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R(3,1)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R(3,2)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R(3,3)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771" name="Object 31">
            <a:extLst>
              <a:ext uri="{FF2B5EF4-FFF2-40B4-BE49-F238E27FC236}">
                <a16:creationId xmlns:a16="http://schemas.microsoft.com/office/drawing/2014/main" id="{0D17EB7D-A1A0-4A14-9E45-7D3BE5DB11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014016"/>
              </p:ext>
            </p:extLst>
          </p:nvPr>
        </p:nvGraphicFramePr>
        <p:xfrm>
          <a:off x="4038600" y="4038600"/>
          <a:ext cx="4249738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71" name="Microsoft Equation 3.0" r:id="rId6" imgW="1981080" imgH="228600" progId="Equation.3">
                  <p:embed/>
                </p:oleObj>
              </mc:Choice>
              <mc:Fallback>
                <p:oleObj name="Microsoft Equation 3.0" r:id="rId6" imgW="1981080" imgH="228600" progId="Equation.3">
                  <p:embed/>
                  <p:pic>
                    <p:nvPicPr>
                      <p:cNvPr id="32771" name="Object 31">
                        <a:extLst>
                          <a:ext uri="{FF2B5EF4-FFF2-40B4-BE49-F238E27FC236}">
                            <a16:creationId xmlns:a16="http://schemas.microsoft.com/office/drawing/2014/main" id="{0D17EB7D-A1A0-4A14-9E45-7D3BE5DB11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038600"/>
                        <a:ext cx="4249738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02" name="Line 32">
            <a:extLst>
              <a:ext uri="{FF2B5EF4-FFF2-40B4-BE49-F238E27FC236}">
                <a16:creationId xmlns:a16="http://schemas.microsoft.com/office/drawing/2014/main" id="{F98AA648-44AD-407B-B3BE-A30BA7A021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32004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803" name="Line 33">
            <a:extLst>
              <a:ext uri="{FF2B5EF4-FFF2-40B4-BE49-F238E27FC236}">
                <a16:creationId xmlns:a16="http://schemas.microsoft.com/office/drawing/2014/main" id="{AD9F8550-A1AE-4425-A5A9-C7E26230BE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3200400"/>
            <a:ext cx="228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804" name="Line 34">
            <a:extLst>
              <a:ext uri="{FF2B5EF4-FFF2-40B4-BE49-F238E27FC236}">
                <a16:creationId xmlns:a16="http://schemas.microsoft.com/office/drawing/2014/main" id="{B731C974-BEF0-4E5B-8001-DB935EA99D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3200400"/>
            <a:ext cx="152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805" name="Line 35">
            <a:extLst>
              <a:ext uri="{FF2B5EF4-FFF2-40B4-BE49-F238E27FC236}">
                <a16:creationId xmlns:a16="http://schemas.microsoft.com/office/drawing/2014/main" id="{A6082CE3-40C0-4CA9-83DD-49AAF963BA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32004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806" name="Text Box 36">
            <a:extLst>
              <a:ext uri="{FF2B5EF4-FFF2-40B4-BE49-F238E27FC236}">
                <a16:creationId xmlns:a16="http://schemas.microsoft.com/office/drawing/2014/main" id="{1F65D27A-83CC-4D01-9FBD-8581D376F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62953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Error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6998172-418B-4DCA-8CC8-5FF9AA675177}"/>
              </a:ext>
            </a:extLst>
          </p:cNvPr>
          <p:cNvSpPr txBox="1">
            <a:spLocks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36</a:t>
            </a:fld>
            <a:endParaRPr lang="en-US" altLang="en-US"/>
          </a:p>
        </p:txBody>
      </p:sp>
      <p:sp>
        <p:nvSpPr>
          <p:cNvPr id="12" name="Line 32">
            <a:extLst>
              <a:ext uri="{FF2B5EF4-FFF2-40B4-BE49-F238E27FC236}">
                <a16:creationId xmlns:a16="http://schemas.microsoft.com/office/drawing/2014/main" id="{C04BFC5D-5582-47D8-8479-0582F5306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828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" name="Text Box 36">
            <a:extLst>
              <a:ext uri="{FF2B5EF4-FFF2-40B4-BE49-F238E27FC236}">
                <a16:creationId xmlns:a16="http://schemas.microsoft.com/office/drawing/2014/main" id="{42DC6FA4-17B3-4184-BDEE-DFA34B3CE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3700" y="1524000"/>
            <a:ext cx="1181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Column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02" grpId="0" animBg="1"/>
      <p:bldP spid="32803" grpId="0" animBg="1"/>
      <p:bldP spid="32804" grpId="0" animBg="1"/>
      <p:bldP spid="32805" grpId="0" animBg="1"/>
      <p:bldP spid="3280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Slide Number Placeholder 5">
            <a:extLst>
              <a:ext uri="{FF2B5EF4-FFF2-40B4-BE49-F238E27FC236}">
                <a16:creationId xmlns:a16="http://schemas.microsoft.com/office/drawing/2014/main" id="{64CDC0D5-EEC6-4EB0-88C7-FF4A7BA1A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37</a:t>
            </a:fld>
            <a:endParaRPr lang="en-US" altLang="en-US"/>
          </a:p>
        </p:txBody>
      </p:sp>
      <p:sp>
        <p:nvSpPr>
          <p:cNvPr id="547842" name="Rectangle 2">
            <a:extLst>
              <a:ext uri="{FF2B5EF4-FFF2-40B4-BE49-F238E27FC236}">
                <a16:creationId xmlns:a16="http://schemas.microsoft.com/office/drawing/2014/main" id="{91520935-BC1D-4DF1-8559-1C5434EBB9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94" name="Object 3">
                <a:extLst>
                  <a:ext uri="{FF2B5EF4-FFF2-40B4-BE49-F238E27FC236}">
                    <a16:creationId xmlns:a16="http://schemas.microsoft.com/office/drawing/2014/main" id="{B3467BE6-9AA3-4318-A95B-E9C15277E599}"/>
                  </a:ext>
                </a:extLst>
              </p:cNvPr>
              <p:cNvSpPr txBox="1"/>
              <p:nvPr/>
            </p:nvSpPr>
            <p:spPr bwMode="auto">
              <a:xfrm>
                <a:off x="457200" y="1295400"/>
                <a:ext cx="7688263" cy="4664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Compute</m:t>
                      </m:r>
                      <m:nary>
                        <m:nary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GB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GB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GB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GB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794" name="Object 3">
                <a:extLst>
                  <a:ext uri="{FF2B5EF4-FFF2-40B4-BE49-F238E27FC236}">
                    <a16:creationId xmlns:a16="http://schemas.microsoft.com/office/drawing/2014/main" id="{B3467BE6-9AA3-4318-A95B-E9C15277E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95400"/>
                <a:ext cx="7688263" cy="4664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47844" name="Group 4">
            <a:extLst>
              <a:ext uri="{FF2B5EF4-FFF2-40B4-BE49-F238E27FC236}">
                <a16:creationId xmlns:a16="http://schemas.microsoft.com/office/drawing/2014/main" id="{76DBAC62-12D4-4BF8-9303-8FA53E00B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046169"/>
              </p:ext>
            </p:extLst>
          </p:nvPr>
        </p:nvGraphicFramePr>
        <p:xfrm>
          <a:off x="6477000" y="1539875"/>
          <a:ext cx="1317625" cy="762000"/>
        </p:xfrm>
        <a:graphic>
          <a:graphicData uri="http://schemas.openxmlformats.org/drawingml/2006/table">
            <a:tbl>
              <a:tblPr/>
              <a:tblGrid>
                <a:gridCol w="61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0.5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3/8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1/3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65987C5-5368-4555-9AEE-2B9F323202E4}"/>
              </a:ext>
            </a:extLst>
          </p:cNvPr>
          <p:cNvSpPr txBox="1"/>
          <p:nvPr/>
        </p:nvSpPr>
        <p:spPr>
          <a:xfrm>
            <a:off x="6240463" y="1191108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Romberg Table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Date Placeholder 3">
            <a:extLst>
              <a:ext uri="{FF2B5EF4-FFF2-40B4-BE49-F238E27FC236}">
                <a16:creationId xmlns:a16="http://schemas.microsoft.com/office/drawing/2014/main" id="{FF1B0FC1-1D02-4DE6-8DEE-8DDF99020C6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549890" name="Rectangle 2">
            <a:extLst>
              <a:ext uri="{FF2B5EF4-FFF2-40B4-BE49-F238E27FC236}">
                <a16:creationId xmlns:a16="http://schemas.microsoft.com/office/drawing/2014/main" id="{43FE6BF1-7402-49DE-92DF-F375F78D1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8" name="Object 3">
                <a:extLst>
                  <a:ext uri="{FF2B5EF4-FFF2-40B4-BE49-F238E27FC236}">
                    <a16:creationId xmlns:a16="http://schemas.microsoft.com/office/drawing/2014/main" id="{26162ECE-38A7-4164-9111-767EC6B0D68A}"/>
                  </a:ext>
                </a:extLst>
              </p:cNvPr>
              <p:cNvSpPr txBox="1"/>
              <p:nvPr/>
            </p:nvSpPr>
            <p:spPr bwMode="auto">
              <a:xfrm>
                <a:off x="381000" y="2298700"/>
                <a:ext cx="8516938" cy="349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</m:oMath>
                  </m:oMathPara>
                </a14:m>
                <a:endParaRPr lang="en-GB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GB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GB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den>
                          </m:f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GB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818" name="Object 3">
                <a:extLst>
                  <a:ext uri="{FF2B5EF4-FFF2-40B4-BE49-F238E27FC236}">
                    <a16:creationId xmlns:a16="http://schemas.microsoft.com/office/drawing/2014/main" id="{26162ECE-38A7-4164-9111-767EC6B0D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2298700"/>
                <a:ext cx="8516938" cy="3492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49892" name="Group 4">
            <a:extLst>
              <a:ext uri="{FF2B5EF4-FFF2-40B4-BE49-F238E27FC236}">
                <a16:creationId xmlns:a16="http://schemas.microsoft.com/office/drawing/2014/main" id="{BADC6849-C665-4690-BCAF-4B143CF34F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19800" y="457200"/>
          <a:ext cx="2819400" cy="1524000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0.5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3/8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1/3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11/32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1/3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1/3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EFA37EF-C22B-4AC9-9A76-B064696C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38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Slide Number Placeholder 5">
            <a:extLst>
              <a:ext uri="{FF2B5EF4-FFF2-40B4-BE49-F238E27FC236}">
                <a16:creationId xmlns:a16="http://schemas.microsoft.com/office/drawing/2014/main" id="{D4E0D644-3F11-48FB-8B73-F95B4148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9A8D397-76D2-4801-B0B0-CA0C5577525F}" type="slidenum">
              <a:rPr lang="ar-SA" altLang="en-US" smtClean="0"/>
              <a:pPr eaLnBrk="1" hangingPunct="1"/>
              <a:t>39</a:t>
            </a:fld>
            <a:endParaRPr lang="en-US" altLang="en-US"/>
          </a:p>
        </p:txBody>
      </p:sp>
      <p:sp>
        <p:nvSpPr>
          <p:cNvPr id="551938" name="Rectangle 2">
            <a:extLst>
              <a:ext uri="{FF2B5EF4-FFF2-40B4-BE49-F238E27FC236}">
                <a16:creationId xmlns:a16="http://schemas.microsoft.com/office/drawing/2014/main" id="{3E0421D6-35CA-44A5-81E5-A0A8BD5D0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When do we stop?</a:t>
            </a:r>
          </a:p>
        </p:txBody>
      </p:sp>
      <p:graphicFrame>
        <p:nvGraphicFramePr>
          <p:cNvPr id="35842" name="Object 3">
            <a:extLst>
              <a:ext uri="{FF2B5EF4-FFF2-40B4-BE49-F238E27FC236}">
                <a16:creationId xmlns:a16="http://schemas.microsoft.com/office/drawing/2014/main" id="{15934D8E-0B5F-485D-A3B2-D1B7A67172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663794"/>
              </p:ext>
            </p:extLst>
          </p:nvPr>
        </p:nvGraphicFramePr>
        <p:xfrm>
          <a:off x="609600" y="1447800"/>
          <a:ext cx="5394325" cy="348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7" name="Equation" r:id="rId4" imgW="2120760" imgH="1371600" progId="Equation.3">
                  <p:embed/>
                </p:oleObj>
              </mc:Choice>
              <mc:Fallback>
                <p:oleObj name="Equation" r:id="rId4" imgW="2120760" imgH="1371600" progId="Equation.3">
                  <p:embed/>
                  <p:pic>
                    <p:nvPicPr>
                      <p:cNvPr id="35842" name="Object 3">
                        <a:extLst>
                          <a:ext uri="{FF2B5EF4-FFF2-40B4-BE49-F238E27FC236}">
                            <a16:creationId xmlns:a16="http://schemas.microsoft.com/office/drawing/2014/main" id="{15934D8E-0B5F-485D-A3B2-D1B7A67172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447800"/>
                        <a:ext cx="5394325" cy="348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4F03C234-BB3D-4E8E-A6D1-ACCB138A4C71}"/>
              </a:ext>
            </a:extLst>
          </p:cNvPr>
          <p:cNvSpPr txBox="1">
            <a:spLocks/>
          </p:cNvSpPr>
          <p:nvPr/>
        </p:nvSpPr>
        <p:spPr bwMode="auto">
          <a:xfrm>
            <a:off x="1595752" y="411777"/>
            <a:ext cx="7395846" cy="628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12700" algn="r">
              <a:spcBef>
                <a:spcPts val="100"/>
              </a:spcBef>
            </a:pPr>
            <a:r>
              <a:rPr lang="en-GB" sz="4000" kern="0" spc="-5" dirty="0" err="1">
                <a:latin typeface="Courier New"/>
                <a:cs typeface="Courier New"/>
              </a:rPr>
              <a:t>Romberk</a:t>
            </a:r>
            <a:r>
              <a:rPr lang="en-GB" sz="4000" kern="0" spc="-5" dirty="0">
                <a:latin typeface="Courier New"/>
                <a:cs typeface="Courier New"/>
              </a:rPr>
              <a:t>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E3AE6F-4DD6-4A23-9EDC-0D25DA6AA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2" y="228600"/>
            <a:ext cx="5013747" cy="33120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AC2081-5B3B-44AE-ACF0-108DE6F6F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2" y="3569175"/>
            <a:ext cx="6668998" cy="26640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0F5992-B4E1-45FE-99D9-D1C0B2980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436" y="4195629"/>
            <a:ext cx="3730907" cy="10800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15EAC8-39FF-4CA1-9FC5-3BC207C7E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5697" y="1560600"/>
            <a:ext cx="3190153" cy="648000"/>
          </a:xfrm>
          <a:prstGeom prst="rect">
            <a:avLst/>
          </a:prstGeom>
        </p:spPr>
      </p:pic>
      <p:sp>
        <p:nvSpPr>
          <p:cNvPr id="17" name="Arrow: Left 16">
            <a:extLst>
              <a:ext uri="{FF2B5EF4-FFF2-40B4-BE49-F238E27FC236}">
                <a16:creationId xmlns:a16="http://schemas.microsoft.com/office/drawing/2014/main" id="{F41B0BB9-635E-430B-9674-806387508D23}"/>
              </a:ext>
            </a:extLst>
          </p:cNvPr>
          <p:cNvSpPr/>
          <p:nvPr/>
        </p:nvSpPr>
        <p:spPr bwMode="auto">
          <a:xfrm>
            <a:off x="4719974" y="1698729"/>
            <a:ext cx="645475" cy="324000"/>
          </a:xfrm>
          <a:prstGeom prst="leftArrow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03A5F98-B6D8-45C6-96CF-F79FDE1D4F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400" y="2213496"/>
            <a:ext cx="4572000" cy="406858"/>
          </a:xfrm>
          <a:prstGeom prst="rect">
            <a:avLst/>
          </a:prstGeom>
        </p:spPr>
      </p:pic>
      <p:sp>
        <p:nvSpPr>
          <p:cNvPr id="20" name="Arrow: Left 19">
            <a:extLst>
              <a:ext uri="{FF2B5EF4-FFF2-40B4-BE49-F238E27FC236}">
                <a16:creationId xmlns:a16="http://schemas.microsoft.com/office/drawing/2014/main" id="{3EE743CB-AF42-41B5-A6D8-221AE79A491E}"/>
              </a:ext>
            </a:extLst>
          </p:cNvPr>
          <p:cNvSpPr/>
          <p:nvPr/>
        </p:nvSpPr>
        <p:spPr bwMode="auto">
          <a:xfrm rot="18225013">
            <a:off x="3799947" y="3085440"/>
            <a:ext cx="1223161" cy="324000"/>
          </a:xfrm>
          <a:prstGeom prst="leftArrow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56297C-178E-4369-A733-5D7022FC1B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734" y="2625250"/>
            <a:ext cx="2313666" cy="98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53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F84941-170E-4EF5-A879-CEDF14EBE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1210"/>
            <a:ext cx="2819400" cy="12224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8AE555-2D36-49D9-89F4-06BB97B53B1D}"/>
              </a:ext>
            </a:extLst>
          </p:cNvPr>
          <p:cNvSpPr txBox="1"/>
          <p:nvPr/>
        </p:nvSpPr>
        <p:spPr>
          <a:xfrm>
            <a:off x="1009650" y="2921169"/>
            <a:ext cx="71247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000" b="1" dirty="0">
                <a:solidFill>
                  <a:schemeClr val="accent5">
                    <a:lumMod val="50000"/>
                  </a:schemeClr>
                </a:solidFill>
                <a:latin typeface="Flux" pitchFamily="50" charset="0"/>
              </a:rPr>
              <a:t>Simpson Rule</a:t>
            </a:r>
            <a:endParaRPr lang="en-GB" sz="4400" b="1" dirty="0">
              <a:solidFill>
                <a:schemeClr val="accent5">
                  <a:lumMod val="50000"/>
                </a:schemeClr>
              </a:solidFill>
              <a:latin typeface="Flux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7303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>
            <a:extLst>
              <a:ext uri="{FF2B5EF4-FFF2-40B4-BE49-F238E27FC236}">
                <a16:creationId xmlns:a16="http://schemas.microsoft.com/office/drawing/2014/main" id="{03A7E47F-B41A-4153-B2E8-A6B7F34727C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71600" y="1219200"/>
            <a:ext cx="7315200" cy="1066800"/>
          </a:xfrm>
        </p:spPr>
        <p:txBody>
          <a:bodyPr/>
          <a:lstStyle/>
          <a:p>
            <a:r>
              <a:rPr lang="en-US" altLang="en-US"/>
              <a:t>Simpson’s 1/3</a:t>
            </a:r>
            <a:r>
              <a:rPr lang="en-US" altLang="en-US" baseline="30000"/>
              <a:t>rd</a:t>
            </a:r>
            <a:r>
              <a:rPr lang="en-US" altLang="en-US"/>
              <a:t> Rule of Integration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Footer Placeholder 6">
            <a:extLst>
              <a:ext uri="{FF2B5EF4-FFF2-40B4-BE49-F238E27FC236}">
                <a16:creationId xmlns:a16="http://schemas.microsoft.com/office/drawing/2014/main" id="{5B85D1B2-99D9-43B2-94EE-7F67CF27B30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054" name="Slide Number Placeholder 7">
            <a:extLst>
              <a:ext uri="{FF2B5EF4-FFF2-40B4-BE49-F238E27FC236}">
                <a16:creationId xmlns:a16="http://schemas.microsoft.com/office/drawing/2014/main" id="{8E27DEF6-98FD-4FE3-970E-009875F6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780934-5F38-4E94-8F8C-2A5F3187BE17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055" name="Rectangle 2">
            <a:extLst>
              <a:ext uri="{FF2B5EF4-FFF2-40B4-BE49-F238E27FC236}">
                <a16:creationId xmlns:a16="http://schemas.microsoft.com/office/drawing/2014/main" id="{0421721C-1C13-412B-807A-7EA5024C5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Basis of Simpson’s 1/3</a:t>
            </a:r>
            <a:r>
              <a:rPr lang="en-US" altLang="en-US" baseline="30000"/>
              <a:t>rd</a:t>
            </a:r>
            <a:r>
              <a:rPr lang="en-US" altLang="en-US"/>
              <a:t> Rule</a:t>
            </a:r>
          </a:p>
        </p:txBody>
      </p:sp>
      <p:sp>
        <p:nvSpPr>
          <p:cNvPr id="2056" name="Rectangle 3">
            <a:extLst>
              <a:ext uri="{FF2B5EF4-FFF2-40B4-BE49-F238E27FC236}">
                <a16:creationId xmlns:a16="http://schemas.microsoft.com/office/drawing/2014/main" id="{85E4CC5B-0E58-41EB-8E3A-13C2931C66E5}"/>
              </a:ext>
            </a:extLst>
          </p:cNvPr>
          <p:cNvSpPr>
            <a:spLocks noGrp="1" noChangeArrowheads="1"/>
          </p:cNvSpPr>
          <p:nvPr>
            <p:ph type="body" sz="half" idx="3"/>
          </p:nvPr>
        </p:nvSpPr>
        <p:spPr>
          <a:xfrm>
            <a:off x="838200" y="1981200"/>
            <a:ext cx="7924800" cy="15240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900" dirty="0"/>
              <a:t>Trapezoidal rule was based on approximating the integrand by a </a:t>
            </a:r>
            <a:r>
              <a:rPr lang="en-US" altLang="en-US" sz="1900" b="1" dirty="0"/>
              <a:t>first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 sz="1900" b="1" dirty="0"/>
              <a:t>order polynomial</a:t>
            </a:r>
            <a:r>
              <a:rPr lang="en-US" altLang="en-US" sz="1900" dirty="0"/>
              <a:t>, and then integrating the polynomial in the interval of integration.  Simpson’s 1/3rd rule is an extension of Trapezoidal rule where the integrand is approximated by a second order polynomial.</a:t>
            </a:r>
          </a:p>
        </p:txBody>
      </p:sp>
      <p:sp>
        <p:nvSpPr>
          <p:cNvPr id="2057" name="Rectangle 4">
            <a:extLst>
              <a:ext uri="{FF2B5EF4-FFF2-40B4-BE49-F238E27FC236}">
                <a16:creationId xmlns:a16="http://schemas.microsoft.com/office/drawing/2014/main" id="{7C92BDA4-145E-476D-93F1-C42BF8B25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1552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059" name="Rectangle 17">
            <a:extLst>
              <a:ext uri="{FF2B5EF4-FFF2-40B4-BE49-F238E27FC236}">
                <a16:creationId xmlns:a16="http://schemas.microsoft.com/office/drawing/2014/main" id="{70F06002-B1F0-419A-9269-3E937C842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3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060" name="Rectangle 20">
            <a:extLst>
              <a:ext uri="{FF2B5EF4-FFF2-40B4-BE49-F238E27FC236}">
                <a16:creationId xmlns:a16="http://schemas.microsoft.com/office/drawing/2014/main" id="{F25C0176-37D9-40B5-BA97-54DA70646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915" y="3524054"/>
            <a:ext cx="8477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Hence</a:t>
            </a:r>
          </a:p>
        </p:txBody>
      </p:sp>
      <p:sp>
        <p:nvSpPr>
          <p:cNvPr id="2061" name="Rectangle 22">
            <a:extLst>
              <a:ext uri="{FF2B5EF4-FFF2-40B4-BE49-F238E27FC236}">
                <a16:creationId xmlns:a16="http://schemas.microsoft.com/office/drawing/2014/main" id="{471FD5A3-068B-470A-9DFC-877B36186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3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2050" name="Object 21">
            <a:extLst>
              <a:ext uri="{FF2B5EF4-FFF2-40B4-BE49-F238E27FC236}">
                <a16:creationId xmlns:a16="http://schemas.microsoft.com/office/drawing/2014/main" id="{CBDE0352-DBBC-4345-9934-70AC138198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962400"/>
          <a:ext cx="31146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8" name="Equation" r:id="rId4" imgW="3111500" imgH="787400" progId="Equation.3">
                  <p:embed/>
                </p:oleObj>
              </mc:Choice>
              <mc:Fallback>
                <p:oleObj name="Equation" r:id="rId4" imgW="3111500" imgH="787400" progId="Equation.3">
                  <p:embed/>
                  <p:pic>
                    <p:nvPicPr>
                      <p:cNvPr id="2050" name="Object 21">
                        <a:extLst>
                          <a:ext uri="{FF2B5EF4-FFF2-40B4-BE49-F238E27FC236}">
                            <a16:creationId xmlns:a16="http://schemas.microsoft.com/office/drawing/2014/main" id="{CBDE0352-DBBC-4345-9934-70AC138198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962400"/>
                        <a:ext cx="311467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2" name="Rectangle 25">
            <a:extLst>
              <a:ext uri="{FF2B5EF4-FFF2-40B4-BE49-F238E27FC236}">
                <a16:creationId xmlns:a16="http://schemas.microsoft.com/office/drawing/2014/main" id="{5D9F851D-1884-409F-9B2D-12B16B2D7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063" name="Rectangle 27">
            <a:extLst>
              <a:ext uri="{FF2B5EF4-FFF2-40B4-BE49-F238E27FC236}">
                <a16:creationId xmlns:a16="http://schemas.microsoft.com/office/drawing/2014/main" id="{FFB46460-8B76-420A-8FE8-BBCE3059B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pSp>
        <p:nvGrpSpPr>
          <p:cNvPr id="2064" name="Group 30">
            <a:extLst>
              <a:ext uri="{FF2B5EF4-FFF2-40B4-BE49-F238E27FC236}">
                <a16:creationId xmlns:a16="http://schemas.microsoft.com/office/drawing/2014/main" id="{1F60CEEA-7B8B-4142-BAD4-FECCF03B4C3F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836435"/>
            <a:ext cx="5562600" cy="381000"/>
            <a:chOff x="528" y="3216"/>
            <a:chExt cx="3504" cy="240"/>
          </a:xfrm>
        </p:grpSpPr>
        <p:sp>
          <p:nvSpPr>
            <p:cNvPr id="2066" name="Text Box 23">
              <a:extLst>
                <a:ext uri="{FF2B5EF4-FFF2-40B4-BE49-F238E27FC236}">
                  <a16:creationId xmlns:a16="http://schemas.microsoft.com/office/drawing/2014/main" id="{0C5899B5-514B-4CFC-986A-EBDBCEE9A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216"/>
              <a:ext cx="350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Where              is a second order polynomial. </a:t>
              </a:r>
            </a:p>
          </p:txBody>
        </p:sp>
        <p:graphicFrame>
          <p:nvGraphicFramePr>
            <p:cNvPr id="2052" name="Object 26">
              <a:extLst>
                <a:ext uri="{FF2B5EF4-FFF2-40B4-BE49-F238E27FC236}">
                  <a16:creationId xmlns:a16="http://schemas.microsoft.com/office/drawing/2014/main" id="{4740932D-027A-447B-B422-A6ADA64123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3216"/>
            <a:ext cx="48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9" name="Microsoft Equation 3.0" r:id="rId6" imgW="774364" imgH="368140" progId="Equation.3">
                    <p:embed/>
                  </p:oleObj>
                </mc:Choice>
                <mc:Fallback>
                  <p:oleObj name="Microsoft Equation 3.0" r:id="rId6" imgW="774364" imgH="368140" progId="Equation.3">
                    <p:embed/>
                    <p:pic>
                      <p:nvPicPr>
                        <p:cNvPr id="2052" name="Object 26">
                          <a:extLst>
                            <a:ext uri="{FF2B5EF4-FFF2-40B4-BE49-F238E27FC236}">
                              <a16:creationId xmlns:a16="http://schemas.microsoft.com/office/drawing/2014/main" id="{4740932D-027A-447B-B422-A6ADA641231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3216"/>
                          <a:ext cx="486" cy="2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65" name="Rectangle 29">
            <a:extLst>
              <a:ext uri="{FF2B5EF4-FFF2-40B4-BE49-F238E27FC236}">
                <a16:creationId xmlns:a16="http://schemas.microsoft.com/office/drawing/2014/main" id="{5FAEF005-9195-4CC2-B343-985D8A606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2051" name="Object 28">
            <a:extLst>
              <a:ext uri="{FF2B5EF4-FFF2-40B4-BE49-F238E27FC236}">
                <a16:creationId xmlns:a16="http://schemas.microsoft.com/office/drawing/2014/main" id="{5EF2B3CF-F10A-4EFF-AD5D-00E2291E6C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6849" y="5518605"/>
          <a:ext cx="28225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0" name="Equation" r:id="rId8" imgW="2819160" imgH="431640" progId="Equation.3">
                  <p:embed/>
                </p:oleObj>
              </mc:Choice>
              <mc:Fallback>
                <p:oleObj name="Equation" r:id="rId8" imgW="2819160" imgH="431640" progId="Equation.3">
                  <p:embed/>
                  <p:pic>
                    <p:nvPicPr>
                      <p:cNvPr id="2051" name="Object 28">
                        <a:extLst>
                          <a:ext uri="{FF2B5EF4-FFF2-40B4-BE49-F238E27FC236}">
                            <a16:creationId xmlns:a16="http://schemas.microsoft.com/office/drawing/2014/main" id="{5EF2B3CF-F10A-4EFF-AD5D-00E2291E6C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849" y="5518605"/>
                        <a:ext cx="28225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Footer Placeholder 6">
            <a:extLst>
              <a:ext uri="{FF2B5EF4-FFF2-40B4-BE49-F238E27FC236}">
                <a16:creationId xmlns:a16="http://schemas.microsoft.com/office/drawing/2014/main" id="{8ED8407D-2A27-4029-85D1-78E675C8E4C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081" name="Slide Number Placeholder 7">
            <a:extLst>
              <a:ext uri="{FF2B5EF4-FFF2-40B4-BE49-F238E27FC236}">
                <a16:creationId xmlns:a16="http://schemas.microsoft.com/office/drawing/2014/main" id="{7CB3211B-8069-4FCD-8237-8B2146192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DC7714-AF4B-45B3-A4E5-6723095F2363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082" name="Rectangle 2">
            <a:extLst>
              <a:ext uri="{FF2B5EF4-FFF2-40B4-BE49-F238E27FC236}">
                <a16:creationId xmlns:a16="http://schemas.microsoft.com/office/drawing/2014/main" id="{D77E01D4-8718-424D-B134-DF0C2BE61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2800" dirty="0"/>
              <a:t>Basis of Simpson’s 1/3</a:t>
            </a:r>
            <a:r>
              <a:rPr lang="en-US" altLang="en-US" sz="2800" baseline="30000" dirty="0"/>
              <a:t>rd</a:t>
            </a:r>
            <a:r>
              <a:rPr lang="en-US" altLang="en-US" sz="2800" dirty="0"/>
              <a:t> Rule</a:t>
            </a:r>
          </a:p>
        </p:txBody>
      </p:sp>
      <p:sp>
        <p:nvSpPr>
          <p:cNvPr id="3083" name="Text Box 5">
            <a:extLst>
              <a:ext uri="{FF2B5EF4-FFF2-40B4-BE49-F238E27FC236}">
                <a16:creationId xmlns:a16="http://schemas.microsoft.com/office/drawing/2014/main" id="{43FCAB24-C96E-47AA-AB12-1890B73E1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048000"/>
            <a:ext cx="533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084" name="Rectangle 28">
            <a:extLst>
              <a:ext uri="{FF2B5EF4-FFF2-40B4-BE49-F238E27FC236}">
                <a16:creationId xmlns:a16="http://schemas.microsoft.com/office/drawing/2014/main" id="{EBC5625C-EB0A-4EE5-A467-2EB85071B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085" name="Rectangle 30">
            <a:extLst>
              <a:ext uri="{FF2B5EF4-FFF2-40B4-BE49-F238E27FC236}">
                <a16:creationId xmlns:a16="http://schemas.microsoft.com/office/drawing/2014/main" id="{BE33456D-C6DB-41C9-8931-18A4C2A68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3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087" name="Rectangle 34">
            <a:extLst>
              <a:ext uri="{FF2B5EF4-FFF2-40B4-BE49-F238E27FC236}">
                <a16:creationId xmlns:a16="http://schemas.microsoft.com/office/drawing/2014/main" id="{74BE0B33-B324-4659-AD8A-D512985D5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209800"/>
            <a:ext cx="10382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Choose </a:t>
            </a:r>
          </a:p>
        </p:txBody>
      </p:sp>
      <p:sp>
        <p:nvSpPr>
          <p:cNvPr id="3088" name="Rectangle 38">
            <a:extLst>
              <a:ext uri="{FF2B5EF4-FFF2-40B4-BE49-F238E27FC236}">
                <a16:creationId xmlns:a16="http://schemas.microsoft.com/office/drawing/2014/main" id="{86EA13F2-8217-403D-B6A2-385E9890B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92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090" name="Rectangle 40">
            <a:extLst>
              <a:ext uri="{FF2B5EF4-FFF2-40B4-BE49-F238E27FC236}">
                <a16:creationId xmlns:a16="http://schemas.microsoft.com/office/drawing/2014/main" id="{72EA683A-6281-47B1-BDD1-B2D3F3621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4888"/>
            <a:ext cx="222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91" name="Rectangle 41">
            <a:extLst>
              <a:ext uri="{FF2B5EF4-FFF2-40B4-BE49-F238E27FC236}">
                <a16:creationId xmlns:a16="http://schemas.microsoft.com/office/drawing/2014/main" id="{7E6404B8-5E88-4756-AB7D-A825ED4CA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62425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AE1FA6-CA68-4561-8063-06E47875AAA9}"/>
              </a:ext>
            </a:extLst>
          </p:cNvPr>
          <p:cNvGrpSpPr/>
          <p:nvPr/>
        </p:nvGrpSpPr>
        <p:grpSpPr>
          <a:xfrm>
            <a:off x="1600200" y="2667000"/>
            <a:ext cx="5724525" cy="809625"/>
            <a:chOff x="1600200" y="2667000"/>
            <a:chExt cx="5724525" cy="809625"/>
          </a:xfrm>
        </p:grpSpPr>
        <p:graphicFrame>
          <p:nvGraphicFramePr>
            <p:cNvPr id="3074" name="Object 37">
              <a:extLst>
                <a:ext uri="{FF2B5EF4-FFF2-40B4-BE49-F238E27FC236}">
                  <a16:creationId xmlns:a16="http://schemas.microsoft.com/office/drawing/2014/main" id="{56D442FB-A739-48FD-8F60-B3C590E215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00200" y="2895600"/>
            <a:ext cx="1247775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8" name="Equation" r:id="rId4" imgW="1244600" imgH="342900" progId="Equation.3">
                    <p:embed/>
                  </p:oleObj>
                </mc:Choice>
                <mc:Fallback>
                  <p:oleObj name="Equation" r:id="rId4" imgW="1244600" imgH="342900" progId="Equation.3">
                    <p:embed/>
                    <p:pic>
                      <p:nvPicPr>
                        <p:cNvPr id="3074" name="Object 37">
                          <a:extLst>
                            <a:ext uri="{FF2B5EF4-FFF2-40B4-BE49-F238E27FC236}">
                              <a16:creationId xmlns:a16="http://schemas.microsoft.com/office/drawing/2014/main" id="{56D442FB-A739-48FD-8F60-B3C590E215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200" y="2895600"/>
                          <a:ext cx="1247775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" name="Object 36">
              <a:extLst>
                <a:ext uri="{FF2B5EF4-FFF2-40B4-BE49-F238E27FC236}">
                  <a16:creationId xmlns:a16="http://schemas.microsoft.com/office/drawing/2014/main" id="{A64FB4B4-4FC5-4DC3-9BBE-A50C070E48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71800" y="2667000"/>
            <a:ext cx="2257425" cy="809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9" name="Equation" r:id="rId6" imgW="2260600" imgH="812800" progId="Equation.3">
                    <p:embed/>
                  </p:oleObj>
                </mc:Choice>
                <mc:Fallback>
                  <p:oleObj name="Equation" r:id="rId6" imgW="2260600" imgH="812800" progId="Equation.3">
                    <p:embed/>
                    <p:pic>
                      <p:nvPicPr>
                        <p:cNvPr id="3075" name="Object 36">
                          <a:extLst>
                            <a:ext uri="{FF2B5EF4-FFF2-40B4-BE49-F238E27FC236}">
                              <a16:creationId xmlns:a16="http://schemas.microsoft.com/office/drawing/2014/main" id="{A64FB4B4-4FC5-4DC3-9BBE-A50C070E48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800" y="2667000"/>
                          <a:ext cx="2257425" cy="809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" name="Object 35">
              <a:extLst>
                <a:ext uri="{FF2B5EF4-FFF2-40B4-BE49-F238E27FC236}">
                  <a16:creationId xmlns:a16="http://schemas.microsoft.com/office/drawing/2014/main" id="{D2F308BA-1372-479F-9E16-E47D8363E8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72200" y="2895600"/>
            <a:ext cx="1152525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0" name="Equation" r:id="rId8" imgW="1155700" imgH="342900" progId="Equation.3">
                    <p:embed/>
                  </p:oleObj>
                </mc:Choice>
                <mc:Fallback>
                  <p:oleObj name="Equation" r:id="rId8" imgW="1155700" imgH="342900" progId="Equation.3">
                    <p:embed/>
                    <p:pic>
                      <p:nvPicPr>
                        <p:cNvPr id="3076" name="Object 35">
                          <a:extLst>
                            <a:ext uri="{FF2B5EF4-FFF2-40B4-BE49-F238E27FC236}">
                              <a16:creationId xmlns:a16="http://schemas.microsoft.com/office/drawing/2014/main" id="{D2F308BA-1372-479F-9E16-E47D8363E8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2200" y="2895600"/>
                          <a:ext cx="1152525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2" name="Text Box 42">
              <a:extLst>
                <a:ext uri="{FF2B5EF4-FFF2-40B4-BE49-F238E27FC236}">
                  <a16:creationId xmlns:a16="http://schemas.microsoft.com/office/drawing/2014/main" id="{91CC884B-BD11-469F-9424-94E27B9C09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2895600"/>
              <a:ext cx="6096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and</a:t>
              </a:r>
            </a:p>
          </p:txBody>
        </p:sp>
      </p:grpSp>
      <p:sp>
        <p:nvSpPr>
          <p:cNvPr id="3093" name="Rectangle 43">
            <a:extLst>
              <a:ext uri="{FF2B5EF4-FFF2-40B4-BE49-F238E27FC236}">
                <a16:creationId xmlns:a16="http://schemas.microsoft.com/office/drawing/2014/main" id="{5A74A84A-5CA2-4A16-AAB5-9A7B034CF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581400"/>
            <a:ext cx="66722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as the three points of the function to evaluate a</a:t>
            </a:r>
            <a:r>
              <a:rPr kumimoji="0" lang="en-US" altLang="en-US" sz="19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0</a:t>
            </a: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, a</a:t>
            </a:r>
            <a:r>
              <a:rPr kumimoji="0" lang="en-US" altLang="en-US" sz="19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</a:t>
            </a: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and a</a:t>
            </a:r>
            <a:r>
              <a:rPr kumimoji="0" lang="en-US" altLang="en-US" sz="19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</a:t>
            </a: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. </a:t>
            </a:r>
          </a:p>
        </p:txBody>
      </p:sp>
      <p:sp>
        <p:nvSpPr>
          <p:cNvPr id="3094" name="Rectangle 47">
            <a:extLst>
              <a:ext uri="{FF2B5EF4-FFF2-40B4-BE49-F238E27FC236}">
                <a16:creationId xmlns:a16="http://schemas.microsoft.com/office/drawing/2014/main" id="{335076D2-B328-4BEA-9E87-169460D20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9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3077" name="Object 46">
            <a:extLst>
              <a:ext uri="{FF2B5EF4-FFF2-40B4-BE49-F238E27FC236}">
                <a16:creationId xmlns:a16="http://schemas.microsoft.com/office/drawing/2014/main" id="{E3C53DC2-8569-4575-8376-735CB5C92E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4267200"/>
          <a:ext cx="39528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1" name="Equation" r:id="rId10" imgW="3949700" imgH="431800" progId="Equation.3">
                  <p:embed/>
                </p:oleObj>
              </mc:Choice>
              <mc:Fallback>
                <p:oleObj name="Equation" r:id="rId10" imgW="3949700" imgH="431800" progId="Equation.3">
                  <p:embed/>
                  <p:pic>
                    <p:nvPicPr>
                      <p:cNvPr id="3077" name="Object 46">
                        <a:extLst>
                          <a:ext uri="{FF2B5EF4-FFF2-40B4-BE49-F238E27FC236}">
                            <a16:creationId xmlns:a16="http://schemas.microsoft.com/office/drawing/2014/main" id="{E3C53DC2-8569-4575-8376-735CB5C92E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267200"/>
                        <a:ext cx="39528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5" name="Rectangle 48">
            <a:extLst>
              <a:ext uri="{FF2B5EF4-FFF2-40B4-BE49-F238E27FC236}">
                <a16:creationId xmlns:a16="http://schemas.microsoft.com/office/drawing/2014/main" id="{9E062697-B777-4574-A05B-693B391E5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68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3078" name="Object 45">
            <a:extLst>
              <a:ext uri="{FF2B5EF4-FFF2-40B4-BE49-F238E27FC236}">
                <a16:creationId xmlns:a16="http://schemas.microsoft.com/office/drawing/2014/main" id="{445D3739-060B-4FDA-84B6-73DC5C2E0C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4876800"/>
          <a:ext cx="64103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2" name="Equation" r:id="rId12" imgW="6413500" imgH="850900" progId="Equation.3">
                  <p:embed/>
                </p:oleObj>
              </mc:Choice>
              <mc:Fallback>
                <p:oleObj name="Equation" r:id="rId12" imgW="6413500" imgH="850900" progId="Equation.3">
                  <p:embed/>
                  <p:pic>
                    <p:nvPicPr>
                      <p:cNvPr id="3078" name="Object 45">
                        <a:extLst>
                          <a:ext uri="{FF2B5EF4-FFF2-40B4-BE49-F238E27FC236}">
                            <a16:creationId xmlns:a16="http://schemas.microsoft.com/office/drawing/2014/main" id="{445D3739-060B-4FDA-84B6-73DC5C2E0C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876800"/>
                        <a:ext cx="6410325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6" name="Rectangle 49">
            <a:extLst>
              <a:ext uri="{FF2B5EF4-FFF2-40B4-BE49-F238E27FC236}">
                <a16:creationId xmlns:a16="http://schemas.microsoft.com/office/drawing/2014/main" id="{B92371DC-E98B-4DC9-93FF-8C28434AA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6338"/>
            <a:ext cx="7556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3079" name="Object 44">
            <a:extLst>
              <a:ext uri="{FF2B5EF4-FFF2-40B4-BE49-F238E27FC236}">
                <a16:creationId xmlns:a16="http://schemas.microsoft.com/office/drawing/2014/main" id="{CB3AA4D3-A2CC-46E4-8CEC-5512B8D57E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6019800"/>
          <a:ext cx="38862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3" name="Equation" r:id="rId14" imgW="3886200" imgH="431800" progId="Equation.3">
                  <p:embed/>
                </p:oleObj>
              </mc:Choice>
              <mc:Fallback>
                <p:oleObj name="Equation" r:id="rId14" imgW="3886200" imgH="431800" progId="Equation.3">
                  <p:embed/>
                  <p:pic>
                    <p:nvPicPr>
                      <p:cNvPr id="3079" name="Object 44">
                        <a:extLst>
                          <a:ext uri="{FF2B5EF4-FFF2-40B4-BE49-F238E27FC236}">
                            <a16:creationId xmlns:a16="http://schemas.microsoft.com/office/drawing/2014/main" id="{CB3AA4D3-A2CC-46E4-8CEC-5512B8D57E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6019800"/>
                        <a:ext cx="38862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22B32E7D-196E-4852-8158-AA1863D9A0F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91876" y="91371"/>
            <a:ext cx="2627697" cy="237340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3837E17-B4F4-4656-92FC-0F1E30E689A0}"/>
              </a:ext>
            </a:extLst>
          </p:cNvPr>
          <p:cNvSpPr txBox="1"/>
          <p:nvPr/>
        </p:nvSpPr>
        <p:spPr>
          <a:xfrm>
            <a:off x="1268691" y="146859"/>
            <a:ext cx="4572000" cy="919401"/>
          </a:xfrm>
          <a:prstGeom prst="flowChartAlternateProcess">
            <a:avLst/>
          </a:prstGeom>
          <a:solidFill>
            <a:srgbClr val="FFF7D5"/>
          </a:solidFill>
          <a:ln>
            <a:solidFill>
              <a:srgbClr val="000000"/>
            </a:solidFill>
            <a:prstDash val="sysDash"/>
          </a:ln>
        </p:spPr>
        <p:txBody>
          <a:bodyPr wrap="square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Simpson's Rule is based on the fact that given three points, we can find the equation of a quadratic through those points.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Footer Placeholder 3">
            <a:extLst>
              <a:ext uri="{FF2B5EF4-FFF2-40B4-BE49-F238E27FC236}">
                <a16:creationId xmlns:a16="http://schemas.microsoft.com/office/drawing/2014/main" id="{75F74776-799C-43AB-B937-E91B7481DF0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102" name="Slide Number Placeholder 4">
            <a:extLst>
              <a:ext uri="{FF2B5EF4-FFF2-40B4-BE49-F238E27FC236}">
                <a16:creationId xmlns:a16="http://schemas.microsoft.com/office/drawing/2014/main" id="{D5093C09-4E36-47F8-96FC-40C151A5D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96DC3C-45EF-41EE-9FCE-15EE0FA0D684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103" name="Rectangle 3">
            <a:extLst>
              <a:ext uri="{FF2B5EF4-FFF2-40B4-BE49-F238E27FC236}">
                <a16:creationId xmlns:a16="http://schemas.microsoft.com/office/drawing/2014/main" id="{DB97221F-F00D-47A5-B61B-4BE9EBAC3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Basis of Simpson’s 1/3</a:t>
            </a:r>
            <a:r>
              <a:rPr lang="en-US" altLang="en-US" baseline="30000"/>
              <a:t>rd</a:t>
            </a:r>
            <a:r>
              <a:rPr lang="en-US" altLang="en-US"/>
              <a:t> Rule</a:t>
            </a:r>
          </a:p>
        </p:txBody>
      </p:sp>
      <p:sp>
        <p:nvSpPr>
          <p:cNvPr id="4104" name="Rectangle 6">
            <a:extLst>
              <a:ext uri="{FF2B5EF4-FFF2-40B4-BE49-F238E27FC236}">
                <a16:creationId xmlns:a16="http://schemas.microsoft.com/office/drawing/2014/main" id="{B82B360F-B40A-44B9-8F0F-54D2F8C93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105" name="Rectangle 11">
            <a:extLst>
              <a:ext uri="{FF2B5EF4-FFF2-40B4-BE49-F238E27FC236}">
                <a16:creationId xmlns:a16="http://schemas.microsoft.com/office/drawing/2014/main" id="{EA64C96D-9FBD-4648-88A6-D016009EF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35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106" name="Rectangle 12">
            <a:extLst>
              <a:ext uri="{FF2B5EF4-FFF2-40B4-BE49-F238E27FC236}">
                <a16:creationId xmlns:a16="http://schemas.microsoft.com/office/drawing/2014/main" id="{644D0A75-1E7A-4494-AE1B-454A3738E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25725"/>
            <a:ext cx="2127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107" name="Rectangle 14">
            <a:extLst>
              <a:ext uri="{FF2B5EF4-FFF2-40B4-BE49-F238E27FC236}">
                <a16:creationId xmlns:a16="http://schemas.microsoft.com/office/drawing/2014/main" id="{81CC52CF-0D31-496A-802C-867EAF8E8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209800"/>
            <a:ext cx="574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Solving the previous equations for a</a:t>
            </a:r>
            <a:r>
              <a:rPr kumimoji="0" lang="en-US" altLang="en-US" sz="19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0</a:t>
            </a: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, a</a:t>
            </a:r>
            <a:r>
              <a:rPr kumimoji="0" lang="en-US" altLang="en-US" sz="19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</a:t>
            </a: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and a</a:t>
            </a:r>
            <a:r>
              <a:rPr kumimoji="0" lang="en-US" altLang="en-US" sz="19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 </a:t>
            </a: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give</a:t>
            </a:r>
          </a:p>
        </p:txBody>
      </p:sp>
      <p:sp>
        <p:nvSpPr>
          <p:cNvPr id="4108" name="Rectangle 18">
            <a:extLst>
              <a:ext uri="{FF2B5EF4-FFF2-40B4-BE49-F238E27FC236}">
                <a16:creationId xmlns:a16="http://schemas.microsoft.com/office/drawing/2014/main" id="{BA3F602E-77A4-4E0C-B7BE-9588432DE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5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4098" name="Object 17">
            <a:extLst>
              <a:ext uri="{FF2B5EF4-FFF2-40B4-BE49-F238E27FC236}">
                <a16:creationId xmlns:a16="http://schemas.microsoft.com/office/drawing/2014/main" id="{C9C83D18-115A-490C-8233-06F33E5471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2819400"/>
          <a:ext cx="7048500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6" name="Equation" r:id="rId4" imgW="7048500" imgH="1168400" progId="Equation.3">
                  <p:embed/>
                </p:oleObj>
              </mc:Choice>
              <mc:Fallback>
                <p:oleObj name="Equation" r:id="rId4" imgW="7048500" imgH="1168400" progId="Equation.3">
                  <p:embed/>
                  <p:pic>
                    <p:nvPicPr>
                      <p:cNvPr id="4098" name="Object 17">
                        <a:extLst>
                          <a:ext uri="{FF2B5EF4-FFF2-40B4-BE49-F238E27FC236}">
                            <a16:creationId xmlns:a16="http://schemas.microsoft.com/office/drawing/2014/main" id="{C9C83D18-115A-490C-8233-06F33E5471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819400"/>
                        <a:ext cx="7048500" cy="1171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9" name="Rectangle 19">
            <a:extLst>
              <a:ext uri="{FF2B5EF4-FFF2-40B4-BE49-F238E27FC236}">
                <a16:creationId xmlns:a16="http://schemas.microsoft.com/office/drawing/2014/main" id="{757B07D8-0720-4C58-B21D-BC27BD0D7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4099" name="Object 16">
            <a:extLst>
              <a:ext uri="{FF2B5EF4-FFF2-40B4-BE49-F238E27FC236}">
                <a16:creationId xmlns:a16="http://schemas.microsoft.com/office/drawing/2014/main" id="{F2FDA199-5E10-4212-9EF8-F03C02BD48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4114800"/>
          <a:ext cx="8296275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7" name="Equation" r:id="rId6" imgW="8293100" imgH="1168400" progId="Equation.3">
                  <p:embed/>
                </p:oleObj>
              </mc:Choice>
              <mc:Fallback>
                <p:oleObj name="Equation" r:id="rId6" imgW="8293100" imgH="1168400" progId="Equation.3">
                  <p:embed/>
                  <p:pic>
                    <p:nvPicPr>
                      <p:cNvPr id="4099" name="Object 16">
                        <a:extLst>
                          <a:ext uri="{FF2B5EF4-FFF2-40B4-BE49-F238E27FC236}">
                            <a16:creationId xmlns:a16="http://schemas.microsoft.com/office/drawing/2014/main" id="{F2FDA199-5E10-4212-9EF8-F03C02BD48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114800"/>
                        <a:ext cx="8296275" cy="1171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0" name="Rectangle 20">
            <a:extLst>
              <a:ext uri="{FF2B5EF4-FFF2-40B4-BE49-F238E27FC236}">
                <a16:creationId xmlns:a16="http://schemas.microsoft.com/office/drawing/2014/main" id="{1554C043-F988-438D-8A11-0604E4F50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68738"/>
            <a:ext cx="641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4100" name="Object 15">
            <a:extLst>
              <a:ext uri="{FF2B5EF4-FFF2-40B4-BE49-F238E27FC236}">
                <a16:creationId xmlns:a16="http://schemas.microsoft.com/office/drawing/2014/main" id="{A39998F2-687C-4DC4-AAA3-C528C48AF8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5410200"/>
          <a:ext cx="429577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8" name="Equation" r:id="rId8" imgW="4292600" imgH="1193800" progId="Equation.3">
                  <p:embed/>
                </p:oleObj>
              </mc:Choice>
              <mc:Fallback>
                <p:oleObj name="Equation" r:id="rId8" imgW="4292600" imgH="1193800" progId="Equation.3">
                  <p:embed/>
                  <p:pic>
                    <p:nvPicPr>
                      <p:cNvPr id="4100" name="Object 15">
                        <a:extLst>
                          <a:ext uri="{FF2B5EF4-FFF2-40B4-BE49-F238E27FC236}">
                            <a16:creationId xmlns:a16="http://schemas.microsoft.com/office/drawing/2014/main" id="{A39998F2-687C-4DC4-AAA3-C528C48AF8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410200"/>
                        <a:ext cx="4295775" cy="1190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Footer Placeholder 3">
            <a:extLst>
              <a:ext uri="{FF2B5EF4-FFF2-40B4-BE49-F238E27FC236}">
                <a16:creationId xmlns:a16="http://schemas.microsoft.com/office/drawing/2014/main" id="{A84E2A80-FCDB-43C4-9BCD-1FF2F5714AA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127" name="Slide Number Placeholder 4">
            <a:extLst>
              <a:ext uri="{FF2B5EF4-FFF2-40B4-BE49-F238E27FC236}">
                <a16:creationId xmlns:a16="http://schemas.microsoft.com/office/drawing/2014/main" id="{3ADB05B7-C9D2-44DF-A303-FF972CAE4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68DFBD-24E6-4878-AB1D-B7D784F85932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128" name="Rectangle 2">
            <a:extLst>
              <a:ext uri="{FF2B5EF4-FFF2-40B4-BE49-F238E27FC236}">
                <a16:creationId xmlns:a16="http://schemas.microsoft.com/office/drawing/2014/main" id="{DF1D51AE-07BD-4030-87E9-0ED4EF293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Basis of Simpson’s 1/3</a:t>
            </a:r>
            <a:r>
              <a:rPr lang="en-US" altLang="en-US" baseline="30000"/>
              <a:t>rd</a:t>
            </a:r>
            <a:r>
              <a:rPr lang="en-US" altLang="en-US"/>
              <a:t> Rule</a:t>
            </a:r>
          </a:p>
        </p:txBody>
      </p:sp>
      <p:sp>
        <p:nvSpPr>
          <p:cNvPr id="5129" name="Text Box 3">
            <a:extLst>
              <a:ext uri="{FF2B5EF4-FFF2-40B4-BE49-F238E27FC236}">
                <a16:creationId xmlns:a16="http://schemas.microsoft.com/office/drawing/2014/main" id="{8115A482-CC8C-4452-96B5-706CCCE84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41481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130" name="Rectangle 29">
            <a:extLst>
              <a:ext uri="{FF2B5EF4-FFF2-40B4-BE49-F238E27FC236}">
                <a16:creationId xmlns:a16="http://schemas.microsoft.com/office/drawing/2014/main" id="{DB166427-C4BC-463D-906A-9455ABF0D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131" name="Rectangle 31">
            <a:extLst>
              <a:ext uri="{FF2B5EF4-FFF2-40B4-BE49-F238E27FC236}">
                <a16:creationId xmlns:a16="http://schemas.microsoft.com/office/drawing/2014/main" id="{60100C9D-12A5-460F-9A3E-657AD1BF3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95700"/>
            <a:ext cx="1143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32" name="Rectangle 33">
            <a:extLst>
              <a:ext uri="{FF2B5EF4-FFF2-40B4-BE49-F238E27FC236}">
                <a16:creationId xmlns:a16="http://schemas.microsoft.com/office/drawing/2014/main" id="{CBE3CEDA-2F05-4813-9061-27EFA25AC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59075"/>
            <a:ext cx="1212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33" name="Rectangle 34">
            <a:extLst>
              <a:ext uri="{FF2B5EF4-FFF2-40B4-BE49-F238E27FC236}">
                <a16:creationId xmlns:a16="http://schemas.microsoft.com/office/drawing/2014/main" id="{3AFF0B32-594A-455D-9408-717D50319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57613"/>
            <a:ext cx="12128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34" name="Rectangle 35">
            <a:extLst>
              <a:ext uri="{FF2B5EF4-FFF2-40B4-BE49-F238E27FC236}">
                <a16:creationId xmlns:a16="http://schemas.microsoft.com/office/drawing/2014/main" id="{DA5ED801-BC77-4C9D-91B7-830A0C36F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2027238"/>
            <a:ext cx="298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35" name="Rectangle 36">
            <a:extLst>
              <a:ext uri="{FF2B5EF4-FFF2-40B4-BE49-F238E27FC236}">
                <a16:creationId xmlns:a16="http://schemas.microsoft.com/office/drawing/2014/main" id="{4F7B0603-BD35-481A-A813-A937F2EA9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2949575"/>
            <a:ext cx="1212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36" name="Rectangle 37">
            <a:extLst>
              <a:ext uri="{FF2B5EF4-FFF2-40B4-BE49-F238E27FC236}">
                <a16:creationId xmlns:a16="http://schemas.microsoft.com/office/drawing/2014/main" id="{415A7DA8-359C-4A8B-AFFF-C1355E812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871913"/>
            <a:ext cx="12128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37" name="Rectangle 91">
            <a:extLst>
              <a:ext uri="{FF2B5EF4-FFF2-40B4-BE49-F238E27FC236}">
                <a16:creationId xmlns:a16="http://schemas.microsoft.com/office/drawing/2014/main" id="{F7E57E65-A0C9-469B-A024-679FFD295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3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138" name="Rectangle 96">
            <a:extLst>
              <a:ext uri="{FF2B5EF4-FFF2-40B4-BE49-F238E27FC236}">
                <a16:creationId xmlns:a16="http://schemas.microsoft.com/office/drawing/2014/main" id="{2AF7C4AC-011D-4E50-9ED4-F49D387ED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11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139" name="Rectangle 97">
            <a:extLst>
              <a:ext uri="{FF2B5EF4-FFF2-40B4-BE49-F238E27FC236}">
                <a16:creationId xmlns:a16="http://schemas.microsoft.com/office/drawing/2014/main" id="{FC0EE940-C443-4E40-B309-42313A01E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97200"/>
            <a:ext cx="2012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40" name="Rectangle 98">
            <a:extLst>
              <a:ext uri="{FF2B5EF4-FFF2-40B4-BE49-F238E27FC236}">
                <a16:creationId xmlns:a16="http://schemas.microsoft.com/office/drawing/2014/main" id="{4746F5D2-3EF8-4015-8E8B-8F5D6262E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9513"/>
            <a:ext cx="20129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41" name="Rectangle 99">
            <a:extLst>
              <a:ext uri="{FF2B5EF4-FFF2-40B4-BE49-F238E27FC236}">
                <a16:creationId xmlns:a16="http://schemas.microsoft.com/office/drawing/2014/main" id="{79FC3B99-40E7-4FE6-B547-D79B98E85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1825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42" name="Text Box 100">
            <a:extLst>
              <a:ext uri="{FF2B5EF4-FFF2-40B4-BE49-F238E27FC236}">
                <a16:creationId xmlns:a16="http://schemas.microsoft.com/office/drawing/2014/main" id="{41767348-3CCA-4B1A-880B-FD0255AE2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209800"/>
            <a:ext cx="1295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Then</a:t>
            </a:r>
          </a:p>
        </p:txBody>
      </p:sp>
      <p:sp>
        <p:nvSpPr>
          <p:cNvPr id="5143" name="Rectangle 105">
            <a:extLst>
              <a:ext uri="{FF2B5EF4-FFF2-40B4-BE49-F238E27FC236}">
                <a16:creationId xmlns:a16="http://schemas.microsoft.com/office/drawing/2014/main" id="{F91BB76C-8397-49C6-A4BF-5800B13C2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144" name="Rectangle 106">
            <a:extLst>
              <a:ext uri="{FF2B5EF4-FFF2-40B4-BE49-F238E27FC236}">
                <a16:creationId xmlns:a16="http://schemas.microsoft.com/office/drawing/2014/main" id="{CB1E52ED-5FAC-4616-8D7B-D00C652EF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0575"/>
            <a:ext cx="1212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45" name="Rectangle 107">
            <a:extLst>
              <a:ext uri="{FF2B5EF4-FFF2-40B4-BE49-F238E27FC236}">
                <a16:creationId xmlns:a16="http://schemas.microsoft.com/office/drawing/2014/main" id="{89A6FC6B-2520-41D4-B32A-14E97F156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55788"/>
            <a:ext cx="12128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46" name="Rectangle 108">
            <a:extLst>
              <a:ext uri="{FF2B5EF4-FFF2-40B4-BE49-F238E27FC236}">
                <a16:creationId xmlns:a16="http://schemas.microsoft.com/office/drawing/2014/main" id="{62D2D148-FAEF-4BAD-AB95-BD0BE8849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92450"/>
            <a:ext cx="1212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5122" name="Object 104">
            <a:extLst>
              <a:ext uri="{FF2B5EF4-FFF2-40B4-BE49-F238E27FC236}">
                <a16:creationId xmlns:a16="http://schemas.microsoft.com/office/drawing/2014/main" id="{A9310F64-206E-4FFE-B006-6BCD018EE7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514600"/>
          <a:ext cx="16859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2" name="Equation" r:id="rId4" imgW="1689100" imgH="787400" progId="Equation.3">
                  <p:embed/>
                </p:oleObj>
              </mc:Choice>
              <mc:Fallback>
                <p:oleObj name="Equation" r:id="rId4" imgW="1689100" imgH="787400" progId="Equation.3">
                  <p:embed/>
                  <p:pic>
                    <p:nvPicPr>
                      <p:cNvPr id="5122" name="Object 104">
                        <a:extLst>
                          <a:ext uri="{FF2B5EF4-FFF2-40B4-BE49-F238E27FC236}">
                            <a16:creationId xmlns:a16="http://schemas.microsoft.com/office/drawing/2014/main" id="{A9310F64-206E-4FFE-B006-6BCD018EE7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514600"/>
                        <a:ext cx="168592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103">
            <a:extLst>
              <a:ext uri="{FF2B5EF4-FFF2-40B4-BE49-F238E27FC236}">
                <a16:creationId xmlns:a16="http://schemas.microsoft.com/office/drawing/2014/main" id="{61ECC4E2-9443-44D1-998F-AECC009A1E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3276600"/>
          <a:ext cx="27432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3" name="Microsoft Equation 3.0" r:id="rId6" imgW="2743200" imgH="787400" progId="Equation.3">
                  <p:embed/>
                </p:oleObj>
              </mc:Choice>
              <mc:Fallback>
                <p:oleObj name="Microsoft Equation 3.0" r:id="rId6" imgW="2743200" imgH="787400" progId="Equation.3">
                  <p:embed/>
                  <p:pic>
                    <p:nvPicPr>
                      <p:cNvPr id="5123" name="Object 103">
                        <a:extLst>
                          <a:ext uri="{FF2B5EF4-FFF2-40B4-BE49-F238E27FC236}">
                            <a16:creationId xmlns:a16="http://schemas.microsoft.com/office/drawing/2014/main" id="{61ECC4E2-9443-44D1-998F-AECC009A1E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276600"/>
                        <a:ext cx="2743200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102">
            <a:extLst>
              <a:ext uri="{FF2B5EF4-FFF2-40B4-BE49-F238E27FC236}">
                <a16:creationId xmlns:a16="http://schemas.microsoft.com/office/drawing/2014/main" id="{D462AD54-4E97-47F7-B147-3963D3822F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4267200"/>
          <a:ext cx="296227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4" name="Equation" r:id="rId8" imgW="2959100" imgH="965200" progId="Equation.3">
                  <p:embed/>
                </p:oleObj>
              </mc:Choice>
              <mc:Fallback>
                <p:oleObj name="Equation" r:id="rId8" imgW="2959100" imgH="965200" progId="Equation.3">
                  <p:embed/>
                  <p:pic>
                    <p:nvPicPr>
                      <p:cNvPr id="5124" name="Object 102">
                        <a:extLst>
                          <a:ext uri="{FF2B5EF4-FFF2-40B4-BE49-F238E27FC236}">
                            <a16:creationId xmlns:a16="http://schemas.microsoft.com/office/drawing/2014/main" id="{D462AD54-4E97-47F7-B147-3963D3822F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267200"/>
                        <a:ext cx="2962275" cy="962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101">
            <a:extLst>
              <a:ext uri="{FF2B5EF4-FFF2-40B4-BE49-F238E27FC236}">
                <a16:creationId xmlns:a16="http://schemas.microsoft.com/office/drawing/2014/main" id="{C684FE6D-5768-4DB1-BD7E-AFCF730D8E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5410200"/>
          <a:ext cx="45053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5" name="Equation" r:id="rId10" imgW="4508500" imgH="787400" progId="Equation.3">
                  <p:embed/>
                </p:oleObj>
              </mc:Choice>
              <mc:Fallback>
                <p:oleObj name="Equation" r:id="rId10" imgW="4508500" imgH="787400" progId="Equation.3">
                  <p:embed/>
                  <p:pic>
                    <p:nvPicPr>
                      <p:cNvPr id="5125" name="Object 101">
                        <a:extLst>
                          <a:ext uri="{FF2B5EF4-FFF2-40B4-BE49-F238E27FC236}">
                            <a16:creationId xmlns:a16="http://schemas.microsoft.com/office/drawing/2014/main" id="{C684FE6D-5768-4DB1-BD7E-AFCF730D8E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410200"/>
                        <a:ext cx="450532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Footer Placeholder 5">
            <a:extLst>
              <a:ext uri="{FF2B5EF4-FFF2-40B4-BE49-F238E27FC236}">
                <a16:creationId xmlns:a16="http://schemas.microsoft.com/office/drawing/2014/main" id="{C5F71D4D-8B39-497E-BF96-A84F7C01642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149" name="Slide Number Placeholder 6">
            <a:extLst>
              <a:ext uri="{FF2B5EF4-FFF2-40B4-BE49-F238E27FC236}">
                <a16:creationId xmlns:a16="http://schemas.microsoft.com/office/drawing/2014/main" id="{44E8184E-0377-4917-8A4F-3968A860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CC1818-7B4A-44EE-BA8E-06980EAAF463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150" name="Rectangle 2">
            <a:extLst>
              <a:ext uri="{FF2B5EF4-FFF2-40B4-BE49-F238E27FC236}">
                <a16:creationId xmlns:a16="http://schemas.microsoft.com/office/drawing/2014/main" id="{4F10A057-A24B-4CB0-8FAA-7998A28623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Basis of Simpson’s 1/3</a:t>
            </a:r>
            <a:r>
              <a:rPr lang="en-US" altLang="en-US" baseline="30000"/>
              <a:t>rd</a:t>
            </a:r>
            <a:r>
              <a:rPr lang="en-US" altLang="en-US"/>
              <a:t> Rule</a:t>
            </a:r>
          </a:p>
        </p:txBody>
      </p:sp>
      <p:sp>
        <p:nvSpPr>
          <p:cNvPr id="6151" name="Rectangle 5">
            <a:extLst>
              <a:ext uri="{FF2B5EF4-FFF2-40B4-BE49-F238E27FC236}">
                <a16:creationId xmlns:a16="http://schemas.microsoft.com/office/drawing/2014/main" id="{AD1E9465-1910-4C68-B273-15542A7CE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152" name="Rectangle 10">
            <a:extLst>
              <a:ext uri="{FF2B5EF4-FFF2-40B4-BE49-F238E27FC236}">
                <a16:creationId xmlns:a16="http://schemas.microsoft.com/office/drawing/2014/main" id="{3098B9D2-A925-49E0-8082-4505E9D17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2930525"/>
            <a:ext cx="56705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457200" eaLnBrk="0" hangingPunct="0">
              <a:tabLst>
                <a:tab pos="5486400" algn="r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tabLst>
                <a:tab pos="5486400" algn="r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tabLst>
                <a:tab pos="5486400" algn="r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tabLst>
                <a:tab pos="5486400" algn="r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tabLst>
                <a:tab pos="5486400" algn="r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486400" algn="r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486400" algn="r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486400" algn="r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486400" algn="r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486400" algn="r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53" name="Rectangle 14">
            <a:extLst>
              <a:ext uri="{FF2B5EF4-FFF2-40B4-BE49-F238E27FC236}">
                <a16:creationId xmlns:a16="http://schemas.microsoft.com/office/drawing/2014/main" id="{F6D1D5EC-08DE-44A1-B1F3-27808CA81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154" name="Rectangle 21">
            <a:extLst>
              <a:ext uri="{FF2B5EF4-FFF2-40B4-BE49-F238E27FC236}">
                <a16:creationId xmlns:a16="http://schemas.microsoft.com/office/drawing/2014/main" id="{55C8E134-5804-48EA-976B-AA8B04DCD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65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155" name="Rectangle 22">
            <a:extLst>
              <a:ext uri="{FF2B5EF4-FFF2-40B4-BE49-F238E27FC236}">
                <a16:creationId xmlns:a16="http://schemas.microsoft.com/office/drawing/2014/main" id="{30845668-85C2-40A4-A8CF-FCB85BB99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36763"/>
            <a:ext cx="565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56" name="Rectangle 23">
            <a:extLst>
              <a:ext uri="{FF2B5EF4-FFF2-40B4-BE49-F238E27FC236}">
                <a16:creationId xmlns:a16="http://schemas.microsoft.com/office/drawing/2014/main" id="{EC4067CB-659A-4F92-8C47-FD1A92D26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82925"/>
            <a:ext cx="603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57" name="Rectangle 24">
            <a:extLst>
              <a:ext uri="{FF2B5EF4-FFF2-40B4-BE49-F238E27FC236}">
                <a16:creationId xmlns:a16="http://schemas.microsoft.com/office/drawing/2014/main" id="{F79E2FA6-3807-45A7-A538-9AE9F604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48138"/>
            <a:ext cx="603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58" name="Rectangle 25">
            <a:extLst>
              <a:ext uri="{FF2B5EF4-FFF2-40B4-BE49-F238E27FC236}">
                <a16:creationId xmlns:a16="http://schemas.microsoft.com/office/drawing/2014/main" id="{B3A25606-77CF-4962-A424-02FB03887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09800"/>
            <a:ext cx="6324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Substituting values of a</a:t>
            </a:r>
            <a:r>
              <a:rPr kumimoji="0" lang="en-US" altLang="en-US" sz="19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0</a:t>
            </a: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, a</a:t>
            </a:r>
            <a:r>
              <a:rPr kumimoji="0" lang="en-US" altLang="en-US" sz="19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</a:t>
            </a: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, a</a:t>
            </a:r>
            <a:r>
              <a:rPr kumimoji="0" lang="en-US" altLang="en-US" sz="19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2 </a:t>
            </a: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give</a:t>
            </a:r>
          </a:p>
        </p:txBody>
      </p:sp>
      <p:sp>
        <p:nvSpPr>
          <p:cNvPr id="6159" name="Rectangle 27">
            <a:extLst>
              <a:ext uri="{FF2B5EF4-FFF2-40B4-BE49-F238E27FC236}">
                <a16:creationId xmlns:a16="http://schemas.microsoft.com/office/drawing/2014/main" id="{1F731569-0B09-408D-9572-4FABDCDBE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24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6146" name="Object 26">
            <a:extLst>
              <a:ext uri="{FF2B5EF4-FFF2-40B4-BE49-F238E27FC236}">
                <a16:creationId xmlns:a16="http://schemas.microsoft.com/office/drawing/2014/main" id="{9B982748-17B1-4A74-A452-3E5E218E93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971800"/>
          <a:ext cx="56388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2" name="Equation" r:id="rId4" imgW="5638800" imgH="812800" progId="Equation.3">
                  <p:embed/>
                </p:oleObj>
              </mc:Choice>
              <mc:Fallback>
                <p:oleObj name="Equation" r:id="rId4" imgW="5638800" imgH="812800" progId="Equation.3">
                  <p:embed/>
                  <p:pic>
                    <p:nvPicPr>
                      <p:cNvPr id="6146" name="Object 26">
                        <a:extLst>
                          <a:ext uri="{FF2B5EF4-FFF2-40B4-BE49-F238E27FC236}">
                            <a16:creationId xmlns:a16="http://schemas.microsoft.com/office/drawing/2014/main" id="{9B982748-17B1-4A74-A452-3E5E218E93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971800"/>
                        <a:ext cx="5638800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0" name="Text Box 28">
            <a:extLst>
              <a:ext uri="{FF2B5EF4-FFF2-40B4-BE49-F238E27FC236}">
                <a16:creationId xmlns:a16="http://schemas.microsoft.com/office/drawing/2014/main" id="{A5D1EE9E-57A2-48D6-94BF-F7DE527A8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191000"/>
            <a:ext cx="6781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Since for Simpson’s 1/3rd Rule, the interval [a, b] is broken</a:t>
            </a:r>
          </a:p>
        </p:txBody>
      </p:sp>
      <p:sp>
        <p:nvSpPr>
          <p:cNvPr id="6161" name="Text Box 29">
            <a:extLst>
              <a:ext uri="{FF2B5EF4-FFF2-40B4-BE49-F238E27FC236}">
                <a16:creationId xmlns:a16="http://schemas.microsoft.com/office/drawing/2014/main" id="{B3A6E954-9B30-4A6C-BDF8-BC27BCC1D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648200"/>
            <a:ext cx="6400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into 2 segments, the segment width</a:t>
            </a:r>
          </a:p>
        </p:txBody>
      </p:sp>
      <p:sp>
        <p:nvSpPr>
          <p:cNvPr id="6162" name="Rectangle 31">
            <a:extLst>
              <a:ext uri="{FF2B5EF4-FFF2-40B4-BE49-F238E27FC236}">
                <a16:creationId xmlns:a16="http://schemas.microsoft.com/office/drawing/2014/main" id="{DD9B8E25-E9B6-4D2B-8418-56A2D568E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7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6147" name="Object 30">
            <a:extLst>
              <a:ext uri="{FF2B5EF4-FFF2-40B4-BE49-F238E27FC236}">
                <a16:creationId xmlns:a16="http://schemas.microsoft.com/office/drawing/2014/main" id="{DE2AB8CB-C909-4CB6-91AA-7DD728248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486400"/>
          <a:ext cx="1104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3" name="Equation" r:id="rId6" imgW="1104900" imgH="723900" progId="Equation.3">
                  <p:embed/>
                </p:oleObj>
              </mc:Choice>
              <mc:Fallback>
                <p:oleObj name="Equation" r:id="rId6" imgW="1104900" imgH="723900" progId="Equation.3">
                  <p:embed/>
                  <p:pic>
                    <p:nvPicPr>
                      <p:cNvPr id="6147" name="Object 30">
                        <a:extLst>
                          <a:ext uri="{FF2B5EF4-FFF2-40B4-BE49-F238E27FC236}">
                            <a16:creationId xmlns:a16="http://schemas.microsoft.com/office/drawing/2014/main" id="{DE2AB8CB-C909-4CB6-91AA-7DD7282488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486400"/>
                        <a:ext cx="11049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Footer Placeholder 4">
            <a:extLst>
              <a:ext uri="{FF2B5EF4-FFF2-40B4-BE49-F238E27FC236}">
                <a16:creationId xmlns:a16="http://schemas.microsoft.com/office/drawing/2014/main" id="{C982D455-51C9-4C1C-85D3-11C0EB2ACBE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A65E8FFA-B4D8-4F5B-8518-EC863034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8563FD-2802-4B42-BD64-A159501AA0AE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175" name="Rectangle 2">
            <a:extLst>
              <a:ext uri="{FF2B5EF4-FFF2-40B4-BE49-F238E27FC236}">
                <a16:creationId xmlns:a16="http://schemas.microsoft.com/office/drawing/2014/main" id="{A83A54B8-D665-40B2-B0A8-4235F618F3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Basis of Simpson’s 1/3</a:t>
            </a:r>
            <a:r>
              <a:rPr lang="en-US" altLang="en-US" baseline="30000"/>
              <a:t>rd</a:t>
            </a:r>
            <a:r>
              <a:rPr lang="en-US" altLang="en-US"/>
              <a:t> Rule</a:t>
            </a:r>
          </a:p>
        </p:txBody>
      </p:sp>
      <p:graphicFrame>
        <p:nvGraphicFramePr>
          <p:cNvPr id="7171" name="Object 5">
            <a:extLst>
              <a:ext uri="{FF2B5EF4-FFF2-40B4-BE49-F238E27FC236}">
                <a16:creationId xmlns:a16="http://schemas.microsoft.com/office/drawing/2014/main" id="{BEC5E2A8-655E-4E36-BC0D-7D579E8FBC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6"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7171" name="Object 5">
                        <a:extLst>
                          <a:ext uri="{FF2B5EF4-FFF2-40B4-BE49-F238E27FC236}">
                            <a16:creationId xmlns:a16="http://schemas.microsoft.com/office/drawing/2014/main" id="{BEC5E2A8-655E-4E36-BC0D-7D579E8FBC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Rectangle 51">
            <a:extLst>
              <a:ext uri="{FF2B5EF4-FFF2-40B4-BE49-F238E27FC236}">
                <a16:creationId xmlns:a16="http://schemas.microsoft.com/office/drawing/2014/main" id="{3A2A3B91-5633-40E9-9AAA-5B375C1F0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488" y="3762375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77" name="Rectangle 62">
            <a:extLst>
              <a:ext uri="{FF2B5EF4-FFF2-40B4-BE49-F238E27FC236}">
                <a16:creationId xmlns:a16="http://schemas.microsoft.com/office/drawing/2014/main" id="{6EA56944-7EC4-4179-874E-81B9FE6DC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178" name="Rectangle 63">
            <a:extLst>
              <a:ext uri="{FF2B5EF4-FFF2-40B4-BE49-F238E27FC236}">
                <a16:creationId xmlns:a16="http://schemas.microsoft.com/office/drawing/2014/main" id="{03D640A6-E9EC-4790-9AD6-A33062898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233363"/>
            <a:ext cx="64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79" name="Rectangle 64">
            <a:extLst>
              <a:ext uri="{FF2B5EF4-FFF2-40B4-BE49-F238E27FC236}">
                <a16:creationId xmlns:a16="http://schemas.microsoft.com/office/drawing/2014/main" id="{291F96BE-F00C-4188-97D0-C6B8DCCFB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947738"/>
            <a:ext cx="64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80" name="Rectangle 65">
            <a:extLst>
              <a:ext uri="{FF2B5EF4-FFF2-40B4-BE49-F238E27FC236}">
                <a16:creationId xmlns:a16="http://schemas.microsoft.com/office/drawing/2014/main" id="{86657627-588E-4959-9ED1-742BB36C9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00263"/>
            <a:ext cx="1098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81" name="Rectangle 66">
            <a:extLst>
              <a:ext uri="{FF2B5EF4-FFF2-40B4-BE49-F238E27FC236}">
                <a16:creationId xmlns:a16="http://schemas.microsoft.com/office/drawing/2014/main" id="{2A9F678E-0091-4D8A-AC96-142C745C4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6900"/>
            <a:ext cx="10985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82" name="Rectangle 67">
            <a:extLst>
              <a:ext uri="{FF2B5EF4-FFF2-40B4-BE49-F238E27FC236}">
                <a16:creationId xmlns:a16="http://schemas.microsoft.com/office/drawing/2014/main" id="{E041E19F-4749-4777-91F0-E63176891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6338"/>
            <a:ext cx="1098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83" name="Rectangle 68">
            <a:extLst>
              <a:ext uri="{FF2B5EF4-FFF2-40B4-BE49-F238E27FC236}">
                <a16:creationId xmlns:a16="http://schemas.microsoft.com/office/drawing/2014/main" id="{87F4657E-2F21-48F7-B3E9-1215F8DD1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52975"/>
            <a:ext cx="10985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84" name="Rectangle 69">
            <a:extLst>
              <a:ext uri="{FF2B5EF4-FFF2-40B4-BE49-F238E27FC236}">
                <a16:creationId xmlns:a16="http://schemas.microsoft.com/office/drawing/2014/main" id="{E64BAB0A-71EE-4552-B7C1-0D16B6DA4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32413"/>
            <a:ext cx="1098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85" name="Rectangle 70">
            <a:extLst>
              <a:ext uri="{FF2B5EF4-FFF2-40B4-BE49-F238E27FC236}">
                <a16:creationId xmlns:a16="http://schemas.microsoft.com/office/drawing/2014/main" id="{E5180E67-1E31-48F8-8D25-997902D92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2375"/>
            <a:ext cx="1212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86" name="Rectangle 71">
            <a:extLst>
              <a:ext uri="{FF2B5EF4-FFF2-40B4-BE49-F238E27FC236}">
                <a16:creationId xmlns:a16="http://schemas.microsoft.com/office/drawing/2014/main" id="{717E2738-9278-418F-B476-ABF532F3F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8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87" name="Rectangle 74">
            <a:extLst>
              <a:ext uri="{FF2B5EF4-FFF2-40B4-BE49-F238E27FC236}">
                <a16:creationId xmlns:a16="http://schemas.microsoft.com/office/drawing/2014/main" id="{36D09C00-8A1A-448B-A1C8-55D176681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1143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88" name="Rectangle 77">
            <a:extLst>
              <a:ext uri="{FF2B5EF4-FFF2-40B4-BE49-F238E27FC236}">
                <a16:creationId xmlns:a16="http://schemas.microsoft.com/office/drawing/2014/main" id="{5D400E5F-7B5E-4D6D-B828-E61FD28B4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950" y="3140075"/>
            <a:ext cx="10985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89" name="Rectangle 83">
            <a:extLst>
              <a:ext uri="{FF2B5EF4-FFF2-40B4-BE49-F238E27FC236}">
                <a16:creationId xmlns:a16="http://schemas.microsoft.com/office/drawing/2014/main" id="{79B8E2AB-DA8E-4310-87B9-EB55990F8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50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190" name="Rectangle 84">
            <a:extLst>
              <a:ext uri="{FF2B5EF4-FFF2-40B4-BE49-F238E27FC236}">
                <a16:creationId xmlns:a16="http://schemas.microsoft.com/office/drawing/2014/main" id="{157EDFF3-B25C-49C3-A7A7-A444CC71A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74863"/>
            <a:ext cx="1098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91" name="Rectangle 85">
            <a:extLst>
              <a:ext uri="{FF2B5EF4-FFF2-40B4-BE49-F238E27FC236}">
                <a16:creationId xmlns:a16="http://schemas.microsoft.com/office/drawing/2014/main" id="{5D19DE6A-B10C-42F7-B9BA-A226C2E21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3400"/>
            <a:ext cx="10985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92" name="Rectangle 87">
            <a:extLst>
              <a:ext uri="{FF2B5EF4-FFF2-40B4-BE49-F238E27FC236}">
                <a16:creationId xmlns:a16="http://schemas.microsoft.com/office/drawing/2014/main" id="{A684B1A8-17A7-4512-B3B4-5D179C7D9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3825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93" name="Rectangle 89">
            <a:extLst>
              <a:ext uri="{FF2B5EF4-FFF2-40B4-BE49-F238E27FC236}">
                <a16:creationId xmlns:a16="http://schemas.microsoft.com/office/drawing/2014/main" id="{6F73B3DB-5FC5-4028-A4DB-4EE4F1208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24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pSp>
        <p:nvGrpSpPr>
          <p:cNvPr id="7194" name="Group 92">
            <a:extLst>
              <a:ext uri="{FF2B5EF4-FFF2-40B4-BE49-F238E27FC236}">
                <a16:creationId xmlns:a16="http://schemas.microsoft.com/office/drawing/2014/main" id="{AE33AB77-B50D-4F3E-9EEE-41998959B44D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590800"/>
            <a:ext cx="8745538" cy="2574925"/>
            <a:chOff x="144" y="1344"/>
            <a:chExt cx="5509" cy="1622"/>
          </a:xfrm>
        </p:grpSpPr>
        <p:graphicFrame>
          <p:nvGraphicFramePr>
            <p:cNvPr id="7172" name="Object 88">
              <a:extLst>
                <a:ext uri="{FF2B5EF4-FFF2-40B4-BE49-F238E27FC236}">
                  <a16:creationId xmlns:a16="http://schemas.microsoft.com/office/drawing/2014/main" id="{4DFF2CED-737F-4C97-BC31-F25FEE982F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0" y="1728"/>
            <a:ext cx="3270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67" name="Equation" r:id="rId6" imgW="5194300" imgH="812800" progId="Equation.3">
                    <p:embed/>
                  </p:oleObj>
                </mc:Choice>
                <mc:Fallback>
                  <p:oleObj name="Equation" r:id="rId6" imgW="5194300" imgH="812800" progId="Equation.3">
                    <p:embed/>
                    <p:pic>
                      <p:nvPicPr>
                        <p:cNvPr id="7172" name="Object 88">
                          <a:extLst>
                            <a:ext uri="{FF2B5EF4-FFF2-40B4-BE49-F238E27FC236}">
                              <a16:creationId xmlns:a16="http://schemas.microsoft.com/office/drawing/2014/main" id="{4DFF2CED-737F-4C97-BC31-F25FEE982F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1728"/>
                          <a:ext cx="3270" cy="5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5" name="Text Box 90">
              <a:extLst>
                <a:ext uri="{FF2B5EF4-FFF2-40B4-BE49-F238E27FC236}">
                  <a16:creationId xmlns:a16="http://schemas.microsoft.com/office/drawing/2014/main" id="{1B2BDFFF-5225-4272-8279-FBC58F6681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344"/>
              <a:ext cx="124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Hence</a:t>
              </a:r>
            </a:p>
          </p:txBody>
        </p:sp>
        <p:sp>
          <p:nvSpPr>
            <p:cNvPr id="7196" name="Rectangle 91">
              <a:extLst>
                <a:ext uri="{FF2B5EF4-FFF2-40B4-BE49-F238E27FC236}">
                  <a16:creationId xmlns:a16="http://schemas.microsoft.com/office/drawing/2014/main" id="{451E314A-4B60-4F98-A685-9437204FF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496"/>
              <a:ext cx="5509" cy="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Because the above form has 1/3 in its formula, it is called Simpson’s 1/3rd Rule.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ooter Placeholder 4">
            <a:extLst>
              <a:ext uri="{FF2B5EF4-FFF2-40B4-BE49-F238E27FC236}">
                <a16:creationId xmlns:a16="http://schemas.microsoft.com/office/drawing/2014/main" id="{A8B84518-B256-463B-8A1E-AB3F4D91085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198" name="Slide Number Placeholder 5">
            <a:extLst>
              <a:ext uri="{FF2B5EF4-FFF2-40B4-BE49-F238E27FC236}">
                <a16:creationId xmlns:a16="http://schemas.microsoft.com/office/drawing/2014/main" id="{28085BAF-2DBE-41C8-A060-2BE76AE7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2438B0-6E3E-4AA0-BEFA-9CD13BEF46C1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199" name="Rectangle 2">
            <a:extLst>
              <a:ext uri="{FF2B5EF4-FFF2-40B4-BE49-F238E27FC236}">
                <a16:creationId xmlns:a16="http://schemas.microsoft.com/office/drawing/2014/main" id="{0DB976A2-4082-4F60-B9B6-872B871DA7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1</a:t>
            </a:r>
          </a:p>
        </p:txBody>
      </p:sp>
      <p:sp>
        <p:nvSpPr>
          <p:cNvPr id="8200" name="Rectangle 11">
            <a:extLst>
              <a:ext uri="{FF2B5EF4-FFF2-40B4-BE49-F238E27FC236}">
                <a16:creationId xmlns:a16="http://schemas.microsoft.com/office/drawing/2014/main" id="{D129F9AD-2AD4-401F-BC32-256CDF262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09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201" name="Rectangle 15">
            <a:extLst>
              <a:ext uri="{FF2B5EF4-FFF2-40B4-BE49-F238E27FC236}">
                <a16:creationId xmlns:a16="http://schemas.microsoft.com/office/drawing/2014/main" id="{C64B99DF-40C9-4350-822E-D7767E0BD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202" name="Rectangle 19">
            <a:extLst>
              <a:ext uri="{FF2B5EF4-FFF2-40B4-BE49-F238E27FC236}">
                <a16:creationId xmlns:a16="http://schemas.microsoft.com/office/drawing/2014/main" id="{4553ACBA-428B-4199-A0FF-81267814C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203" name="Rectangle 25">
            <a:extLst>
              <a:ext uri="{FF2B5EF4-FFF2-40B4-BE49-F238E27FC236}">
                <a16:creationId xmlns:a16="http://schemas.microsoft.com/office/drawing/2014/main" id="{5A477AF5-DFEA-4160-93AB-BDC60A605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93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204" name="Rectangle 26">
            <a:extLst>
              <a:ext uri="{FF2B5EF4-FFF2-40B4-BE49-F238E27FC236}">
                <a16:creationId xmlns:a16="http://schemas.microsoft.com/office/drawing/2014/main" id="{F4DB44BD-E395-4B24-B16F-E93F50B1F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5363"/>
            <a:ext cx="1098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205" name="Rectangle 30">
            <a:extLst>
              <a:ext uri="{FF2B5EF4-FFF2-40B4-BE49-F238E27FC236}">
                <a16:creationId xmlns:a16="http://schemas.microsoft.com/office/drawing/2014/main" id="{29447A62-5918-47A8-915D-7B353B440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3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206" name="Rectangle 34">
            <a:extLst>
              <a:ext uri="{FF2B5EF4-FFF2-40B4-BE49-F238E27FC236}">
                <a16:creationId xmlns:a16="http://schemas.microsoft.com/office/drawing/2014/main" id="{25AD1F32-0248-4637-8017-DD326AD8E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3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207" name="Rectangle 37">
            <a:extLst>
              <a:ext uri="{FF2B5EF4-FFF2-40B4-BE49-F238E27FC236}">
                <a16:creationId xmlns:a16="http://schemas.microsoft.com/office/drawing/2014/main" id="{B1F3CFB5-3A0E-4851-8826-0BA72C0AB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24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208" name="Rectangle 40">
            <a:extLst>
              <a:ext uri="{FF2B5EF4-FFF2-40B4-BE49-F238E27FC236}">
                <a16:creationId xmlns:a16="http://schemas.microsoft.com/office/drawing/2014/main" id="{3CC688C3-5466-4A52-BEF6-9C8FF64FB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pSp>
        <p:nvGrpSpPr>
          <p:cNvPr id="8209" name="Group 44">
            <a:extLst>
              <a:ext uri="{FF2B5EF4-FFF2-40B4-BE49-F238E27FC236}">
                <a16:creationId xmlns:a16="http://schemas.microsoft.com/office/drawing/2014/main" id="{9B7CB094-24C4-49F0-A9CF-BAE952A74F14}"/>
              </a:ext>
            </a:extLst>
          </p:cNvPr>
          <p:cNvGrpSpPr>
            <a:grpSpLocks/>
          </p:cNvGrpSpPr>
          <p:nvPr/>
        </p:nvGrpSpPr>
        <p:grpSpPr bwMode="auto">
          <a:xfrm>
            <a:off x="-163889" y="2191486"/>
            <a:ext cx="9144000" cy="3581400"/>
            <a:chOff x="0" y="1440"/>
            <a:chExt cx="5760" cy="2256"/>
          </a:xfrm>
        </p:grpSpPr>
        <p:sp>
          <p:nvSpPr>
            <p:cNvPr id="8210" name="Rectangle 28">
              <a:extLst>
                <a:ext uri="{FF2B5EF4-FFF2-40B4-BE49-F238E27FC236}">
                  <a16:creationId xmlns:a16="http://schemas.microsoft.com/office/drawing/2014/main" id="{790F2698-7486-4C4E-BE5A-455060A42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40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a) Use Simpson’s 1/3rd Rule to find the approximate value of x </a:t>
              </a:r>
            </a:p>
          </p:txBody>
        </p:sp>
        <p:sp>
          <p:nvSpPr>
            <p:cNvPr id="8211" name="Rectangle 35">
              <a:extLst>
                <a:ext uri="{FF2B5EF4-FFF2-40B4-BE49-F238E27FC236}">
                  <a16:creationId xmlns:a16="http://schemas.microsoft.com/office/drawing/2014/main" id="{7917F5C0-6013-49E5-94C4-CAD60A98F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440"/>
              <a:ext cx="437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The distance covered by a rocket from t=8 to t=30 is given by </a:t>
              </a:r>
            </a:p>
          </p:txBody>
        </p:sp>
        <p:graphicFrame>
          <p:nvGraphicFramePr>
            <p:cNvPr id="8195" name="Object 36">
              <a:extLst>
                <a:ext uri="{FF2B5EF4-FFF2-40B4-BE49-F238E27FC236}">
                  <a16:creationId xmlns:a16="http://schemas.microsoft.com/office/drawing/2014/main" id="{2A325DA1-EDA0-499B-ABA3-C4E8F7978C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1920"/>
            <a:ext cx="3186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02" name="Equation" r:id="rId3" imgW="5054600" imgH="812800" progId="Equation.3">
                    <p:embed/>
                  </p:oleObj>
                </mc:Choice>
                <mc:Fallback>
                  <p:oleObj name="Equation" r:id="rId3" imgW="5054600" imgH="812800" progId="Equation.3">
                    <p:embed/>
                    <p:pic>
                      <p:nvPicPr>
                        <p:cNvPr id="8195" name="Object 36">
                          <a:extLst>
                            <a:ext uri="{FF2B5EF4-FFF2-40B4-BE49-F238E27FC236}">
                              <a16:creationId xmlns:a16="http://schemas.microsoft.com/office/drawing/2014/main" id="{2A325DA1-EDA0-499B-ABA3-C4E8F7978C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1920"/>
                          <a:ext cx="3186" cy="5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2" name="Rectangle 38">
              <a:extLst>
                <a:ext uri="{FF2B5EF4-FFF2-40B4-BE49-F238E27FC236}">
                  <a16:creationId xmlns:a16="http://schemas.microsoft.com/office/drawing/2014/main" id="{FD3993D8-8DAA-4F93-B7DA-5196FD960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072"/>
              <a:ext cx="169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b) Find the true error,  </a:t>
              </a:r>
            </a:p>
          </p:txBody>
        </p:sp>
        <p:graphicFrame>
          <p:nvGraphicFramePr>
            <p:cNvPr id="8196" name="Object 39">
              <a:extLst>
                <a:ext uri="{FF2B5EF4-FFF2-40B4-BE49-F238E27FC236}">
                  <a16:creationId xmlns:a16="http://schemas.microsoft.com/office/drawing/2014/main" id="{BC6B856F-0DEA-406B-88F6-91912B5C54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0917958"/>
                </p:ext>
              </p:extLst>
            </p:nvPr>
          </p:nvGraphicFramePr>
          <p:xfrm>
            <a:off x="2266" y="3036"/>
            <a:ext cx="19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03" name="Equation" r:id="rId5" imgW="304668" imgH="380835" progId="Equation.3">
                    <p:embed/>
                  </p:oleObj>
                </mc:Choice>
                <mc:Fallback>
                  <p:oleObj name="Equation" r:id="rId5" imgW="304668" imgH="380835" progId="Equation.3">
                    <p:embed/>
                    <p:pic>
                      <p:nvPicPr>
                        <p:cNvPr id="8196" name="Object 39">
                          <a:extLst>
                            <a:ext uri="{FF2B5EF4-FFF2-40B4-BE49-F238E27FC236}">
                              <a16:creationId xmlns:a16="http://schemas.microsoft.com/office/drawing/2014/main" id="{BC6B856F-0DEA-406B-88F6-91912B5C54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6" y="3036"/>
                          <a:ext cx="192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3" name="Rectangle 41">
              <a:extLst>
                <a:ext uri="{FF2B5EF4-FFF2-40B4-BE49-F238E27FC236}">
                  <a16:creationId xmlns:a16="http://schemas.microsoft.com/office/drawing/2014/main" id="{B43988EA-F359-4393-8000-6BD57573C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456"/>
              <a:ext cx="278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c) Find the absolute relative true error, </a:t>
              </a:r>
            </a:p>
          </p:txBody>
        </p:sp>
        <p:sp>
          <p:nvSpPr>
            <p:cNvPr id="8214" name="Rectangle 43">
              <a:extLst>
                <a:ext uri="{FF2B5EF4-FFF2-40B4-BE49-F238E27FC236}">
                  <a16:creationId xmlns:a16="http://schemas.microsoft.com/office/drawing/2014/main" id="{B64E69AE-1FDF-48B1-AD67-7D331A708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31"/>
              <a:ext cx="576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</p:grpSp>
      <p:graphicFrame>
        <p:nvGraphicFramePr>
          <p:cNvPr id="8194" name="Object 42">
            <a:extLst>
              <a:ext uri="{FF2B5EF4-FFF2-40B4-BE49-F238E27FC236}">
                <a16:creationId xmlns:a16="http://schemas.microsoft.com/office/drawing/2014/main" id="{A4B91A8D-A852-4153-82FB-BB25E6A848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42533"/>
              </p:ext>
            </p:extLst>
          </p:nvPr>
        </p:nvGraphicFramePr>
        <p:xfrm>
          <a:off x="5143500" y="5348655"/>
          <a:ext cx="3810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4" name="Equation" r:id="rId7" imgW="380835" imgH="406224" progId="Equation.3">
                  <p:embed/>
                </p:oleObj>
              </mc:Choice>
              <mc:Fallback>
                <p:oleObj name="Equation" r:id="rId7" imgW="380835" imgH="406224" progId="Equation.3">
                  <p:embed/>
                  <p:pic>
                    <p:nvPicPr>
                      <p:cNvPr id="8194" name="Object 42">
                        <a:extLst>
                          <a:ext uri="{FF2B5EF4-FFF2-40B4-BE49-F238E27FC236}">
                            <a16:creationId xmlns:a16="http://schemas.microsoft.com/office/drawing/2014/main" id="{A4B91A8D-A852-4153-82FB-BB25E6A848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5348655"/>
                        <a:ext cx="38100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Footer Placeholder 4">
            <a:extLst>
              <a:ext uri="{FF2B5EF4-FFF2-40B4-BE49-F238E27FC236}">
                <a16:creationId xmlns:a16="http://schemas.microsoft.com/office/drawing/2014/main" id="{E98993EF-5031-425E-9BB0-D1B376C510B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9224" name="Slide Number Placeholder 5">
            <a:extLst>
              <a:ext uri="{FF2B5EF4-FFF2-40B4-BE49-F238E27FC236}">
                <a16:creationId xmlns:a16="http://schemas.microsoft.com/office/drawing/2014/main" id="{A6131655-FB7F-491B-9469-E2DB65884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D6CABE-B28B-40F8-9475-1BB1E059CFD5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9225" name="Rectangle 2">
            <a:extLst>
              <a:ext uri="{FF2B5EF4-FFF2-40B4-BE49-F238E27FC236}">
                <a16:creationId xmlns:a16="http://schemas.microsoft.com/office/drawing/2014/main" id="{D0A6CFA5-60BD-4853-A870-4AD6D0E65E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Solution</a:t>
            </a:r>
          </a:p>
        </p:txBody>
      </p:sp>
      <p:sp>
        <p:nvSpPr>
          <p:cNvPr id="9226" name="Rectangle 6">
            <a:extLst>
              <a:ext uri="{FF2B5EF4-FFF2-40B4-BE49-F238E27FC236}">
                <a16:creationId xmlns:a16="http://schemas.microsoft.com/office/drawing/2014/main" id="{5CF4B3D2-C898-482E-8063-5332DC5C2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088" y="2773363"/>
            <a:ext cx="1098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27" name="Rectangle 7">
            <a:extLst>
              <a:ext uri="{FF2B5EF4-FFF2-40B4-BE49-F238E27FC236}">
                <a16:creationId xmlns:a16="http://schemas.microsoft.com/office/drawing/2014/main" id="{1F4E3FDA-A7C7-430B-AE93-9B17ABDDD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088" y="3781425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28" name="Rectangle 14">
            <a:extLst>
              <a:ext uri="{FF2B5EF4-FFF2-40B4-BE49-F238E27FC236}">
                <a16:creationId xmlns:a16="http://schemas.microsoft.com/office/drawing/2014/main" id="{C3BD7A4A-63E6-4761-AECC-60F00C1D1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62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9229" name="Rectangle 15">
            <a:extLst>
              <a:ext uri="{FF2B5EF4-FFF2-40B4-BE49-F238E27FC236}">
                <a16:creationId xmlns:a16="http://schemas.microsoft.com/office/drawing/2014/main" id="{05CF8804-AA88-433D-BCB6-64C897AB1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19250"/>
            <a:ext cx="10985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30" name="Rectangle 16">
            <a:extLst>
              <a:ext uri="{FF2B5EF4-FFF2-40B4-BE49-F238E27FC236}">
                <a16:creationId xmlns:a16="http://schemas.microsoft.com/office/drawing/2014/main" id="{870F7062-8616-4083-AE25-37D4B9F09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151063"/>
            <a:ext cx="64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31" name="Rectangle 17">
            <a:extLst>
              <a:ext uri="{FF2B5EF4-FFF2-40B4-BE49-F238E27FC236}">
                <a16:creationId xmlns:a16="http://schemas.microsoft.com/office/drawing/2014/main" id="{C0D4A696-905B-473C-AB1F-1A8092B2C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65438"/>
            <a:ext cx="1098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32" name="Rectangle 18">
            <a:extLst>
              <a:ext uri="{FF2B5EF4-FFF2-40B4-BE49-F238E27FC236}">
                <a16:creationId xmlns:a16="http://schemas.microsoft.com/office/drawing/2014/main" id="{7C2B8603-9F2A-4D35-BBAB-E4DAE9D20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87775"/>
            <a:ext cx="1212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33" name="Rectangle 19">
            <a:extLst>
              <a:ext uri="{FF2B5EF4-FFF2-40B4-BE49-F238E27FC236}">
                <a16:creationId xmlns:a16="http://schemas.microsoft.com/office/drawing/2014/main" id="{9216957D-2748-477A-9B2E-A3DCEE2E0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10113"/>
            <a:ext cx="12128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34" name="Rectangle 20">
            <a:extLst>
              <a:ext uri="{FF2B5EF4-FFF2-40B4-BE49-F238E27FC236}">
                <a16:creationId xmlns:a16="http://schemas.microsoft.com/office/drawing/2014/main" id="{38B94DD7-96DE-4384-80C5-82176DAD4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222875"/>
            <a:ext cx="6413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35" name="Rectangle 32">
            <a:extLst>
              <a:ext uri="{FF2B5EF4-FFF2-40B4-BE49-F238E27FC236}">
                <a16:creationId xmlns:a16="http://schemas.microsoft.com/office/drawing/2014/main" id="{0364C532-4625-4D25-8646-9F7B9EA0E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22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9236" name="Rectangle 33">
            <a:extLst>
              <a:ext uri="{FF2B5EF4-FFF2-40B4-BE49-F238E27FC236}">
                <a16:creationId xmlns:a16="http://schemas.microsoft.com/office/drawing/2014/main" id="{FC37888F-89DA-486A-BD3A-5342AE4F9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93913"/>
            <a:ext cx="222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37" name="Rectangle 34">
            <a:extLst>
              <a:ext uri="{FF2B5EF4-FFF2-40B4-BE49-F238E27FC236}">
                <a16:creationId xmlns:a16="http://schemas.microsoft.com/office/drawing/2014/main" id="{E6555A55-625D-40A0-9E72-C5542CE65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0075"/>
            <a:ext cx="222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38" name="Rectangle 35">
            <a:extLst>
              <a:ext uri="{FF2B5EF4-FFF2-40B4-BE49-F238E27FC236}">
                <a16:creationId xmlns:a16="http://schemas.microsoft.com/office/drawing/2014/main" id="{5ED796EE-6257-4D60-95F9-2D922D254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86238"/>
            <a:ext cx="222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39" name="Rectangle 36">
            <a:extLst>
              <a:ext uri="{FF2B5EF4-FFF2-40B4-BE49-F238E27FC236}">
                <a16:creationId xmlns:a16="http://schemas.microsoft.com/office/drawing/2014/main" id="{59E47299-CFAA-406D-8D30-095D5C896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324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41" name="Rectangle 42">
            <a:extLst>
              <a:ext uri="{FF2B5EF4-FFF2-40B4-BE49-F238E27FC236}">
                <a16:creationId xmlns:a16="http://schemas.microsoft.com/office/drawing/2014/main" id="{843AE424-A091-4D81-9DB5-8DA546095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09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9242" name="Rectangle 45">
            <a:extLst>
              <a:ext uri="{FF2B5EF4-FFF2-40B4-BE49-F238E27FC236}">
                <a16:creationId xmlns:a16="http://schemas.microsoft.com/office/drawing/2014/main" id="{ED4B8478-84CA-4983-BF60-12381F679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9243" name="Rectangle 50">
            <a:extLst>
              <a:ext uri="{FF2B5EF4-FFF2-40B4-BE49-F238E27FC236}">
                <a16:creationId xmlns:a16="http://schemas.microsoft.com/office/drawing/2014/main" id="{CDB8AAEE-FAE0-421D-B3C2-217563C75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2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9244" name="Text Box 51">
            <a:extLst>
              <a:ext uri="{FF2B5EF4-FFF2-40B4-BE49-F238E27FC236}">
                <a16:creationId xmlns:a16="http://schemas.microsoft.com/office/drawing/2014/main" id="{3EF98267-4ED0-4496-835F-EAFEE0AFD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133600"/>
            <a:ext cx="762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a)</a:t>
            </a:r>
          </a:p>
        </p:txBody>
      </p:sp>
      <p:sp>
        <p:nvSpPr>
          <p:cNvPr id="9245" name="Rectangle 57">
            <a:extLst>
              <a:ext uri="{FF2B5EF4-FFF2-40B4-BE49-F238E27FC236}">
                <a16:creationId xmlns:a16="http://schemas.microsoft.com/office/drawing/2014/main" id="{816F5CEC-49C6-48E8-87A5-5864C1CF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17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Object 56">
                <a:extLst>
                  <a:ext uri="{FF2B5EF4-FFF2-40B4-BE49-F238E27FC236}">
                    <a16:creationId xmlns:a16="http://schemas.microsoft.com/office/drawing/2014/main" id="{9C80C4CB-85F4-4B74-8DAD-894024F612F2}"/>
                  </a:ext>
                </a:extLst>
              </p:cNvPr>
              <p:cNvSpPr txBox="1"/>
              <p:nvPr/>
            </p:nvSpPr>
            <p:spPr bwMode="auto">
              <a:xfrm>
                <a:off x="1792740" y="1804987"/>
                <a:ext cx="3211286" cy="132873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GB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GB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kumimoji="0" lang="en-GB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</m:t>
                          </m:r>
                        </m:sub>
                        <m:sup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30</m:t>
                          </m:r>
                        </m:sup>
                        <m:e>
                          <m:r>
                            <a:rPr kumimoji="0" lang="en-GB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r>
                            <a:rPr kumimoji="0" lang="en-GB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GB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en-GB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r>
                            <a:rPr kumimoji="0" lang="en-GB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kumimoji="0" lang="en-GB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218" name="Object 56">
                <a:extLst>
                  <a:ext uri="{FF2B5EF4-FFF2-40B4-BE49-F238E27FC236}">
                    <a16:creationId xmlns:a16="http://schemas.microsoft.com/office/drawing/2014/main" id="{9C80C4CB-85F4-4B74-8DAD-894024F61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2740" y="1804987"/>
                <a:ext cx="3211286" cy="13287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46" name="Rectangle 58">
            <a:extLst>
              <a:ext uri="{FF2B5EF4-FFF2-40B4-BE49-F238E27FC236}">
                <a16:creationId xmlns:a16="http://schemas.microsoft.com/office/drawing/2014/main" id="{E3115602-92A5-4218-9EAD-553DDF07F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8175"/>
            <a:ext cx="10985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9219" name="Object 55">
            <a:extLst>
              <a:ext uri="{FF2B5EF4-FFF2-40B4-BE49-F238E27FC236}">
                <a16:creationId xmlns:a16="http://schemas.microsoft.com/office/drawing/2014/main" id="{BA181151-A503-4966-81BB-3713C56BBD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2740" y="3124200"/>
          <a:ext cx="484822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8" name="Equation" r:id="rId4" imgW="4851400" imgH="812800" progId="Equation.3">
                  <p:embed/>
                </p:oleObj>
              </mc:Choice>
              <mc:Fallback>
                <p:oleObj name="Equation" r:id="rId4" imgW="4851400" imgH="812800" progId="Equation.3">
                  <p:embed/>
                  <p:pic>
                    <p:nvPicPr>
                      <p:cNvPr id="9219" name="Object 55">
                        <a:extLst>
                          <a:ext uri="{FF2B5EF4-FFF2-40B4-BE49-F238E27FC236}">
                            <a16:creationId xmlns:a16="http://schemas.microsoft.com/office/drawing/2014/main" id="{BA181151-A503-4966-81BB-3713C56BBD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2740" y="3124200"/>
                        <a:ext cx="4848225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7" name="Rectangle 59">
            <a:extLst>
              <a:ext uri="{FF2B5EF4-FFF2-40B4-BE49-F238E27FC236}">
                <a16:creationId xmlns:a16="http://schemas.microsoft.com/office/drawing/2014/main" id="{29A82243-9E9F-4831-8BDE-B75036760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92438"/>
            <a:ext cx="12128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9220" name="Object 54">
            <a:extLst>
              <a:ext uri="{FF2B5EF4-FFF2-40B4-BE49-F238E27FC236}">
                <a16:creationId xmlns:a16="http://schemas.microsoft.com/office/drawing/2014/main" id="{D493B5A8-1B93-48F6-BAC0-7968A89FFE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4114800"/>
          <a:ext cx="44100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9" name="Equation" r:id="rId6" imgW="4406900" imgH="787400" progId="Equation.3">
                  <p:embed/>
                </p:oleObj>
              </mc:Choice>
              <mc:Fallback>
                <p:oleObj name="Equation" r:id="rId6" imgW="4406900" imgH="787400" progId="Equation.3">
                  <p:embed/>
                  <p:pic>
                    <p:nvPicPr>
                      <p:cNvPr id="9220" name="Object 54">
                        <a:extLst>
                          <a:ext uri="{FF2B5EF4-FFF2-40B4-BE49-F238E27FC236}">
                            <a16:creationId xmlns:a16="http://schemas.microsoft.com/office/drawing/2014/main" id="{D493B5A8-1B93-48F6-BAC0-7968A89FFE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114800"/>
                        <a:ext cx="441007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8" name="Rectangle 60">
            <a:extLst>
              <a:ext uri="{FF2B5EF4-FFF2-40B4-BE49-F238E27FC236}">
                <a16:creationId xmlns:a16="http://schemas.microsoft.com/office/drawing/2014/main" id="{3DA6A639-E435-4184-883F-285589B99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57650"/>
            <a:ext cx="1212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9221" name="Object 53">
            <a:extLst>
              <a:ext uri="{FF2B5EF4-FFF2-40B4-BE49-F238E27FC236}">
                <a16:creationId xmlns:a16="http://schemas.microsoft.com/office/drawing/2014/main" id="{637BF8E5-C343-4A50-AE1F-CABD88AF5A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5181600"/>
          <a:ext cx="54578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0" name="Equation" r:id="rId8" imgW="5461000" imgH="787400" progId="Equation.3">
                  <p:embed/>
                </p:oleObj>
              </mc:Choice>
              <mc:Fallback>
                <p:oleObj name="Equation" r:id="rId8" imgW="5461000" imgH="787400" progId="Equation.3">
                  <p:embed/>
                  <p:pic>
                    <p:nvPicPr>
                      <p:cNvPr id="9221" name="Object 53">
                        <a:extLst>
                          <a:ext uri="{FF2B5EF4-FFF2-40B4-BE49-F238E27FC236}">
                            <a16:creationId xmlns:a16="http://schemas.microsoft.com/office/drawing/2014/main" id="{637BF8E5-C343-4A50-AE1F-CABD88AF5A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181600"/>
                        <a:ext cx="545782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9" name="Rectangle 61">
            <a:extLst>
              <a:ext uri="{FF2B5EF4-FFF2-40B4-BE49-F238E27FC236}">
                <a16:creationId xmlns:a16="http://schemas.microsoft.com/office/drawing/2014/main" id="{59B55E00-15A6-4780-BA41-F4160917A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22863"/>
            <a:ext cx="12128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9222" name="Object 52">
            <a:extLst>
              <a:ext uri="{FF2B5EF4-FFF2-40B4-BE49-F238E27FC236}">
                <a16:creationId xmlns:a16="http://schemas.microsoft.com/office/drawing/2014/main" id="{BD64FEE6-F22E-473B-8F87-98CC209F7C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6172200"/>
          <a:ext cx="171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1" name="Equation" r:id="rId10" imgW="1714500" imgH="342900" progId="Equation.3">
                  <p:embed/>
                </p:oleObj>
              </mc:Choice>
              <mc:Fallback>
                <p:oleObj name="Equation" r:id="rId10" imgW="1714500" imgH="342900" progId="Equation.3">
                  <p:embed/>
                  <p:pic>
                    <p:nvPicPr>
                      <p:cNvPr id="9222" name="Object 52">
                        <a:extLst>
                          <a:ext uri="{FF2B5EF4-FFF2-40B4-BE49-F238E27FC236}">
                            <a16:creationId xmlns:a16="http://schemas.microsoft.com/office/drawing/2014/main" id="{BD64FEE6-F22E-473B-8F87-98CC209F7C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6172200"/>
                        <a:ext cx="1714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Footer Placeholder 4">
            <a:extLst>
              <a:ext uri="{FF2B5EF4-FFF2-40B4-BE49-F238E27FC236}">
                <a16:creationId xmlns:a16="http://schemas.microsoft.com/office/drawing/2014/main" id="{DFAFDA57-F5A9-44F6-8F06-E3BBA26B0A4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247" name="Slide Number Placeholder 5">
            <a:extLst>
              <a:ext uri="{FF2B5EF4-FFF2-40B4-BE49-F238E27FC236}">
                <a16:creationId xmlns:a16="http://schemas.microsoft.com/office/drawing/2014/main" id="{A52D07D5-3487-4F9F-B489-7EF2BB89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8DC3C8-2302-4FAD-AE7F-F46AF68C45A7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248" name="Rectangle 2">
            <a:extLst>
              <a:ext uri="{FF2B5EF4-FFF2-40B4-BE49-F238E27FC236}">
                <a16:creationId xmlns:a16="http://schemas.microsoft.com/office/drawing/2014/main" id="{20D9AC7A-52CF-4A73-A9AC-5DF612D583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Solution (cont)</a:t>
            </a:r>
          </a:p>
        </p:txBody>
      </p:sp>
      <p:sp>
        <p:nvSpPr>
          <p:cNvPr id="10249" name="Rectangle 8">
            <a:extLst>
              <a:ext uri="{FF2B5EF4-FFF2-40B4-BE49-F238E27FC236}">
                <a16:creationId xmlns:a16="http://schemas.microsoft.com/office/drawing/2014/main" id="{DA0654EC-4E31-4441-BAC2-7B40DFA09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1712913"/>
            <a:ext cx="641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FA24B980-DD8E-4E3D-912F-41CBB47BC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3643313"/>
            <a:ext cx="7556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E77AAEB0-9E81-494F-93AC-591FA07D4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4565650"/>
            <a:ext cx="7556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252" name="Rectangle 16">
            <a:extLst>
              <a:ext uri="{FF2B5EF4-FFF2-40B4-BE49-F238E27FC236}">
                <a16:creationId xmlns:a16="http://schemas.microsoft.com/office/drawing/2014/main" id="{3EDAD638-9F11-4EDA-8EB2-4AA331A3B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3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253" name="Rectangle 18">
            <a:extLst>
              <a:ext uri="{FF2B5EF4-FFF2-40B4-BE49-F238E27FC236}">
                <a16:creationId xmlns:a16="http://schemas.microsoft.com/office/drawing/2014/main" id="{95FA23E9-F331-4F6D-BEC9-BF5D00263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209800"/>
            <a:ext cx="47085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b) The exact value of the above integral is</a:t>
            </a:r>
          </a:p>
        </p:txBody>
      </p:sp>
      <p:sp>
        <p:nvSpPr>
          <p:cNvPr id="10254" name="Rectangle 20">
            <a:extLst>
              <a:ext uri="{FF2B5EF4-FFF2-40B4-BE49-F238E27FC236}">
                <a16:creationId xmlns:a16="http://schemas.microsoft.com/office/drawing/2014/main" id="{2BDF7834-559C-4518-854B-65A3885D7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24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0242" name="Object 19">
            <a:extLst>
              <a:ext uri="{FF2B5EF4-FFF2-40B4-BE49-F238E27FC236}">
                <a16:creationId xmlns:a16="http://schemas.microsoft.com/office/drawing/2014/main" id="{BEE37179-21C9-41C2-A3B0-F757666E61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2971800"/>
          <a:ext cx="505777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2" name="Equation" r:id="rId3" imgW="5054600" imgH="812800" progId="Equation.3">
                  <p:embed/>
                </p:oleObj>
              </mc:Choice>
              <mc:Fallback>
                <p:oleObj name="Equation" r:id="rId3" imgW="5054600" imgH="812800" progId="Equation.3">
                  <p:embed/>
                  <p:pic>
                    <p:nvPicPr>
                      <p:cNvPr id="10242" name="Object 19">
                        <a:extLst>
                          <a:ext uri="{FF2B5EF4-FFF2-40B4-BE49-F238E27FC236}">
                            <a16:creationId xmlns:a16="http://schemas.microsoft.com/office/drawing/2014/main" id="{BEE37179-21C9-41C2-A3B0-F757666E61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971800"/>
                        <a:ext cx="5057775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21">
            <a:extLst>
              <a:ext uri="{FF2B5EF4-FFF2-40B4-BE49-F238E27FC236}">
                <a16:creationId xmlns:a16="http://schemas.microsoft.com/office/drawing/2014/main" id="{2DBDBDE6-85AD-49B5-BD38-097B14B39B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4267200"/>
          <a:ext cx="171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3" name="Equation" r:id="rId5" imgW="1714500" imgH="342900" progId="Equation.3">
                  <p:embed/>
                </p:oleObj>
              </mc:Choice>
              <mc:Fallback>
                <p:oleObj name="Equation" r:id="rId5" imgW="1714500" imgH="342900" progId="Equation.3">
                  <p:embed/>
                  <p:pic>
                    <p:nvPicPr>
                      <p:cNvPr id="10243" name="Object 21">
                        <a:extLst>
                          <a:ext uri="{FF2B5EF4-FFF2-40B4-BE49-F238E27FC236}">
                            <a16:creationId xmlns:a16="http://schemas.microsoft.com/office/drawing/2014/main" id="{2DBDBDE6-85AD-49B5-BD38-097B14B39B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267200"/>
                        <a:ext cx="1714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5" name="Rectangle 23">
            <a:extLst>
              <a:ext uri="{FF2B5EF4-FFF2-40B4-BE49-F238E27FC236}">
                <a16:creationId xmlns:a16="http://schemas.microsoft.com/office/drawing/2014/main" id="{97D14A7B-1945-433A-A99B-8FAF7E5F1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800600"/>
            <a:ext cx="12795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True Error</a:t>
            </a:r>
          </a:p>
        </p:txBody>
      </p:sp>
      <p:sp>
        <p:nvSpPr>
          <p:cNvPr id="10256" name="Rectangle 26">
            <a:extLst>
              <a:ext uri="{FF2B5EF4-FFF2-40B4-BE49-F238E27FC236}">
                <a16:creationId xmlns:a16="http://schemas.microsoft.com/office/drawing/2014/main" id="{ECD8D252-8F6E-4EBD-B96C-EE830C785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305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0244" name="Object 25">
            <a:extLst>
              <a:ext uri="{FF2B5EF4-FFF2-40B4-BE49-F238E27FC236}">
                <a16:creationId xmlns:a16="http://schemas.microsoft.com/office/drawing/2014/main" id="{C25FB7E9-B12E-4DE2-A008-81EA2B7495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5486400"/>
          <a:ext cx="31718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4" name="Equation" r:id="rId7" imgW="3175000" imgH="381000" progId="Equation.3">
                  <p:embed/>
                </p:oleObj>
              </mc:Choice>
              <mc:Fallback>
                <p:oleObj name="Equation" r:id="rId7" imgW="3175000" imgH="381000" progId="Equation.3">
                  <p:embed/>
                  <p:pic>
                    <p:nvPicPr>
                      <p:cNvPr id="10244" name="Object 25">
                        <a:extLst>
                          <a:ext uri="{FF2B5EF4-FFF2-40B4-BE49-F238E27FC236}">
                            <a16:creationId xmlns:a16="http://schemas.microsoft.com/office/drawing/2014/main" id="{C25FB7E9-B12E-4DE2-A008-81EA2B7495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486400"/>
                        <a:ext cx="31718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7" name="Rectangle 27">
            <a:extLst>
              <a:ext uri="{FF2B5EF4-FFF2-40B4-BE49-F238E27FC236}">
                <a16:creationId xmlns:a16="http://schemas.microsoft.com/office/drawing/2014/main" id="{8EACE4A0-97EE-49B1-9B36-13A7ABE99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12890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0245" name="Object 24">
            <a:extLst>
              <a:ext uri="{FF2B5EF4-FFF2-40B4-BE49-F238E27FC236}">
                <a16:creationId xmlns:a16="http://schemas.microsoft.com/office/drawing/2014/main" id="{F1940582-9451-4634-A79A-CC0D5B4C7E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6096000"/>
          <a:ext cx="1295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5" name="Equation" r:id="rId9" imgW="1295400" imgH="342900" progId="Equation.3">
                  <p:embed/>
                </p:oleObj>
              </mc:Choice>
              <mc:Fallback>
                <p:oleObj name="Equation" r:id="rId9" imgW="1295400" imgH="342900" progId="Equation.3">
                  <p:embed/>
                  <p:pic>
                    <p:nvPicPr>
                      <p:cNvPr id="10245" name="Object 24">
                        <a:extLst>
                          <a:ext uri="{FF2B5EF4-FFF2-40B4-BE49-F238E27FC236}">
                            <a16:creationId xmlns:a16="http://schemas.microsoft.com/office/drawing/2014/main" id="{F1940582-9451-4634-A79A-CC0D5B4C7E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6096000"/>
                        <a:ext cx="1295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Footer Placeholder 4">
            <a:extLst>
              <a:ext uri="{FF2B5EF4-FFF2-40B4-BE49-F238E27FC236}">
                <a16:creationId xmlns:a16="http://schemas.microsoft.com/office/drawing/2014/main" id="{A8C1F751-FD96-4FAC-8A5A-8A627B9DFC5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1271" name="Slide Number Placeholder 5">
            <a:extLst>
              <a:ext uri="{FF2B5EF4-FFF2-40B4-BE49-F238E27FC236}">
                <a16:creationId xmlns:a16="http://schemas.microsoft.com/office/drawing/2014/main" id="{BAB49C40-EE43-41E3-A0D7-AC9A1696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23D831-C258-4FCD-A64F-77780A2D6235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1272" name="Rectangle 2">
            <a:extLst>
              <a:ext uri="{FF2B5EF4-FFF2-40B4-BE49-F238E27FC236}">
                <a16:creationId xmlns:a16="http://schemas.microsoft.com/office/drawing/2014/main" id="{E45CBF78-9BB9-406F-80BF-DC6DB526C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Solution (cont)</a:t>
            </a:r>
          </a:p>
        </p:txBody>
      </p:sp>
      <p:graphicFrame>
        <p:nvGraphicFramePr>
          <p:cNvPr id="11266" name="Object 7">
            <a:extLst>
              <a:ext uri="{FF2B5EF4-FFF2-40B4-BE49-F238E27FC236}">
                <a16:creationId xmlns:a16="http://schemas.microsoft.com/office/drawing/2014/main" id="{B9980BFD-FB19-44D2-9FC6-972C946EEF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736850"/>
          <a:ext cx="1143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6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11266" name="Object 7">
                        <a:extLst>
                          <a:ext uri="{FF2B5EF4-FFF2-40B4-BE49-F238E27FC236}">
                            <a16:creationId xmlns:a16="http://schemas.microsoft.com/office/drawing/2014/main" id="{B9980BFD-FB19-44D2-9FC6-972C946EEF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736850"/>
                        <a:ext cx="114300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9">
            <a:extLst>
              <a:ext uri="{FF2B5EF4-FFF2-40B4-BE49-F238E27FC236}">
                <a16:creationId xmlns:a16="http://schemas.microsoft.com/office/drawing/2014/main" id="{956E0D66-A63A-413E-9784-116FDA2F9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955925"/>
            <a:ext cx="10985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274" name="Rectangle 10">
            <a:extLst>
              <a:ext uri="{FF2B5EF4-FFF2-40B4-BE49-F238E27FC236}">
                <a16:creationId xmlns:a16="http://schemas.microsoft.com/office/drawing/2014/main" id="{21A11D95-AE15-4A1B-AA14-F72024F7E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63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1267" name="Object 5">
            <a:extLst>
              <a:ext uri="{FF2B5EF4-FFF2-40B4-BE49-F238E27FC236}">
                <a16:creationId xmlns:a16="http://schemas.microsoft.com/office/drawing/2014/main" id="{4D992F9A-8285-4B65-94CF-E697C82734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963988"/>
          <a:ext cx="1143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7" name="Equation" r:id="rId5" imgW="114151" imgH="215619" progId="Equation.3">
                  <p:embed/>
                </p:oleObj>
              </mc:Choice>
              <mc:Fallback>
                <p:oleObj name="Equation" r:id="rId5" imgW="114151" imgH="215619" progId="Equation.3">
                  <p:embed/>
                  <p:pic>
                    <p:nvPicPr>
                      <p:cNvPr id="11267" name="Object 5">
                        <a:extLst>
                          <a:ext uri="{FF2B5EF4-FFF2-40B4-BE49-F238E27FC236}">
                            <a16:creationId xmlns:a16="http://schemas.microsoft.com/office/drawing/2014/main" id="{4D992F9A-8285-4B65-94CF-E697C82734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963988"/>
                        <a:ext cx="114300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Rectangle 11">
            <a:extLst>
              <a:ext uri="{FF2B5EF4-FFF2-40B4-BE49-F238E27FC236}">
                <a16:creationId xmlns:a16="http://schemas.microsoft.com/office/drawing/2014/main" id="{E7CBF995-E607-4391-8AEF-1ADFEDE4C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83063"/>
            <a:ext cx="12128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276" name="Rectangle 17">
            <a:extLst>
              <a:ext uri="{FF2B5EF4-FFF2-40B4-BE49-F238E27FC236}">
                <a16:creationId xmlns:a16="http://schemas.microsoft.com/office/drawing/2014/main" id="{8968817F-1313-40B0-A089-16C4A71CD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92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1277" name="Rectangle 18">
            <a:extLst>
              <a:ext uri="{FF2B5EF4-FFF2-40B4-BE49-F238E27FC236}">
                <a16:creationId xmlns:a16="http://schemas.microsoft.com/office/drawing/2014/main" id="{0DF8BDE9-3775-411D-9B83-F902091A7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5338"/>
            <a:ext cx="1289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278" name="Rectangle 20">
            <a:extLst>
              <a:ext uri="{FF2B5EF4-FFF2-40B4-BE49-F238E27FC236}">
                <a16:creationId xmlns:a16="http://schemas.microsoft.com/office/drawing/2014/main" id="{0B953EBD-89C0-46B2-A017-4C23039C2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279" name="Rectangle 27">
            <a:extLst>
              <a:ext uri="{FF2B5EF4-FFF2-40B4-BE49-F238E27FC236}">
                <a16:creationId xmlns:a16="http://schemas.microsoft.com/office/drawing/2014/main" id="{2DB7CE75-8B60-4B8E-ABB4-9CA52232A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057400"/>
            <a:ext cx="34893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c)  Absolute relative true error,</a:t>
            </a:r>
          </a:p>
        </p:txBody>
      </p:sp>
      <p:sp>
        <p:nvSpPr>
          <p:cNvPr id="11280" name="Rectangle 30">
            <a:extLst>
              <a:ext uri="{FF2B5EF4-FFF2-40B4-BE49-F238E27FC236}">
                <a16:creationId xmlns:a16="http://schemas.microsoft.com/office/drawing/2014/main" id="{96A4EDDE-2D9E-4D6F-9511-3D42C1C28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59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1268" name="Object 29">
            <a:extLst>
              <a:ext uri="{FF2B5EF4-FFF2-40B4-BE49-F238E27FC236}">
                <a16:creationId xmlns:a16="http://schemas.microsoft.com/office/drawing/2014/main" id="{164839E9-E0AF-4E25-9D49-CEEB7F44F5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2895600"/>
          <a:ext cx="42957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8" name="Equation" r:id="rId6" imgW="4292600" imgH="787400" progId="Equation.3">
                  <p:embed/>
                </p:oleObj>
              </mc:Choice>
              <mc:Fallback>
                <p:oleObj name="Equation" r:id="rId6" imgW="4292600" imgH="787400" progId="Equation.3">
                  <p:embed/>
                  <p:pic>
                    <p:nvPicPr>
                      <p:cNvPr id="11268" name="Object 29">
                        <a:extLst>
                          <a:ext uri="{FF2B5EF4-FFF2-40B4-BE49-F238E27FC236}">
                            <a16:creationId xmlns:a16="http://schemas.microsoft.com/office/drawing/2014/main" id="{164839E9-E0AF-4E25-9D49-CEEB7F44F5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895600"/>
                        <a:ext cx="429577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1" name="Rectangle 31">
            <a:extLst>
              <a:ext uri="{FF2B5EF4-FFF2-40B4-BE49-F238E27FC236}">
                <a16:creationId xmlns:a16="http://schemas.microsoft.com/office/drawing/2014/main" id="{EF7EF631-DD94-4D6F-8CA9-C5762DF34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9650"/>
            <a:ext cx="132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1269" name="Object 28">
            <a:extLst>
              <a:ext uri="{FF2B5EF4-FFF2-40B4-BE49-F238E27FC236}">
                <a16:creationId xmlns:a16="http://schemas.microsoft.com/office/drawing/2014/main" id="{B2358916-5939-47C2-B85A-AD519000F3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4114800"/>
          <a:ext cx="138112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9" name="Equation" r:id="rId8" imgW="1384300" imgH="279400" progId="Equation.3">
                  <p:embed/>
                </p:oleObj>
              </mc:Choice>
              <mc:Fallback>
                <p:oleObj name="Equation" r:id="rId8" imgW="1384300" imgH="279400" progId="Equation.3">
                  <p:embed/>
                  <p:pic>
                    <p:nvPicPr>
                      <p:cNvPr id="11269" name="Object 28">
                        <a:extLst>
                          <a:ext uri="{FF2B5EF4-FFF2-40B4-BE49-F238E27FC236}">
                            <a16:creationId xmlns:a16="http://schemas.microsoft.com/office/drawing/2014/main" id="{B2358916-5939-47C2-B85A-AD519000F3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114800"/>
                        <a:ext cx="1381125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>
            <a:extLst>
              <a:ext uri="{FF2B5EF4-FFF2-40B4-BE49-F238E27FC236}">
                <a16:creationId xmlns:a16="http://schemas.microsoft.com/office/drawing/2014/main" id="{0A23B24B-45C3-4E91-95DD-26C397297F2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6627" name="Slide Number Placeholder 5">
            <a:extLst>
              <a:ext uri="{FF2B5EF4-FFF2-40B4-BE49-F238E27FC236}">
                <a16:creationId xmlns:a16="http://schemas.microsoft.com/office/drawing/2014/main" id="{B37C2DF0-4EF7-4A23-8EA5-EB042B6B2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3C3BC7-FC99-4598-B549-4990C975A4C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CD3DA14F-B4E0-4B79-9163-B53398FBF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743200"/>
            <a:ext cx="7772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Multiple Segment Simpson’s 1/3rd Rule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40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Footer Placeholder 4">
            <a:extLst>
              <a:ext uri="{FF2B5EF4-FFF2-40B4-BE49-F238E27FC236}">
                <a16:creationId xmlns:a16="http://schemas.microsoft.com/office/drawing/2014/main" id="{D96819CA-C3FA-4265-B7F1-23A9A7DDD5E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295" name="Slide Number Placeholder 5">
            <a:extLst>
              <a:ext uri="{FF2B5EF4-FFF2-40B4-BE49-F238E27FC236}">
                <a16:creationId xmlns:a16="http://schemas.microsoft.com/office/drawing/2014/main" id="{2C892538-9CE4-49C8-A297-4ED4360C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EAAD1E8-4DFD-4A7A-87A1-1AE3A9AC0902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296" name="Rectangle 2">
            <a:extLst>
              <a:ext uri="{FF2B5EF4-FFF2-40B4-BE49-F238E27FC236}">
                <a16:creationId xmlns:a16="http://schemas.microsoft.com/office/drawing/2014/main" id="{9AE11481-77F1-4EA2-9994-9E3CD9409C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Multiple Segment Simpson’s 1/3</a:t>
            </a:r>
            <a:r>
              <a:rPr lang="en-US" altLang="en-US" sz="4000" baseline="30000"/>
              <a:t>rd</a:t>
            </a:r>
            <a:r>
              <a:rPr lang="en-US" altLang="en-US" sz="4000"/>
              <a:t> Rule</a:t>
            </a:r>
          </a:p>
        </p:txBody>
      </p:sp>
      <p:sp>
        <p:nvSpPr>
          <p:cNvPr id="12298" name="Rectangle 12">
            <a:extLst>
              <a:ext uri="{FF2B5EF4-FFF2-40B4-BE49-F238E27FC236}">
                <a16:creationId xmlns:a16="http://schemas.microsoft.com/office/drawing/2014/main" id="{BFA8AEF7-180E-4300-82A9-614C7D4AE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2097783"/>
            <a:ext cx="960438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301" name="Rectangle 310">
            <a:extLst>
              <a:ext uri="{FF2B5EF4-FFF2-40B4-BE49-F238E27FC236}">
                <a16:creationId xmlns:a16="http://schemas.microsoft.com/office/drawing/2014/main" id="{19CDAC65-7AAB-47CA-AADB-FA35547E1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2575" y="3018435"/>
            <a:ext cx="960438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307" name="Rectangle 343">
            <a:extLst>
              <a:ext uri="{FF2B5EF4-FFF2-40B4-BE49-F238E27FC236}">
                <a16:creationId xmlns:a16="http://schemas.microsoft.com/office/drawing/2014/main" id="{5C1C2655-C38B-466B-A591-765614801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150667"/>
            <a:ext cx="84994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Just like in multiple segment Trapezoidal Rule, one can subdivide the interval </a:t>
            </a:r>
          </a:p>
        </p:txBody>
      </p:sp>
      <p:sp>
        <p:nvSpPr>
          <p:cNvPr id="12308" name="Text Box 344">
            <a:extLst>
              <a:ext uri="{FF2B5EF4-FFF2-40B4-BE49-F238E27FC236}">
                <a16:creationId xmlns:a16="http://schemas.microsoft.com/office/drawing/2014/main" id="{E0962BCB-4401-4E10-BCE3-61B386B06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584551"/>
            <a:ext cx="815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[a, b] into  n segments and apply Simpson’s 1/3rd rule repeatedly over</a:t>
            </a:r>
          </a:p>
        </p:txBody>
      </p:sp>
      <p:sp>
        <p:nvSpPr>
          <p:cNvPr id="12309" name="Text Box 345">
            <a:extLst>
              <a:ext uri="{FF2B5EF4-FFF2-40B4-BE49-F238E27FC236}">
                <a16:creationId xmlns:a16="http://schemas.microsoft.com/office/drawing/2014/main" id="{497E6D5E-0CDE-40C8-9266-921BD3B6A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071318"/>
            <a:ext cx="792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every two segments.  Note that n needs to be even.  Divide interval</a:t>
            </a:r>
          </a:p>
        </p:txBody>
      </p:sp>
      <p:sp>
        <p:nvSpPr>
          <p:cNvPr id="12310" name="Text Box 346">
            <a:extLst>
              <a:ext uri="{FF2B5EF4-FFF2-40B4-BE49-F238E27FC236}">
                <a16:creationId xmlns:a16="http://schemas.microsoft.com/office/drawing/2014/main" id="{C03C4597-EEA5-4F55-8B07-36E0EA15B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505200"/>
            <a:ext cx="7620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[a, b] into  equal segments, hence the segment width </a:t>
            </a:r>
          </a:p>
        </p:txBody>
      </p:sp>
      <p:graphicFrame>
        <p:nvGraphicFramePr>
          <p:cNvPr id="12290" name="Object 347">
            <a:extLst>
              <a:ext uri="{FF2B5EF4-FFF2-40B4-BE49-F238E27FC236}">
                <a16:creationId xmlns:a16="http://schemas.microsoft.com/office/drawing/2014/main" id="{9A023C72-8873-49B5-AA1B-BEA7C9BC3C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4191000"/>
          <a:ext cx="11049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0" name="Equation" r:id="rId3" imgW="1104900" imgH="736600" progId="Equation.3">
                  <p:embed/>
                </p:oleObj>
              </mc:Choice>
              <mc:Fallback>
                <p:oleObj name="Equation" r:id="rId3" imgW="1104900" imgH="736600" progId="Equation.3">
                  <p:embed/>
                  <p:pic>
                    <p:nvPicPr>
                      <p:cNvPr id="12290" name="Object 347">
                        <a:extLst>
                          <a:ext uri="{FF2B5EF4-FFF2-40B4-BE49-F238E27FC236}">
                            <a16:creationId xmlns:a16="http://schemas.microsoft.com/office/drawing/2014/main" id="{9A023C72-8873-49B5-AA1B-BEA7C9BC3C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191000"/>
                        <a:ext cx="11049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49">
            <a:extLst>
              <a:ext uri="{FF2B5EF4-FFF2-40B4-BE49-F238E27FC236}">
                <a16:creationId xmlns:a16="http://schemas.microsoft.com/office/drawing/2014/main" id="{A31FCC60-DC67-4E27-B9F2-1116CDE6D9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4114800"/>
          <a:ext cx="26003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1" name="Equation" r:id="rId5" imgW="2603500" imgH="838200" progId="Equation.3">
                  <p:embed/>
                </p:oleObj>
              </mc:Choice>
              <mc:Fallback>
                <p:oleObj name="Equation" r:id="rId5" imgW="2603500" imgH="838200" progId="Equation.3">
                  <p:embed/>
                  <p:pic>
                    <p:nvPicPr>
                      <p:cNvPr id="12291" name="Object 349">
                        <a:extLst>
                          <a:ext uri="{FF2B5EF4-FFF2-40B4-BE49-F238E27FC236}">
                            <a16:creationId xmlns:a16="http://schemas.microsoft.com/office/drawing/2014/main" id="{A31FCC60-DC67-4E27-B9F2-1116CDE6D9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114800"/>
                        <a:ext cx="2600325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3" name="Rectangle 351">
            <a:extLst>
              <a:ext uri="{FF2B5EF4-FFF2-40B4-BE49-F238E27FC236}">
                <a16:creationId xmlns:a16="http://schemas.microsoft.com/office/drawing/2014/main" id="{29BC6772-48A7-4CD5-81BE-6B62EE543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105400"/>
            <a:ext cx="83978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where</a:t>
            </a:r>
          </a:p>
        </p:txBody>
      </p:sp>
      <p:graphicFrame>
        <p:nvGraphicFramePr>
          <p:cNvPr id="12292" name="Object 353">
            <a:extLst>
              <a:ext uri="{FF2B5EF4-FFF2-40B4-BE49-F238E27FC236}">
                <a16:creationId xmlns:a16="http://schemas.microsoft.com/office/drawing/2014/main" id="{C672DC17-31B0-4D11-8605-4E3BD96ADF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5638800"/>
          <a:ext cx="800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2" name="Equation" r:id="rId7" imgW="799753" imgH="380835" progId="Equation.3">
                  <p:embed/>
                </p:oleObj>
              </mc:Choice>
              <mc:Fallback>
                <p:oleObj name="Equation" r:id="rId7" imgW="799753" imgH="380835" progId="Equation.3">
                  <p:embed/>
                  <p:pic>
                    <p:nvPicPr>
                      <p:cNvPr id="12292" name="Object 353">
                        <a:extLst>
                          <a:ext uri="{FF2B5EF4-FFF2-40B4-BE49-F238E27FC236}">
                            <a16:creationId xmlns:a16="http://schemas.microsoft.com/office/drawing/2014/main" id="{C672DC17-31B0-4D11-8605-4E3BD96ADF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638800"/>
                        <a:ext cx="800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352">
            <a:extLst>
              <a:ext uri="{FF2B5EF4-FFF2-40B4-BE49-F238E27FC236}">
                <a16:creationId xmlns:a16="http://schemas.microsoft.com/office/drawing/2014/main" id="{26675FDE-2C61-41D9-B1AB-06C1F7FEBD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5638800"/>
          <a:ext cx="7905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3" name="Equation" r:id="rId9" imgW="787400" imgH="381000" progId="Equation.3">
                  <p:embed/>
                </p:oleObj>
              </mc:Choice>
              <mc:Fallback>
                <p:oleObj name="Equation" r:id="rId9" imgW="787400" imgH="381000" progId="Equation.3">
                  <p:embed/>
                  <p:pic>
                    <p:nvPicPr>
                      <p:cNvPr id="12293" name="Object 352">
                        <a:extLst>
                          <a:ext uri="{FF2B5EF4-FFF2-40B4-BE49-F238E27FC236}">
                            <a16:creationId xmlns:a16="http://schemas.microsoft.com/office/drawing/2014/main" id="{26675FDE-2C61-41D9-B1AB-06C1F7FEBD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638800"/>
                        <a:ext cx="79057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Footer Placeholder 4">
            <a:extLst>
              <a:ext uri="{FF2B5EF4-FFF2-40B4-BE49-F238E27FC236}">
                <a16:creationId xmlns:a16="http://schemas.microsoft.com/office/drawing/2014/main" id="{83D32D94-FDE9-4474-A68F-24B7B8C0700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19" name="Slide Number Placeholder 5">
            <a:extLst>
              <a:ext uri="{FF2B5EF4-FFF2-40B4-BE49-F238E27FC236}">
                <a16:creationId xmlns:a16="http://schemas.microsoft.com/office/drawing/2014/main" id="{A4B3181F-EE22-4312-B69A-D97211F6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BE1F9C-190C-4C77-AD71-3A586D8FDDF2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0" name="Rectangle 2">
            <a:extLst>
              <a:ext uri="{FF2B5EF4-FFF2-40B4-BE49-F238E27FC236}">
                <a16:creationId xmlns:a16="http://schemas.microsoft.com/office/drawing/2014/main" id="{C53E2F84-0872-4743-B46A-B0CE9C080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Multiple Segment Simpson’s 1/3</a:t>
            </a:r>
            <a:r>
              <a:rPr lang="en-US" altLang="en-US" sz="4000" baseline="30000"/>
              <a:t>rd</a:t>
            </a:r>
            <a:r>
              <a:rPr lang="en-US" altLang="en-US" sz="4000"/>
              <a:t> Rule</a:t>
            </a:r>
          </a:p>
        </p:txBody>
      </p:sp>
      <p:sp>
        <p:nvSpPr>
          <p:cNvPr id="13321" name="Rectangle 6">
            <a:extLst>
              <a:ext uri="{FF2B5EF4-FFF2-40B4-BE49-F238E27FC236}">
                <a16:creationId xmlns:a16="http://schemas.microsoft.com/office/drawing/2014/main" id="{B6DC5695-69E9-47E8-9D48-C340B78E3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992438"/>
            <a:ext cx="1098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322" name="Rectangle 14">
            <a:extLst>
              <a:ext uri="{FF2B5EF4-FFF2-40B4-BE49-F238E27FC236}">
                <a16:creationId xmlns:a16="http://schemas.microsoft.com/office/drawing/2014/main" id="{4A47E0EA-AADB-45F9-817B-3DA9962B8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3" name="Rectangle 15">
            <a:extLst>
              <a:ext uri="{FF2B5EF4-FFF2-40B4-BE49-F238E27FC236}">
                <a16:creationId xmlns:a16="http://schemas.microsoft.com/office/drawing/2014/main" id="{D0F41DC0-5AC9-416D-BF7D-FFBEBD88E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95663"/>
            <a:ext cx="266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324" name="Rectangle 18">
            <a:extLst>
              <a:ext uri="{FF2B5EF4-FFF2-40B4-BE49-F238E27FC236}">
                <a16:creationId xmlns:a16="http://schemas.microsoft.com/office/drawing/2014/main" id="{09B3CCFF-E76E-4DF9-A953-91972B12F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04800" y="3276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5" name="Rectangle 21">
            <a:extLst>
              <a:ext uri="{FF2B5EF4-FFF2-40B4-BE49-F238E27FC236}">
                <a16:creationId xmlns:a16="http://schemas.microsoft.com/office/drawing/2014/main" id="{0041E050-C19A-4A99-BEE3-0C02E5E58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5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6" name="Rectangle 24">
            <a:extLst>
              <a:ext uri="{FF2B5EF4-FFF2-40B4-BE49-F238E27FC236}">
                <a16:creationId xmlns:a16="http://schemas.microsoft.com/office/drawing/2014/main" id="{5F2DCE49-E075-404B-AC57-B2498389D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527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7" name="Rectangle 29">
            <a:extLst>
              <a:ext uri="{FF2B5EF4-FFF2-40B4-BE49-F238E27FC236}">
                <a16:creationId xmlns:a16="http://schemas.microsoft.com/office/drawing/2014/main" id="{98D145C2-A62B-48C0-84C1-A62197D6C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71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8" name="Rectangle 30">
            <a:extLst>
              <a:ext uri="{FF2B5EF4-FFF2-40B4-BE49-F238E27FC236}">
                <a16:creationId xmlns:a16="http://schemas.microsoft.com/office/drawing/2014/main" id="{C5EEE041-0207-4785-9168-B42595715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48025"/>
            <a:ext cx="2222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329" name="Rectangle 46">
            <a:extLst>
              <a:ext uri="{FF2B5EF4-FFF2-40B4-BE49-F238E27FC236}">
                <a16:creationId xmlns:a16="http://schemas.microsoft.com/office/drawing/2014/main" id="{82DCDC28-6D34-4D7D-91DD-88BC94FFE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38438"/>
            <a:ext cx="67945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330" name="Rectangle 51">
            <a:extLst>
              <a:ext uri="{FF2B5EF4-FFF2-40B4-BE49-F238E27FC236}">
                <a16:creationId xmlns:a16="http://schemas.microsoft.com/office/drawing/2014/main" id="{22580AE4-88E4-4334-BA50-15FE21D25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09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31" name="Rectangle 52">
            <a:extLst>
              <a:ext uri="{FF2B5EF4-FFF2-40B4-BE49-F238E27FC236}">
                <a16:creationId xmlns:a16="http://schemas.microsoft.com/office/drawing/2014/main" id="{238FBF42-07D6-4DFF-B0C9-ED477E36D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267200"/>
            <a:ext cx="51609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Apply Simpson’s 1/3rd Rule over each interval,</a:t>
            </a:r>
          </a:p>
        </p:txBody>
      </p:sp>
      <p:graphicFrame>
        <p:nvGraphicFramePr>
          <p:cNvPr id="13314" name="Object 53">
            <a:extLst>
              <a:ext uri="{FF2B5EF4-FFF2-40B4-BE49-F238E27FC236}">
                <a16:creationId xmlns:a16="http://schemas.microsoft.com/office/drawing/2014/main" id="{6D92E5E5-3007-447E-9BC1-FDC2605797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4800600"/>
          <a:ext cx="627538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4" name="Equation" r:id="rId3" imgW="6273720" imgH="787320" progId="Equation.3">
                  <p:embed/>
                </p:oleObj>
              </mc:Choice>
              <mc:Fallback>
                <p:oleObj name="Equation" r:id="rId3" imgW="6273720" imgH="787320" progId="Equation.3">
                  <p:embed/>
                  <p:pic>
                    <p:nvPicPr>
                      <p:cNvPr id="13314" name="Object 53">
                        <a:extLst>
                          <a:ext uri="{FF2B5EF4-FFF2-40B4-BE49-F238E27FC236}">
                            <a16:creationId xmlns:a16="http://schemas.microsoft.com/office/drawing/2014/main" id="{6D92E5E5-3007-447E-9BC1-FDC2605797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800600"/>
                        <a:ext cx="6275388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55">
            <a:extLst>
              <a:ext uri="{FF2B5EF4-FFF2-40B4-BE49-F238E27FC236}">
                <a16:creationId xmlns:a16="http://schemas.microsoft.com/office/drawing/2014/main" id="{41BE120A-C76C-4E52-AEF6-E85F7EDDE3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5715000"/>
          <a:ext cx="5135563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5" name="Equation" r:id="rId5" imgW="5130720" imgH="787320" progId="Equation.3">
                  <p:embed/>
                </p:oleObj>
              </mc:Choice>
              <mc:Fallback>
                <p:oleObj name="Equation" r:id="rId5" imgW="5130720" imgH="787320" progId="Equation.3">
                  <p:embed/>
                  <p:pic>
                    <p:nvPicPr>
                      <p:cNvPr id="13315" name="Object 55">
                        <a:extLst>
                          <a:ext uri="{FF2B5EF4-FFF2-40B4-BE49-F238E27FC236}">
                            <a16:creationId xmlns:a16="http://schemas.microsoft.com/office/drawing/2014/main" id="{41BE120A-C76C-4E52-AEF6-E85F7EDDE3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715000"/>
                        <a:ext cx="5135563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32" name="Group 76">
            <a:extLst>
              <a:ext uri="{FF2B5EF4-FFF2-40B4-BE49-F238E27FC236}">
                <a16:creationId xmlns:a16="http://schemas.microsoft.com/office/drawing/2014/main" id="{89105887-F486-44A1-BB41-A316623AEF1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62600" y="1600200"/>
            <a:ext cx="3238500" cy="2971800"/>
            <a:chOff x="3127" y="142"/>
            <a:chExt cx="4249" cy="3899"/>
          </a:xfrm>
        </p:grpSpPr>
        <p:sp>
          <p:nvSpPr>
            <p:cNvPr id="13335" name="AutoShape 77">
              <a:extLst>
                <a:ext uri="{FF2B5EF4-FFF2-40B4-BE49-F238E27FC236}">
                  <a16:creationId xmlns:a16="http://schemas.microsoft.com/office/drawing/2014/main" id="{E2F4DB35-B6FE-43C9-82B0-A3BC68E8F76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7" y="142"/>
              <a:ext cx="4249" cy="3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3336" name="Text Box 78">
              <a:extLst>
                <a:ext uri="{FF2B5EF4-FFF2-40B4-BE49-F238E27FC236}">
                  <a16:creationId xmlns:a16="http://schemas.microsoft.com/office/drawing/2014/main" id="{52B63B0C-C898-4F87-81BD-03580BA6B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7" y="479"/>
              <a:ext cx="763" cy="3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f(x)</a:t>
              </a:r>
              <a:endPara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3337" name="Line 79">
              <a:extLst>
                <a:ext uri="{FF2B5EF4-FFF2-40B4-BE49-F238E27FC236}">
                  <a16:creationId xmlns:a16="http://schemas.microsoft.com/office/drawing/2014/main" id="{09B22E40-600B-4F3B-B459-737CDAAFFA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7" y="479"/>
              <a:ext cx="0" cy="27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3338" name="Line 80">
              <a:extLst>
                <a:ext uri="{FF2B5EF4-FFF2-40B4-BE49-F238E27FC236}">
                  <a16:creationId xmlns:a16="http://schemas.microsoft.com/office/drawing/2014/main" id="{0ED68421-5A42-476D-BA6C-CD50773BA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9" y="2979"/>
              <a:ext cx="31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3339" name="Freeform 81">
              <a:extLst>
                <a:ext uri="{FF2B5EF4-FFF2-40B4-BE49-F238E27FC236}">
                  <a16:creationId xmlns:a16="http://schemas.microsoft.com/office/drawing/2014/main" id="{E6CD175F-C677-4A93-8497-920CCFD20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1054"/>
              <a:ext cx="2800" cy="1275"/>
            </a:xfrm>
            <a:custGeom>
              <a:avLst/>
              <a:gdLst>
                <a:gd name="T0" fmla="*/ 0 w 3360"/>
                <a:gd name="T1" fmla="*/ 1530 h 1530"/>
                <a:gd name="T2" fmla="*/ 870 w 3360"/>
                <a:gd name="T3" fmla="*/ 645 h 1530"/>
                <a:gd name="T4" fmla="*/ 1680 w 3360"/>
                <a:gd name="T5" fmla="*/ 675 h 1530"/>
                <a:gd name="T6" fmla="*/ 2370 w 3360"/>
                <a:gd name="T7" fmla="*/ 540 h 1530"/>
                <a:gd name="T8" fmla="*/ 3360 w 3360"/>
                <a:gd name="T9" fmla="*/ 0 h 15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60"/>
                <a:gd name="T16" fmla="*/ 0 h 1530"/>
                <a:gd name="T17" fmla="*/ 3360 w 3360"/>
                <a:gd name="T18" fmla="*/ 1530 h 15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60" h="1530">
                  <a:moveTo>
                    <a:pt x="0" y="1530"/>
                  </a:moveTo>
                  <a:cubicBezTo>
                    <a:pt x="295" y="1158"/>
                    <a:pt x="590" y="787"/>
                    <a:pt x="870" y="645"/>
                  </a:cubicBezTo>
                  <a:cubicBezTo>
                    <a:pt x="1150" y="503"/>
                    <a:pt x="1430" y="692"/>
                    <a:pt x="1680" y="675"/>
                  </a:cubicBezTo>
                  <a:cubicBezTo>
                    <a:pt x="1930" y="658"/>
                    <a:pt x="2090" y="652"/>
                    <a:pt x="2370" y="540"/>
                  </a:cubicBezTo>
                  <a:cubicBezTo>
                    <a:pt x="2650" y="428"/>
                    <a:pt x="3200" y="90"/>
                    <a:pt x="336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3340" name="Line 82">
              <a:extLst>
                <a:ext uri="{FF2B5EF4-FFF2-40B4-BE49-F238E27FC236}">
                  <a16:creationId xmlns:a16="http://schemas.microsoft.com/office/drawing/2014/main" id="{4C67519A-A59A-4313-AFAF-779009038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1667"/>
              <a:ext cx="0" cy="1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3341" name="Line 83">
              <a:extLst>
                <a:ext uri="{FF2B5EF4-FFF2-40B4-BE49-F238E27FC236}">
                  <a16:creationId xmlns:a16="http://schemas.microsoft.com/office/drawing/2014/main" id="{775751CF-1982-49F9-AD3F-0622E9FAB0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4" y="1567"/>
              <a:ext cx="0" cy="14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3342" name="Line 84">
              <a:extLst>
                <a:ext uri="{FF2B5EF4-FFF2-40B4-BE49-F238E27FC236}">
                  <a16:creationId xmlns:a16="http://schemas.microsoft.com/office/drawing/2014/main" id="{B7FE8A6C-29AA-4172-B0EF-29DF635AA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89" y="1192"/>
              <a:ext cx="0" cy="17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3343" name="Line 85">
              <a:extLst>
                <a:ext uri="{FF2B5EF4-FFF2-40B4-BE49-F238E27FC236}">
                  <a16:creationId xmlns:a16="http://schemas.microsoft.com/office/drawing/2014/main" id="{1ACB6695-FE28-4A8F-AE92-04FC0A8195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7" y="1454"/>
              <a:ext cx="0" cy="15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3344" name="Text Box 86">
              <a:extLst>
                <a:ext uri="{FF2B5EF4-FFF2-40B4-BE49-F238E27FC236}">
                  <a16:creationId xmlns:a16="http://schemas.microsoft.com/office/drawing/2014/main" id="{1F881B10-154E-4A2E-8FFF-656D39E69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4" y="1879"/>
              <a:ext cx="913" cy="3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.  .  .</a:t>
              </a:r>
              <a:endPara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3345" name="Text Box 87">
              <a:extLst>
                <a:ext uri="{FF2B5EF4-FFF2-40B4-BE49-F238E27FC236}">
                  <a16:creationId xmlns:a16="http://schemas.microsoft.com/office/drawing/2014/main" id="{41C3001A-B66D-4600-A420-F34F76AC67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2" y="3054"/>
              <a:ext cx="537" cy="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x</a:t>
              </a:r>
              <a:r>
                <a:rPr kumimoji="0" lang="en-US" altLang="en-US" sz="1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0</a:t>
              </a:r>
              <a:endPara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3346" name="Text Box 88">
              <a:extLst>
                <a:ext uri="{FF2B5EF4-FFF2-40B4-BE49-F238E27FC236}">
                  <a16:creationId xmlns:a16="http://schemas.microsoft.com/office/drawing/2014/main" id="{34496F52-DDCE-41F5-B4BE-CEEBFE5E3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9" y="3054"/>
              <a:ext cx="538" cy="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x</a:t>
              </a:r>
              <a:r>
                <a:rPr kumimoji="0" lang="en-US" altLang="en-US" sz="1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2</a:t>
              </a:r>
              <a:endPara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3347" name="Text Box 89">
              <a:extLst>
                <a:ext uri="{FF2B5EF4-FFF2-40B4-BE49-F238E27FC236}">
                  <a16:creationId xmlns:a16="http://schemas.microsoft.com/office/drawing/2014/main" id="{0FC36F1A-AE39-4471-B988-B80FD66FD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6" y="3054"/>
              <a:ext cx="538" cy="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x</a:t>
              </a:r>
              <a:r>
                <a:rPr kumimoji="0" lang="en-US" altLang="en-US" sz="1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n-2</a:t>
              </a:r>
              <a:endPara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3348" name="Text Box 90">
              <a:extLst>
                <a:ext uri="{FF2B5EF4-FFF2-40B4-BE49-F238E27FC236}">
                  <a16:creationId xmlns:a16="http://schemas.microsoft.com/office/drawing/2014/main" id="{2A95FF7C-7B5D-458D-9061-9C317EDD98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4" y="3054"/>
              <a:ext cx="537" cy="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x</a:t>
              </a:r>
              <a:r>
                <a:rPr kumimoji="0" lang="en-US" altLang="en-US" sz="1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n</a:t>
              </a:r>
              <a:endPara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3349" name="Text Box 91">
              <a:extLst>
                <a:ext uri="{FF2B5EF4-FFF2-40B4-BE49-F238E27FC236}">
                  <a16:creationId xmlns:a16="http://schemas.microsoft.com/office/drawing/2014/main" id="{755CA83B-123B-4782-A017-470019E7B8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" y="2516"/>
              <a:ext cx="413" cy="3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x</a:t>
              </a:r>
              <a:endPara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3333" name="Rectangle 93">
            <a:extLst>
              <a:ext uri="{FF2B5EF4-FFF2-40B4-BE49-F238E27FC236}">
                <a16:creationId xmlns:a16="http://schemas.microsoft.com/office/drawing/2014/main" id="{92A9FDA0-4977-4ADF-8E83-68929BE60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09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3316" name="Object 92">
            <a:extLst>
              <a:ext uri="{FF2B5EF4-FFF2-40B4-BE49-F238E27FC236}">
                <a16:creationId xmlns:a16="http://schemas.microsoft.com/office/drawing/2014/main" id="{6F401B48-8F3C-41D5-A46C-0080CB2C7B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2209800"/>
          <a:ext cx="46085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6" name="Equation" r:id="rId7" imgW="4609800" imgH="838080" progId="Equation.3">
                  <p:embed/>
                </p:oleObj>
              </mc:Choice>
              <mc:Fallback>
                <p:oleObj name="Equation" r:id="rId7" imgW="4609800" imgH="838080" progId="Equation.3">
                  <p:embed/>
                  <p:pic>
                    <p:nvPicPr>
                      <p:cNvPr id="13316" name="Object 92">
                        <a:extLst>
                          <a:ext uri="{FF2B5EF4-FFF2-40B4-BE49-F238E27FC236}">
                            <a16:creationId xmlns:a16="http://schemas.microsoft.com/office/drawing/2014/main" id="{6F401B48-8F3C-41D5-A46C-0080CB2C7B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09800"/>
                        <a:ext cx="4608513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4" name="Rectangle 95">
            <a:extLst>
              <a:ext uri="{FF2B5EF4-FFF2-40B4-BE49-F238E27FC236}">
                <a16:creationId xmlns:a16="http://schemas.microsoft.com/office/drawing/2014/main" id="{DEE59D48-3409-466C-A435-023544761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09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3317" name="Object 94">
            <a:extLst>
              <a:ext uri="{FF2B5EF4-FFF2-40B4-BE49-F238E27FC236}">
                <a16:creationId xmlns:a16="http://schemas.microsoft.com/office/drawing/2014/main" id="{B8437B48-1246-430E-9529-D7B4F9A7C3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200400"/>
          <a:ext cx="33432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7" name="Equation" r:id="rId9" imgW="3340100" imgH="838200" progId="Equation.3">
                  <p:embed/>
                </p:oleObj>
              </mc:Choice>
              <mc:Fallback>
                <p:oleObj name="Equation" r:id="rId9" imgW="3340100" imgH="838200" progId="Equation.3">
                  <p:embed/>
                  <p:pic>
                    <p:nvPicPr>
                      <p:cNvPr id="13317" name="Object 94">
                        <a:extLst>
                          <a:ext uri="{FF2B5EF4-FFF2-40B4-BE49-F238E27FC236}">
                            <a16:creationId xmlns:a16="http://schemas.microsoft.com/office/drawing/2014/main" id="{B8437B48-1246-430E-9529-D7B4F9A7C3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200400"/>
                        <a:ext cx="3343275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Footer Placeholder 4">
            <a:extLst>
              <a:ext uri="{FF2B5EF4-FFF2-40B4-BE49-F238E27FC236}">
                <a16:creationId xmlns:a16="http://schemas.microsoft.com/office/drawing/2014/main" id="{F0D7F900-F7A2-4D04-8543-DDC6A47C9CA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4343" name="Slide Number Placeholder 5">
            <a:extLst>
              <a:ext uri="{FF2B5EF4-FFF2-40B4-BE49-F238E27FC236}">
                <a16:creationId xmlns:a16="http://schemas.microsoft.com/office/drawing/2014/main" id="{C5F8309A-060C-49D2-B3B2-BCC175AB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E78440-B716-4FD9-84DE-0A59865D4720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4344" name="Rectangle 2">
            <a:extLst>
              <a:ext uri="{FF2B5EF4-FFF2-40B4-BE49-F238E27FC236}">
                <a16:creationId xmlns:a16="http://schemas.microsoft.com/office/drawing/2014/main" id="{B95727FB-AE25-4975-AAF0-B43CB0ACA2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Multiple Segment Simpson’s 1/3</a:t>
            </a:r>
            <a:r>
              <a:rPr lang="en-US" altLang="en-US" sz="4000" baseline="30000"/>
              <a:t>rd</a:t>
            </a:r>
            <a:r>
              <a:rPr lang="en-US" altLang="en-US" sz="4000"/>
              <a:t> Rule</a:t>
            </a:r>
          </a:p>
        </p:txBody>
      </p:sp>
      <p:sp>
        <p:nvSpPr>
          <p:cNvPr id="14345" name="Rectangle 14">
            <a:extLst>
              <a:ext uri="{FF2B5EF4-FFF2-40B4-BE49-F238E27FC236}">
                <a16:creationId xmlns:a16="http://schemas.microsoft.com/office/drawing/2014/main" id="{C39FB086-0A94-4E45-9455-8CEFFFB47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98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346" name="Rectangle 15">
            <a:extLst>
              <a:ext uri="{FF2B5EF4-FFF2-40B4-BE49-F238E27FC236}">
                <a16:creationId xmlns:a16="http://schemas.microsoft.com/office/drawing/2014/main" id="{E39A5895-517A-4CC5-8FA0-C380D4B2A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9225"/>
            <a:ext cx="10985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347" name="Rectangle 16">
            <a:extLst>
              <a:ext uri="{FF2B5EF4-FFF2-40B4-BE49-F238E27FC236}">
                <a16:creationId xmlns:a16="http://schemas.microsoft.com/office/drawing/2014/main" id="{52E537C1-0FA4-40A7-A987-8D480279E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00138"/>
            <a:ext cx="1098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348" name="Rectangle 17">
            <a:extLst>
              <a:ext uri="{FF2B5EF4-FFF2-40B4-BE49-F238E27FC236}">
                <a16:creationId xmlns:a16="http://schemas.microsoft.com/office/drawing/2014/main" id="{1CB063C1-8804-417B-A498-6ECFA800E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51050"/>
            <a:ext cx="565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349" name="Rectangle 18">
            <a:extLst>
              <a:ext uri="{FF2B5EF4-FFF2-40B4-BE49-F238E27FC236}">
                <a16:creationId xmlns:a16="http://schemas.microsoft.com/office/drawing/2014/main" id="{EAF6C23F-6081-4D1C-9D39-637B99CA8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01963"/>
            <a:ext cx="1289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350" name="Rectangle 19">
            <a:extLst>
              <a:ext uri="{FF2B5EF4-FFF2-40B4-BE49-F238E27FC236}">
                <a16:creationId xmlns:a16="http://schemas.microsoft.com/office/drawing/2014/main" id="{EACB888D-7C01-4852-B5A4-FA43224A8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38600"/>
            <a:ext cx="14033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351" name="Rectangle 20">
            <a:extLst>
              <a:ext uri="{FF2B5EF4-FFF2-40B4-BE49-F238E27FC236}">
                <a16:creationId xmlns:a16="http://schemas.microsoft.com/office/drawing/2014/main" id="{A4041494-286A-4100-8001-BC018360A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75238"/>
            <a:ext cx="1403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352" name="Rectangle 21">
            <a:extLst>
              <a:ext uri="{FF2B5EF4-FFF2-40B4-BE49-F238E27FC236}">
                <a16:creationId xmlns:a16="http://schemas.microsoft.com/office/drawing/2014/main" id="{A56706FA-0283-40D2-9AAA-A4C3158D7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59475"/>
            <a:ext cx="14033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353" name="Rectangle 22">
            <a:extLst>
              <a:ext uri="{FF2B5EF4-FFF2-40B4-BE49-F238E27FC236}">
                <a16:creationId xmlns:a16="http://schemas.microsoft.com/office/drawing/2014/main" id="{4DE1D7B7-2EB5-423C-8611-3F72F0AFC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43713"/>
            <a:ext cx="1403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354" name="Rectangle 30">
            <a:extLst>
              <a:ext uri="{FF2B5EF4-FFF2-40B4-BE49-F238E27FC236}">
                <a16:creationId xmlns:a16="http://schemas.microsoft.com/office/drawing/2014/main" id="{7957135F-F67E-487A-B657-1C93E1475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93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4355" name="Rectangle 33">
            <a:extLst>
              <a:ext uri="{FF2B5EF4-FFF2-40B4-BE49-F238E27FC236}">
                <a16:creationId xmlns:a16="http://schemas.microsoft.com/office/drawing/2014/main" id="{079EBC4C-888D-4432-B634-9A50A8481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29050"/>
            <a:ext cx="831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356" name="Rectangle 36">
            <a:extLst>
              <a:ext uri="{FF2B5EF4-FFF2-40B4-BE49-F238E27FC236}">
                <a16:creationId xmlns:a16="http://schemas.microsoft.com/office/drawing/2014/main" id="{D95CCAF2-8150-4BEC-A169-6C4AD23CC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76338" y="3024188"/>
            <a:ext cx="9144001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4338" name="Object 35">
            <a:extLst>
              <a:ext uri="{FF2B5EF4-FFF2-40B4-BE49-F238E27FC236}">
                <a16:creationId xmlns:a16="http://schemas.microsoft.com/office/drawing/2014/main" id="{639E3749-AF76-43CC-AB50-9ABB89FF11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5850" y="2057400"/>
          <a:ext cx="6478588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8" name="Equation" r:id="rId3" imgW="6476760" imgH="787320" progId="Equation.3">
                  <p:embed/>
                </p:oleObj>
              </mc:Choice>
              <mc:Fallback>
                <p:oleObj name="Equation" r:id="rId3" imgW="6476760" imgH="787320" progId="Equation.3">
                  <p:embed/>
                  <p:pic>
                    <p:nvPicPr>
                      <p:cNvPr id="14338" name="Object 35">
                        <a:extLst>
                          <a:ext uri="{FF2B5EF4-FFF2-40B4-BE49-F238E27FC236}">
                            <a16:creationId xmlns:a16="http://schemas.microsoft.com/office/drawing/2014/main" id="{639E3749-AF76-43CC-AB50-9ABB89FF11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2057400"/>
                        <a:ext cx="6478588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7" name="Rectangle 38">
            <a:extLst>
              <a:ext uri="{FF2B5EF4-FFF2-40B4-BE49-F238E27FC236}">
                <a16:creationId xmlns:a16="http://schemas.microsoft.com/office/drawing/2014/main" id="{C2886D21-4DED-4686-947C-168914196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3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4339" name="Object 37">
            <a:extLst>
              <a:ext uri="{FF2B5EF4-FFF2-40B4-BE49-F238E27FC236}">
                <a16:creationId xmlns:a16="http://schemas.microsoft.com/office/drawing/2014/main" id="{BC72ED70-E62F-4798-8C42-32E801555D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3200400"/>
          <a:ext cx="52959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9" name="Equation" r:id="rId5" imgW="5295900" imgH="787400" progId="Equation.3">
                  <p:embed/>
                </p:oleObj>
              </mc:Choice>
              <mc:Fallback>
                <p:oleObj name="Equation" r:id="rId5" imgW="5295900" imgH="787400" progId="Equation.3">
                  <p:embed/>
                  <p:pic>
                    <p:nvPicPr>
                      <p:cNvPr id="14339" name="Object 37">
                        <a:extLst>
                          <a:ext uri="{FF2B5EF4-FFF2-40B4-BE49-F238E27FC236}">
                            <a16:creationId xmlns:a16="http://schemas.microsoft.com/office/drawing/2014/main" id="{BC72ED70-E62F-4798-8C42-32E801555D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200400"/>
                        <a:ext cx="5295900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8" name="Rectangle 39">
            <a:extLst>
              <a:ext uri="{FF2B5EF4-FFF2-40B4-BE49-F238E27FC236}">
                <a16:creationId xmlns:a16="http://schemas.microsoft.com/office/drawing/2014/main" id="{4ABA9B74-BA10-4BB5-A884-E46EDC6AD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19600"/>
            <a:ext cx="7477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Since</a:t>
            </a:r>
          </a:p>
        </p:txBody>
      </p:sp>
      <p:sp>
        <p:nvSpPr>
          <p:cNvPr id="14359" name="Rectangle 42">
            <a:extLst>
              <a:ext uri="{FF2B5EF4-FFF2-40B4-BE49-F238E27FC236}">
                <a16:creationId xmlns:a16="http://schemas.microsoft.com/office/drawing/2014/main" id="{0B0141E1-E1BE-4F6D-8B74-5D5AB4370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305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4340" name="Object 41">
            <a:extLst>
              <a:ext uri="{FF2B5EF4-FFF2-40B4-BE49-F238E27FC236}">
                <a16:creationId xmlns:a16="http://schemas.microsoft.com/office/drawing/2014/main" id="{868F081E-0E7D-4CB1-93A9-C1268F9F1B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5105400"/>
          <a:ext cx="167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0" name="Equation" r:id="rId7" imgW="1676400" imgH="381000" progId="Equation.3">
                  <p:embed/>
                </p:oleObj>
              </mc:Choice>
              <mc:Fallback>
                <p:oleObj name="Equation" r:id="rId7" imgW="1676400" imgH="381000" progId="Equation.3">
                  <p:embed/>
                  <p:pic>
                    <p:nvPicPr>
                      <p:cNvPr id="14340" name="Object 41">
                        <a:extLst>
                          <a:ext uri="{FF2B5EF4-FFF2-40B4-BE49-F238E27FC236}">
                            <a16:creationId xmlns:a16="http://schemas.microsoft.com/office/drawing/2014/main" id="{868F081E-0E7D-4CB1-93A9-C1268F9F1B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105400"/>
                        <a:ext cx="1676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0" name="Rectangle 43">
            <a:extLst>
              <a:ext uri="{FF2B5EF4-FFF2-40B4-BE49-F238E27FC236}">
                <a16:creationId xmlns:a16="http://schemas.microsoft.com/office/drawing/2014/main" id="{3D4CECCB-6FCC-4532-8596-4B31DAF99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10985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4341" name="Object 40">
            <a:extLst>
              <a:ext uri="{FF2B5EF4-FFF2-40B4-BE49-F238E27FC236}">
                <a16:creationId xmlns:a16="http://schemas.microsoft.com/office/drawing/2014/main" id="{2F751E95-709D-410E-80E1-7A6E512FD1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5105400"/>
          <a:ext cx="15716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1" name="Equation" r:id="rId9" imgW="1574800" imgH="342900" progId="Equation.3">
                  <p:embed/>
                </p:oleObj>
              </mc:Choice>
              <mc:Fallback>
                <p:oleObj name="Equation" r:id="rId9" imgW="1574800" imgH="342900" progId="Equation.3">
                  <p:embed/>
                  <p:pic>
                    <p:nvPicPr>
                      <p:cNvPr id="14341" name="Object 40">
                        <a:extLst>
                          <a:ext uri="{FF2B5EF4-FFF2-40B4-BE49-F238E27FC236}">
                            <a16:creationId xmlns:a16="http://schemas.microsoft.com/office/drawing/2014/main" id="{2F751E95-709D-410E-80E1-7A6E512FD1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105400"/>
                        <a:ext cx="15716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4">
            <a:extLst>
              <a:ext uri="{FF2B5EF4-FFF2-40B4-BE49-F238E27FC236}">
                <a16:creationId xmlns:a16="http://schemas.microsoft.com/office/drawing/2014/main" id="{B550AB1F-9683-4B53-8ECC-B6F20946BE0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5367" name="Slide Number Placeholder 5">
            <a:extLst>
              <a:ext uri="{FF2B5EF4-FFF2-40B4-BE49-F238E27FC236}">
                <a16:creationId xmlns:a16="http://schemas.microsoft.com/office/drawing/2014/main" id="{068AE2DB-F1C0-44EB-AA7F-D1494C70B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C93868-2E70-431A-A9B0-84DF9D3B8B9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5368" name="Rectangle 2">
            <a:extLst>
              <a:ext uri="{FF2B5EF4-FFF2-40B4-BE49-F238E27FC236}">
                <a16:creationId xmlns:a16="http://schemas.microsoft.com/office/drawing/2014/main" id="{DE27716D-3E95-46E8-9B0A-6DD81363F5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Multiple Segment Simpson’s 1/3</a:t>
            </a:r>
            <a:r>
              <a:rPr lang="en-US" altLang="en-US" sz="4000" baseline="30000"/>
              <a:t>rd</a:t>
            </a:r>
            <a:r>
              <a:rPr lang="en-US" altLang="en-US" sz="4000"/>
              <a:t> Rule</a:t>
            </a:r>
          </a:p>
        </p:txBody>
      </p:sp>
      <p:sp>
        <p:nvSpPr>
          <p:cNvPr id="15369" name="Rectangle 6">
            <a:extLst>
              <a:ext uri="{FF2B5EF4-FFF2-40B4-BE49-F238E27FC236}">
                <a16:creationId xmlns:a16="http://schemas.microsoft.com/office/drawing/2014/main" id="{72621BE1-3C2C-4971-BD2E-E12D550F9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3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370" name="Rectangle 10">
            <a:extLst>
              <a:ext uri="{FF2B5EF4-FFF2-40B4-BE49-F238E27FC236}">
                <a16:creationId xmlns:a16="http://schemas.microsoft.com/office/drawing/2014/main" id="{A24321A3-82AD-4E5C-B1D5-C915B1732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5371" name="Rectangle 11">
            <a:extLst>
              <a:ext uri="{FF2B5EF4-FFF2-40B4-BE49-F238E27FC236}">
                <a16:creationId xmlns:a16="http://schemas.microsoft.com/office/drawing/2014/main" id="{18FDF6EB-4779-471E-9270-94B64AB17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00438"/>
            <a:ext cx="1327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372" name="Rectangle 12">
            <a:extLst>
              <a:ext uri="{FF2B5EF4-FFF2-40B4-BE49-F238E27FC236}">
                <a16:creationId xmlns:a16="http://schemas.microsoft.com/office/drawing/2014/main" id="{3719CEFC-507C-4715-83D0-30452CDBF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13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373" name="Rectangle 13">
            <a:extLst>
              <a:ext uri="{FF2B5EF4-FFF2-40B4-BE49-F238E27FC236}">
                <a16:creationId xmlns:a16="http://schemas.microsoft.com/office/drawing/2014/main" id="{CFEE5950-3D50-4AEB-8D68-44B1D0ACC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86000"/>
            <a:ext cx="7223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Then</a:t>
            </a:r>
          </a:p>
        </p:txBody>
      </p:sp>
      <p:sp>
        <p:nvSpPr>
          <p:cNvPr id="15374" name="Rectangle 18">
            <a:extLst>
              <a:ext uri="{FF2B5EF4-FFF2-40B4-BE49-F238E27FC236}">
                <a16:creationId xmlns:a16="http://schemas.microsoft.com/office/drawing/2014/main" id="{70F706F0-5DC0-47AD-942D-F28F44A4F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3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5375" name="Rectangle 19">
            <a:extLst>
              <a:ext uri="{FF2B5EF4-FFF2-40B4-BE49-F238E27FC236}">
                <a16:creationId xmlns:a16="http://schemas.microsoft.com/office/drawing/2014/main" id="{01E2ED2E-6357-48DC-932C-797DFDEFA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1613"/>
            <a:ext cx="23558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   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376" name="Rectangle 20">
            <a:extLst>
              <a:ext uri="{FF2B5EF4-FFF2-40B4-BE49-F238E27FC236}">
                <a16:creationId xmlns:a16="http://schemas.microsoft.com/office/drawing/2014/main" id="{5C51E603-F9DF-4B51-842D-3746A6D00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2475"/>
            <a:ext cx="603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377" name="Rectangle 21">
            <a:extLst>
              <a:ext uri="{FF2B5EF4-FFF2-40B4-BE49-F238E27FC236}">
                <a16:creationId xmlns:a16="http://schemas.microsoft.com/office/drawing/2014/main" id="{C40223E7-2E0C-473D-B62F-902D2B0C6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05313"/>
            <a:ext cx="23558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   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378" name="Rectangle 23">
            <a:extLst>
              <a:ext uri="{FF2B5EF4-FFF2-40B4-BE49-F238E27FC236}">
                <a16:creationId xmlns:a16="http://schemas.microsoft.com/office/drawing/2014/main" id="{2DDDCC40-8D2F-449A-9C7A-9E88E12C1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2888" y="3024188"/>
            <a:ext cx="9144001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5362" name="Object 22">
            <a:extLst>
              <a:ext uri="{FF2B5EF4-FFF2-40B4-BE49-F238E27FC236}">
                <a16:creationId xmlns:a16="http://schemas.microsoft.com/office/drawing/2014/main" id="{C158C93A-CB0F-42C0-B083-6D77A75501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74750" y="2743200"/>
          <a:ext cx="54895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2" name="Equation" r:id="rId3" imgW="5486400" imgH="787320" progId="Equation.3">
                  <p:embed/>
                </p:oleObj>
              </mc:Choice>
              <mc:Fallback>
                <p:oleObj name="Equation" r:id="rId3" imgW="5486400" imgH="787320" progId="Equation.3">
                  <p:embed/>
                  <p:pic>
                    <p:nvPicPr>
                      <p:cNvPr id="15362" name="Object 22">
                        <a:extLst>
                          <a:ext uri="{FF2B5EF4-FFF2-40B4-BE49-F238E27FC236}">
                            <a16:creationId xmlns:a16="http://schemas.microsoft.com/office/drawing/2014/main" id="{C158C93A-CB0F-42C0-B083-6D77A75501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0" y="2743200"/>
                        <a:ext cx="5489575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9" name="Rectangle 25">
            <a:extLst>
              <a:ext uri="{FF2B5EF4-FFF2-40B4-BE49-F238E27FC236}">
                <a16:creationId xmlns:a16="http://schemas.microsoft.com/office/drawing/2014/main" id="{5ABA7B42-3BBF-4A03-B64C-E4F838266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3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5363" name="Object 24">
            <a:extLst>
              <a:ext uri="{FF2B5EF4-FFF2-40B4-BE49-F238E27FC236}">
                <a16:creationId xmlns:a16="http://schemas.microsoft.com/office/drawing/2014/main" id="{B2B885A2-176A-4A3D-AA03-E562C98C18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3657600"/>
          <a:ext cx="43434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3" name="Equation" r:id="rId5" imgW="4343400" imgH="787400" progId="Equation.3">
                  <p:embed/>
                </p:oleObj>
              </mc:Choice>
              <mc:Fallback>
                <p:oleObj name="Equation" r:id="rId5" imgW="4343400" imgH="787400" progId="Equation.3">
                  <p:embed/>
                  <p:pic>
                    <p:nvPicPr>
                      <p:cNvPr id="15363" name="Object 24">
                        <a:extLst>
                          <a:ext uri="{FF2B5EF4-FFF2-40B4-BE49-F238E27FC236}">
                            <a16:creationId xmlns:a16="http://schemas.microsoft.com/office/drawing/2014/main" id="{B2B885A2-176A-4A3D-AA03-E562C98C18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657600"/>
                        <a:ext cx="4343400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0" name="Rectangle 27">
            <a:extLst>
              <a:ext uri="{FF2B5EF4-FFF2-40B4-BE49-F238E27FC236}">
                <a16:creationId xmlns:a16="http://schemas.microsoft.com/office/drawing/2014/main" id="{7B1FA5F6-2AD8-4AEC-B04E-8EBEC9C3B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24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5364" name="Object 26">
            <a:extLst>
              <a:ext uri="{FF2B5EF4-FFF2-40B4-BE49-F238E27FC236}">
                <a16:creationId xmlns:a16="http://schemas.microsoft.com/office/drawing/2014/main" id="{4E849180-9F57-4E65-B343-EE05D6D12B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4648200"/>
          <a:ext cx="5002213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4" name="Equation" r:id="rId7" imgW="5003640" imgH="787320" progId="Equation.3">
                  <p:embed/>
                </p:oleObj>
              </mc:Choice>
              <mc:Fallback>
                <p:oleObj name="Equation" r:id="rId7" imgW="5003640" imgH="787320" progId="Equation.3">
                  <p:embed/>
                  <p:pic>
                    <p:nvPicPr>
                      <p:cNvPr id="15364" name="Object 26">
                        <a:extLst>
                          <a:ext uri="{FF2B5EF4-FFF2-40B4-BE49-F238E27FC236}">
                            <a16:creationId xmlns:a16="http://schemas.microsoft.com/office/drawing/2014/main" id="{4E849180-9F57-4E65-B343-EE05D6D12B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648200"/>
                        <a:ext cx="5002213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1" name="Rectangle 29">
            <a:extLst>
              <a:ext uri="{FF2B5EF4-FFF2-40B4-BE49-F238E27FC236}">
                <a16:creationId xmlns:a16="http://schemas.microsoft.com/office/drawing/2014/main" id="{6334AD21-8DF0-48A2-9D79-869C16F95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3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5365" name="Object 28">
            <a:extLst>
              <a:ext uri="{FF2B5EF4-FFF2-40B4-BE49-F238E27FC236}">
                <a16:creationId xmlns:a16="http://schemas.microsoft.com/office/drawing/2014/main" id="{C1D3F44C-CF37-46A5-817E-9CD6480B30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5562600"/>
          <a:ext cx="42957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5" name="Equation" r:id="rId9" imgW="4292600" imgH="787400" progId="Equation.3">
                  <p:embed/>
                </p:oleObj>
              </mc:Choice>
              <mc:Fallback>
                <p:oleObj name="Equation" r:id="rId9" imgW="4292600" imgH="787400" progId="Equation.3">
                  <p:embed/>
                  <p:pic>
                    <p:nvPicPr>
                      <p:cNvPr id="15365" name="Object 28">
                        <a:extLst>
                          <a:ext uri="{FF2B5EF4-FFF2-40B4-BE49-F238E27FC236}">
                            <a16:creationId xmlns:a16="http://schemas.microsoft.com/office/drawing/2014/main" id="{C1D3F44C-CF37-46A5-817E-9CD6480B30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562600"/>
                        <a:ext cx="429577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Footer Placeholder 4">
            <a:extLst>
              <a:ext uri="{FF2B5EF4-FFF2-40B4-BE49-F238E27FC236}">
                <a16:creationId xmlns:a16="http://schemas.microsoft.com/office/drawing/2014/main" id="{CCBE13A8-119E-4B19-8DE3-A6904CF00AA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6392" name="Slide Number Placeholder 5">
            <a:extLst>
              <a:ext uri="{FF2B5EF4-FFF2-40B4-BE49-F238E27FC236}">
                <a16:creationId xmlns:a16="http://schemas.microsoft.com/office/drawing/2014/main" id="{005604A4-DABB-4382-AC32-6E9220765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60719B-0A7A-4154-B2DF-6A5BFC2368E5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6393" name="Rectangle 2">
            <a:extLst>
              <a:ext uri="{FF2B5EF4-FFF2-40B4-BE49-F238E27FC236}">
                <a16:creationId xmlns:a16="http://schemas.microsoft.com/office/drawing/2014/main" id="{E8AF32AF-9A2F-4FC3-BF75-4897FB2817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Multiple Segment Simpson’s 1/3</a:t>
            </a:r>
            <a:r>
              <a:rPr lang="en-US" altLang="en-US" sz="4000" baseline="30000"/>
              <a:t>rd</a:t>
            </a:r>
            <a:r>
              <a:rPr lang="en-US" altLang="en-US" sz="4000"/>
              <a:t> Rule</a:t>
            </a:r>
          </a:p>
        </p:txBody>
      </p:sp>
      <p:sp>
        <p:nvSpPr>
          <p:cNvPr id="16394" name="Rectangle 9">
            <a:extLst>
              <a:ext uri="{FF2B5EF4-FFF2-40B4-BE49-F238E27FC236}">
                <a16:creationId xmlns:a16="http://schemas.microsoft.com/office/drawing/2014/main" id="{C428B97B-86A8-423A-B8D4-3CD86E370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2190750"/>
            <a:ext cx="1389062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6395" name="Rectangle 11">
            <a:extLst>
              <a:ext uri="{FF2B5EF4-FFF2-40B4-BE49-F238E27FC236}">
                <a16:creationId xmlns:a16="http://schemas.microsoft.com/office/drawing/2014/main" id="{4243A338-8D7B-462A-BF49-352A395F5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2190750"/>
            <a:ext cx="1389062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6396" name="Rectangle 221">
            <a:extLst>
              <a:ext uri="{FF2B5EF4-FFF2-40B4-BE49-F238E27FC236}">
                <a16:creationId xmlns:a16="http://schemas.microsoft.com/office/drawing/2014/main" id="{8B87FF6A-3C9E-4FEF-A032-0245BDD4B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147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6397" name="Rectangle 228">
            <a:extLst>
              <a:ext uri="{FF2B5EF4-FFF2-40B4-BE49-F238E27FC236}">
                <a16:creationId xmlns:a16="http://schemas.microsoft.com/office/drawing/2014/main" id="{FA3DDFE2-C43A-4ABE-863C-9360AC813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6398" name="Rectangle 232">
            <a:extLst>
              <a:ext uri="{FF2B5EF4-FFF2-40B4-BE49-F238E27FC236}">
                <a16:creationId xmlns:a16="http://schemas.microsoft.com/office/drawing/2014/main" id="{6E14AEAC-CD43-43AD-AE15-E58B1C4A7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59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6399" name="Rectangle 233">
            <a:extLst>
              <a:ext uri="{FF2B5EF4-FFF2-40B4-BE49-F238E27FC236}">
                <a16:creationId xmlns:a16="http://schemas.microsoft.com/office/drawing/2014/main" id="{03725D73-EF5C-4756-8DAD-26A1C07E7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9650"/>
            <a:ext cx="132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6400" name="Rectangle 236">
            <a:extLst>
              <a:ext uri="{FF2B5EF4-FFF2-40B4-BE49-F238E27FC236}">
                <a16:creationId xmlns:a16="http://schemas.microsoft.com/office/drawing/2014/main" id="{126149FA-2177-427D-AEEE-864680C07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09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6386" name="Object 235">
            <a:extLst>
              <a:ext uri="{FF2B5EF4-FFF2-40B4-BE49-F238E27FC236}">
                <a16:creationId xmlns:a16="http://schemas.microsoft.com/office/drawing/2014/main" id="{D7106C46-3A57-4B15-95CB-C8F5762705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362200"/>
          <a:ext cx="1130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8" name="Equation" r:id="rId3" imgW="1130040" imgH="787320" progId="Equation.3">
                  <p:embed/>
                </p:oleObj>
              </mc:Choice>
              <mc:Fallback>
                <p:oleObj name="Equation" r:id="rId3" imgW="1130040" imgH="787320" progId="Equation.3">
                  <p:embed/>
                  <p:pic>
                    <p:nvPicPr>
                      <p:cNvPr id="16386" name="Object 235">
                        <a:extLst>
                          <a:ext uri="{FF2B5EF4-FFF2-40B4-BE49-F238E27FC236}">
                            <a16:creationId xmlns:a16="http://schemas.microsoft.com/office/drawing/2014/main" id="{D7106C46-3A57-4B15-95CB-C8F5762705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362200"/>
                        <a:ext cx="11303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1" name="Rectangle 238">
            <a:extLst>
              <a:ext uri="{FF2B5EF4-FFF2-40B4-BE49-F238E27FC236}">
                <a16:creationId xmlns:a16="http://schemas.microsoft.com/office/drawing/2014/main" id="{B8F505CA-7036-4B80-B7AB-AD2471F3F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09650" y="3062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6402" name="Rectangle 240">
            <a:extLst>
              <a:ext uri="{FF2B5EF4-FFF2-40B4-BE49-F238E27FC236}">
                <a16:creationId xmlns:a16="http://schemas.microsoft.com/office/drawing/2014/main" id="{729CF5B7-09DF-4883-8C4F-8E805B9D3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09650" y="3062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6387" name="Object 239">
            <a:extLst>
              <a:ext uri="{FF2B5EF4-FFF2-40B4-BE49-F238E27FC236}">
                <a16:creationId xmlns:a16="http://schemas.microsoft.com/office/drawing/2014/main" id="{63060735-E5DD-4FA4-A300-78EBCF9919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8850" y="2362200"/>
          <a:ext cx="59817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9" name="Equation" r:id="rId5" imgW="5981400" imgH="723600" progId="Equation.3">
                  <p:embed/>
                </p:oleObj>
              </mc:Choice>
              <mc:Fallback>
                <p:oleObj name="Equation" r:id="rId5" imgW="5981400" imgH="723600" progId="Equation.3">
                  <p:embed/>
                  <p:pic>
                    <p:nvPicPr>
                      <p:cNvPr id="16387" name="Object 239">
                        <a:extLst>
                          <a:ext uri="{FF2B5EF4-FFF2-40B4-BE49-F238E27FC236}">
                            <a16:creationId xmlns:a16="http://schemas.microsoft.com/office/drawing/2014/main" id="{63060735-E5DD-4FA4-A300-78EBCF9919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2362200"/>
                        <a:ext cx="5981700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3" name="Rectangle 242">
            <a:extLst>
              <a:ext uri="{FF2B5EF4-FFF2-40B4-BE49-F238E27FC236}">
                <a16:creationId xmlns:a16="http://schemas.microsoft.com/office/drawing/2014/main" id="{D7F5DA07-7FB8-4B9C-8E2E-A0F644794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6388" name="Object 241">
            <a:extLst>
              <a:ext uri="{FF2B5EF4-FFF2-40B4-BE49-F238E27FC236}">
                <a16:creationId xmlns:a16="http://schemas.microsoft.com/office/drawing/2014/main" id="{6CDA2B17-AD6B-417E-A6ED-A3CE1F4E14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2100" y="3352800"/>
          <a:ext cx="54403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0" name="Equation" r:id="rId7" imgW="5435280" imgH="380880" progId="Equation.3">
                  <p:embed/>
                </p:oleObj>
              </mc:Choice>
              <mc:Fallback>
                <p:oleObj name="Equation" r:id="rId7" imgW="5435280" imgH="380880" progId="Equation.3">
                  <p:embed/>
                  <p:pic>
                    <p:nvPicPr>
                      <p:cNvPr id="16388" name="Object 241">
                        <a:extLst>
                          <a:ext uri="{FF2B5EF4-FFF2-40B4-BE49-F238E27FC236}">
                            <a16:creationId xmlns:a16="http://schemas.microsoft.com/office/drawing/2014/main" id="{6CDA2B17-AD6B-417E-A6ED-A3CE1F4E14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3352800"/>
                        <a:ext cx="54403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4" name="Rectangle 244">
            <a:extLst>
              <a:ext uri="{FF2B5EF4-FFF2-40B4-BE49-F238E27FC236}">
                <a16:creationId xmlns:a16="http://schemas.microsoft.com/office/drawing/2014/main" id="{14D4BA7F-5B3C-413D-BF3F-B081012E0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6389" name="Object 243">
            <a:extLst>
              <a:ext uri="{FF2B5EF4-FFF2-40B4-BE49-F238E27FC236}">
                <a16:creationId xmlns:a16="http://schemas.microsoft.com/office/drawing/2014/main" id="{76B0AC10-B547-4478-A9BC-26829738DF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3886200"/>
          <a:ext cx="561022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1" name="Equation" r:id="rId9" imgW="5613400" imgH="1219200" progId="Equation.3">
                  <p:embed/>
                </p:oleObj>
              </mc:Choice>
              <mc:Fallback>
                <p:oleObj name="Equation" r:id="rId9" imgW="5613400" imgH="1219200" progId="Equation.3">
                  <p:embed/>
                  <p:pic>
                    <p:nvPicPr>
                      <p:cNvPr id="16389" name="Object 243">
                        <a:extLst>
                          <a:ext uri="{FF2B5EF4-FFF2-40B4-BE49-F238E27FC236}">
                            <a16:creationId xmlns:a16="http://schemas.microsoft.com/office/drawing/2014/main" id="{76B0AC10-B547-4478-A9BC-26829738DF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886200"/>
                        <a:ext cx="5610225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5" name="Rectangle 246">
            <a:extLst>
              <a:ext uri="{FF2B5EF4-FFF2-40B4-BE49-F238E27FC236}">
                <a16:creationId xmlns:a16="http://schemas.microsoft.com/office/drawing/2014/main" id="{074ABEF3-FF06-41E8-9E4B-2FFB28B8F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6390" name="Object 245">
            <a:extLst>
              <a:ext uri="{FF2B5EF4-FFF2-40B4-BE49-F238E27FC236}">
                <a16:creationId xmlns:a16="http://schemas.microsoft.com/office/drawing/2014/main" id="{0BB5DF7B-9CAE-4E65-8347-556EF1430C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5257800"/>
          <a:ext cx="6019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2" name="Equation" r:id="rId11" imgW="6019800" imgH="1219200" progId="Equation.3">
                  <p:embed/>
                </p:oleObj>
              </mc:Choice>
              <mc:Fallback>
                <p:oleObj name="Equation" r:id="rId11" imgW="6019800" imgH="1219200" progId="Equation.3">
                  <p:embed/>
                  <p:pic>
                    <p:nvPicPr>
                      <p:cNvPr id="16390" name="Object 245">
                        <a:extLst>
                          <a:ext uri="{FF2B5EF4-FFF2-40B4-BE49-F238E27FC236}">
                            <a16:creationId xmlns:a16="http://schemas.microsoft.com/office/drawing/2014/main" id="{0BB5DF7B-9CAE-4E65-8347-556EF1430C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257800"/>
                        <a:ext cx="601980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Footer Placeholder 6">
            <a:extLst>
              <a:ext uri="{FF2B5EF4-FFF2-40B4-BE49-F238E27FC236}">
                <a16:creationId xmlns:a16="http://schemas.microsoft.com/office/drawing/2014/main" id="{063C7E27-342F-4570-862D-B1FE47D03C9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7414" name="Slide Number Placeholder 7">
            <a:extLst>
              <a:ext uri="{FF2B5EF4-FFF2-40B4-BE49-F238E27FC236}">
                <a16:creationId xmlns:a16="http://schemas.microsoft.com/office/drawing/2014/main" id="{D2BD9404-E830-4100-B9AE-23E0CB03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AA1773-1240-4990-9DED-8AE8A7DB2774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7415" name="Rectangle 2">
            <a:extLst>
              <a:ext uri="{FF2B5EF4-FFF2-40B4-BE49-F238E27FC236}">
                <a16:creationId xmlns:a16="http://schemas.microsoft.com/office/drawing/2014/main" id="{264F2B08-BBA9-483B-80EB-0A805ECA0E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2</a:t>
            </a:r>
          </a:p>
        </p:txBody>
      </p:sp>
      <p:sp>
        <p:nvSpPr>
          <p:cNvPr id="17416" name="Rectangle 3">
            <a:extLst>
              <a:ext uri="{FF2B5EF4-FFF2-40B4-BE49-F238E27FC236}">
                <a16:creationId xmlns:a16="http://schemas.microsoft.com/office/drawing/2014/main" id="{C522FAD0-EC2B-4F63-AF80-D1D9C9A3AD9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2057400"/>
            <a:ext cx="8153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1700"/>
              <a:t>	</a:t>
            </a:r>
            <a:r>
              <a:rPr lang="en-US" altLang="en-US" sz="2000"/>
              <a:t>Use 4-segment Simpson’s 1/3rd Rule to approximate the distance</a:t>
            </a:r>
          </a:p>
        </p:txBody>
      </p:sp>
      <p:sp>
        <p:nvSpPr>
          <p:cNvPr id="17417" name="Text Box 4">
            <a:extLst>
              <a:ext uri="{FF2B5EF4-FFF2-40B4-BE49-F238E27FC236}">
                <a16:creationId xmlns:a16="http://schemas.microsoft.com/office/drawing/2014/main" id="{AB0BC72C-02F4-45BC-B753-4E1EC78AF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895600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covered by a rocket from t= 8 to t=30 as given by</a:t>
            </a:r>
          </a:p>
        </p:txBody>
      </p:sp>
      <p:sp>
        <p:nvSpPr>
          <p:cNvPr id="17418" name="Rectangle 6">
            <a:extLst>
              <a:ext uri="{FF2B5EF4-FFF2-40B4-BE49-F238E27FC236}">
                <a16:creationId xmlns:a16="http://schemas.microsoft.com/office/drawing/2014/main" id="{985E4CD5-E0AA-4CDD-A4B2-3E8EB64F8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24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7411" name="Object 5">
            <a:extLst>
              <a:ext uri="{FF2B5EF4-FFF2-40B4-BE49-F238E27FC236}">
                <a16:creationId xmlns:a16="http://schemas.microsoft.com/office/drawing/2014/main" id="{EBC988A4-305E-4452-9767-8BEA7B55BD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3725600"/>
          <a:ext cx="50673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4" name="Equation" r:id="rId3" imgW="5067300" imgH="812800" progId="Equation.3">
                  <p:embed/>
                </p:oleObj>
              </mc:Choice>
              <mc:Fallback>
                <p:oleObj name="Equation" r:id="rId3" imgW="5067300" imgH="812800" progId="Equation.3">
                  <p:embed/>
                  <p:pic>
                    <p:nvPicPr>
                      <p:cNvPr id="17411" name="Object 5">
                        <a:extLst>
                          <a:ext uri="{FF2B5EF4-FFF2-40B4-BE49-F238E27FC236}">
                            <a16:creationId xmlns:a16="http://schemas.microsoft.com/office/drawing/2014/main" id="{EBC988A4-305E-4452-9767-8BEA7B55BD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725600"/>
                        <a:ext cx="5067300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Rectangle 7">
            <a:extLst>
              <a:ext uri="{FF2B5EF4-FFF2-40B4-BE49-F238E27FC236}">
                <a16:creationId xmlns:a16="http://schemas.microsoft.com/office/drawing/2014/main" id="{59AEA3F2-22B7-4DBC-BCA3-79391B185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035226"/>
            <a:ext cx="81534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Use four segment Simpson’s 1/3rd Rule to find the approximate value  of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x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.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Find the true error, for part (a).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Find the absolute relative true error, for part (a).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5" name="Footer Placeholder 4">
            <a:extLst>
              <a:ext uri="{FF2B5EF4-FFF2-40B4-BE49-F238E27FC236}">
                <a16:creationId xmlns:a16="http://schemas.microsoft.com/office/drawing/2014/main" id="{FD5071DB-D40D-42B8-B39F-C908A74926D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8446" name="Slide Number Placeholder 5">
            <a:extLst>
              <a:ext uri="{FF2B5EF4-FFF2-40B4-BE49-F238E27FC236}">
                <a16:creationId xmlns:a16="http://schemas.microsoft.com/office/drawing/2014/main" id="{86300069-E4A1-477A-8654-11B25672A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DBF82F-B4A5-4994-9B76-3B68411B78D2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8447" name="Rectangle 2">
            <a:extLst>
              <a:ext uri="{FF2B5EF4-FFF2-40B4-BE49-F238E27FC236}">
                <a16:creationId xmlns:a16="http://schemas.microsoft.com/office/drawing/2014/main" id="{423CB328-D5EC-423D-BFE1-099172CCF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Solution</a:t>
            </a:r>
          </a:p>
        </p:txBody>
      </p:sp>
      <p:sp>
        <p:nvSpPr>
          <p:cNvPr id="18448" name="Rectangle 4">
            <a:extLst>
              <a:ext uri="{FF2B5EF4-FFF2-40B4-BE49-F238E27FC236}">
                <a16:creationId xmlns:a16="http://schemas.microsoft.com/office/drawing/2014/main" id="{1C21B7C6-06D7-440A-A2BD-A24474B6E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33600"/>
            <a:ext cx="4381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Using n segment Simpson’s 1/3rd Rule,</a:t>
            </a:r>
          </a:p>
        </p:txBody>
      </p:sp>
      <p:sp>
        <p:nvSpPr>
          <p:cNvPr id="18449" name="Rectangle 7">
            <a:extLst>
              <a:ext uri="{FF2B5EF4-FFF2-40B4-BE49-F238E27FC236}">
                <a16:creationId xmlns:a16="http://schemas.microsoft.com/office/drawing/2014/main" id="{E05B412B-0F09-4233-8DC6-E07859B14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92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8450" name="Rectangle 8">
            <a:extLst>
              <a:ext uri="{FF2B5EF4-FFF2-40B4-BE49-F238E27FC236}">
                <a16:creationId xmlns:a16="http://schemas.microsoft.com/office/drawing/2014/main" id="{5CF6119B-74A5-4B8B-8EF9-881CB4743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16313"/>
            <a:ext cx="12128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18451" name="Group 9">
            <a:extLst>
              <a:ext uri="{FF2B5EF4-FFF2-40B4-BE49-F238E27FC236}">
                <a16:creationId xmlns:a16="http://schemas.microsoft.com/office/drawing/2014/main" id="{F36964A2-E139-4EEE-B823-34126EC124A7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667000"/>
            <a:ext cx="2019300" cy="723900"/>
            <a:chOff x="1248" y="1680"/>
            <a:chExt cx="1272" cy="456"/>
          </a:xfrm>
        </p:grpSpPr>
        <p:graphicFrame>
          <p:nvGraphicFramePr>
            <p:cNvPr id="18443" name="Object 6">
              <a:extLst>
                <a:ext uri="{FF2B5EF4-FFF2-40B4-BE49-F238E27FC236}">
                  <a16:creationId xmlns:a16="http://schemas.microsoft.com/office/drawing/2014/main" id="{2817EEC7-6F6E-4242-B1E6-D65F1BDBD5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8" y="1680"/>
            <a:ext cx="77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38" name="Equation" r:id="rId3" imgW="1231366" imgH="723586" progId="Equation.3">
                    <p:embed/>
                  </p:oleObj>
                </mc:Choice>
                <mc:Fallback>
                  <p:oleObj name="Equation" r:id="rId3" imgW="1231366" imgH="723586" progId="Equation.3">
                    <p:embed/>
                    <p:pic>
                      <p:nvPicPr>
                        <p:cNvPr id="18443" name="Object 6">
                          <a:extLst>
                            <a:ext uri="{FF2B5EF4-FFF2-40B4-BE49-F238E27FC236}">
                              <a16:creationId xmlns:a16="http://schemas.microsoft.com/office/drawing/2014/main" id="{2817EEC7-6F6E-4242-B1E6-D65F1BDBD5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680"/>
                          <a:ext cx="774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4" name="Object 5">
              <a:extLst>
                <a:ext uri="{FF2B5EF4-FFF2-40B4-BE49-F238E27FC236}">
                  <a16:creationId xmlns:a16="http://schemas.microsoft.com/office/drawing/2014/main" id="{E9FB8AD5-24E7-41FE-80A9-08B4A4F2AE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12" y="1824"/>
            <a:ext cx="408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39" name="Equation" r:id="rId5" imgW="647700" imgH="279400" progId="Equation.3">
                    <p:embed/>
                  </p:oleObj>
                </mc:Choice>
                <mc:Fallback>
                  <p:oleObj name="Equation" r:id="rId5" imgW="647700" imgH="279400" progId="Equation.3">
                    <p:embed/>
                    <p:pic>
                      <p:nvPicPr>
                        <p:cNvPr id="18444" name="Object 5">
                          <a:extLst>
                            <a:ext uri="{FF2B5EF4-FFF2-40B4-BE49-F238E27FC236}">
                              <a16:creationId xmlns:a16="http://schemas.microsoft.com/office/drawing/2014/main" id="{E9FB8AD5-24E7-41FE-80A9-08B4A4F2AE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824"/>
                          <a:ext cx="408" cy="1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52" name="Text Box 10">
            <a:extLst>
              <a:ext uri="{FF2B5EF4-FFF2-40B4-BE49-F238E27FC236}">
                <a16:creationId xmlns:a16="http://schemas.microsoft.com/office/drawing/2014/main" id="{3AFD9B76-FB06-41E5-AD3A-2E8855026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581400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So</a:t>
            </a:r>
          </a:p>
        </p:txBody>
      </p:sp>
      <p:sp>
        <p:nvSpPr>
          <p:cNvPr id="18453" name="Rectangle 20">
            <a:extLst>
              <a:ext uri="{FF2B5EF4-FFF2-40B4-BE49-F238E27FC236}">
                <a16:creationId xmlns:a16="http://schemas.microsoft.com/office/drawing/2014/main" id="{8F2E1222-A30B-401C-82AF-EEC1396E8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016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8434" name="Object 19">
            <a:extLst>
              <a:ext uri="{FF2B5EF4-FFF2-40B4-BE49-F238E27FC236}">
                <a16:creationId xmlns:a16="http://schemas.microsoft.com/office/drawing/2014/main" id="{0EBDDE73-331D-42A6-8233-44CC91B5D4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733800"/>
          <a:ext cx="15906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40" name="Equation" r:id="rId7" imgW="1587500" imgH="381000" progId="Equation.3">
                  <p:embed/>
                </p:oleObj>
              </mc:Choice>
              <mc:Fallback>
                <p:oleObj name="Equation" r:id="rId7" imgW="1587500" imgH="381000" progId="Equation.3">
                  <p:embed/>
                  <p:pic>
                    <p:nvPicPr>
                      <p:cNvPr id="18434" name="Object 19">
                        <a:extLst>
                          <a:ext uri="{FF2B5EF4-FFF2-40B4-BE49-F238E27FC236}">
                            <a16:creationId xmlns:a16="http://schemas.microsoft.com/office/drawing/2014/main" id="{0EBDDE73-331D-42A6-8233-44CC91B5D4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733800"/>
                        <a:ext cx="159067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4" name="Rectangle 21">
            <a:extLst>
              <a:ext uri="{FF2B5EF4-FFF2-40B4-BE49-F238E27FC236}">
                <a16:creationId xmlns:a16="http://schemas.microsoft.com/office/drawing/2014/main" id="{87CBA29F-D693-4AB6-9512-4EEFA32E2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82675"/>
            <a:ext cx="10985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8435" name="Object 18">
            <a:extLst>
              <a:ext uri="{FF2B5EF4-FFF2-40B4-BE49-F238E27FC236}">
                <a16:creationId xmlns:a16="http://schemas.microsoft.com/office/drawing/2014/main" id="{92482643-1C17-4ADB-9912-0C669AEDD2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267200"/>
          <a:ext cx="22002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41" name="Equation" r:id="rId9" imgW="2197100" imgH="368300" progId="Equation.3">
                  <p:embed/>
                </p:oleObj>
              </mc:Choice>
              <mc:Fallback>
                <p:oleObj name="Equation" r:id="rId9" imgW="2197100" imgH="368300" progId="Equation.3">
                  <p:embed/>
                  <p:pic>
                    <p:nvPicPr>
                      <p:cNvPr id="18435" name="Object 18">
                        <a:extLst>
                          <a:ext uri="{FF2B5EF4-FFF2-40B4-BE49-F238E27FC236}">
                            <a16:creationId xmlns:a16="http://schemas.microsoft.com/office/drawing/2014/main" id="{92482643-1C17-4ADB-9912-0C669AEDD2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267200"/>
                        <a:ext cx="2200275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5" name="Rectangle 22">
            <a:extLst>
              <a:ext uri="{FF2B5EF4-FFF2-40B4-BE49-F238E27FC236}">
                <a16:creationId xmlns:a16="http://schemas.microsoft.com/office/drawing/2014/main" id="{1B9DBF98-0A7D-4BA5-9F00-9F22C62FE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28788"/>
            <a:ext cx="1479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8436" name="Object 17">
            <a:extLst>
              <a:ext uri="{FF2B5EF4-FFF2-40B4-BE49-F238E27FC236}">
                <a16:creationId xmlns:a16="http://schemas.microsoft.com/office/drawing/2014/main" id="{2A0467EC-503F-44A3-87FC-C46DE3DE3A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4267200"/>
          <a:ext cx="12096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42" name="Equation" r:id="rId11" imgW="1206500" imgH="342900" progId="Equation.3">
                  <p:embed/>
                </p:oleObj>
              </mc:Choice>
              <mc:Fallback>
                <p:oleObj name="Equation" r:id="rId11" imgW="1206500" imgH="342900" progId="Equation.3">
                  <p:embed/>
                  <p:pic>
                    <p:nvPicPr>
                      <p:cNvPr id="18436" name="Object 17">
                        <a:extLst>
                          <a:ext uri="{FF2B5EF4-FFF2-40B4-BE49-F238E27FC236}">
                            <a16:creationId xmlns:a16="http://schemas.microsoft.com/office/drawing/2014/main" id="{2A0467EC-503F-44A3-87FC-C46DE3DE3A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267200"/>
                        <a:ext cx="12096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6" name="Rectangle 23">
            <a:extLst>
              <a:ext uri="{FF2B5EF4-FFF2-40B4-BE49-F238E27FC236}">
                <a16:creationId xmlns:a16="http://schemas.microsoft.com/office/drawing/2014/main" id="{7230BBBD-3C04-44B9-86B2-C510A865D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133600"/>
            <a:ext cx="1098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a)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8437" name="Object 16">
            <a:extLst>
              <a:ext uri="{FF2B5EF4-FFF2-40B4-BE49-F238E27FC236}">
                <a16:creationId xmlns:a16="http://schemas.microsoft.com/office/drawing/2014/main" id="{8B1C3BC9-A140-4B1A-A30D-4833F6EAF1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876800"/>
          <a:ext cx="26003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43" name="Equation" r:id="rId13" imgW="2603500" imgH="368300" progId="Equation.3">
                  <p:embed/>
                </p:oleObj>
              </mc:Choice>
              <mc:Fallback>
                <p:oleObj name="Equation" r:id="rId13" imgW="2603500" imgH="368300" progId="Equation.3">
                  <p:embed/>
                  <p:pic>
                    <p:nvPicPr>
                      <p:cNvPr id="18437" name="Object 16">
                        <a:extLst>
                          <a:ext uri="{FF2B5EF4-FFF2-40B4-BE49-F238E27FC236}">
                            <a16:creationId xmlns:a16="http://schemas.microsoft.com/office/drawing/2014/main" id="{8B1C3BC9-A140-4B1A-A30D-4833F6EAF1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876800"/>
                        <a:ext cx="2600325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7" name="Rectangle 24">
            <a:extLst>
              <a:ext uri="{FF2B5EF4-FFF2-40B4-BE49-F238E27FC236}">
                <a16:creationId xmlns:a16="http://schemas.microsoft.com/office/drawing/2014/main" id="{22927A10-B372-464F-A55F-2372E3C7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92438"/>
            <a:ext cx="1479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8438" name="Object 15">
            <a:extLst>
              <a:ext uri="{FF2B5EF4-FFF2-40B4-BE49-F238E27FC236}">
                <a16:creationId xmlns:a16="http://schemas.microsoft.com/office/drawing/2014/main" id="{51B93D8B-4477-4D36-894C-4F2457EB11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4876800"/>
          <a:ext cx="9810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44" name="Equation" r:id="rId15" imgW="977476" imgH="342751" progId="Equation.3">
                  <p:embed/>
                </p:oleObj>
              </mc:Choice>
              <mc:Fallback>
                <p:oleObj name="Equation" r:id="rId15" imgW="977476" imgH="342751" progId="Equation.3">
                  <p:embed/>
                  <p:pic>
                    <p:nvPicPr>
                      <p:cNvPr id="18438" name="Object 15">
                        <a:extLst>
                          <a:ext uri="{FF2B5EF4-FFF2-40B4-BE49-F238E27FC236}">
                            <a16:creationId xmlns:a16="http://schemas.microsoft.com/office/drawing/2014/main" id="{51B93D8B-4477-4D36-894C-4F2457EB11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876800"/>
                        <a:ext cx="9810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8" name="Rectangle 25">
            <a:extLst>
              <a:ext uri="{FF2B5EF4-FFF2-40B4-BE49-F238E27FC236}">
                <a16:creationId xmlns:a16="http://schemas.microsoft.com/office/drawing/2014/main" id="{3BBB740D-33AC-4892-98DD-76A2E4465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09975"/>
            <a:ext cx="10985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8439" name="Object 14">
            <a:extLst>
              <a:ext uri="{FF2B5EF4-FFF2-40B4-BE49-F238E27FC236}">
                <a16:creationId xmlns:a16="http://schemas.microsoft.com/office/drawing/2014/main" id="{9DCFD535-BA89-43B1-9D8F-C4DB128464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5486400"/>
          <a:ext cx="23717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45" name="Equation" r:id="rId17" imgW="2374900" imgH="381000" progId="Equation.3">
                  <p:embed/>
                </p:oleObj>
              </mc:Choice>
              <mc:Fallback>
                <p:oleObj name="Equation" r:id="rId17" imgW="2374900" imgH="381000" progId="Equation.3">
                  <p:embed/>
                  <p:pic>
                    <p:nvPicPr>
                      <p:cNvPr id="18439" name="Object 14">
                        <a:extLst>
                          <a:ext uri="{FF2B5EF4-FFF2-40B4-BE49-F238E27FC236}">
                            <a16:creationId xmlns:a16="http://schemas.microsoft.com/office/drawing/2014/main" id="{9DCFD535-BA89-43B1-9D8F-C4DB128464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486400"/>
                        <a:ext cx="23717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9" name="Rectangle 26">
            <a:extLst>
              <a:ext uri="{FF2B5EF4-FFF2-40B4-BE49-F238E27FC236}">
                <a16:creationId xmlns:a16="http://schemas.microsoft.com/office/drawing/2014/main" id="{3762420D-413B-4830-A5D5-A2607226A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65613"/>
            <a:ext cx="1479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8440" name="Object 13">
            <a:extLst>
              <a:ext uri="{FF2B5EF4-FFF2-40B4-BE49-F238E27FC236}">
                <a16:creationId xmlns:a16="http://schemas.microsoft.com/office/drawing/2014/main" id="{9BFA379E-8B1B-4020-95A3-7C5B6C4C0A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5486400"/>
          <a:ext cx="12477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46" name="Equation" r:id="rId19" imgW="1244600" imgH="342900" progId="Equation.3">
                  <p:embed/>
                </p:oleObj>
              </mc:Choice>
              <mc:Fallback>
                <p:oleObj name="Equation" r:id="rId19" imgW="1244600" imgH="342900" progId="Equation.3">
                  <p:embed/>
                  <p:pic>
                    <p:nvPicPr>
                      <p:cNvPr id="18440" name="Object 13">
                        <a:extLst>
                          <a:ext uri="{FF2B5EF4-FFF2-40B4-BE49-F238E27FC236}">
                            <a16:creationId xmlns:a16="http://schemas.microsoft.com/office/drawing/2014/main" id="{9BFA379E-8B1B-4020-95A3-7C5B6C4C0A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486400"/>
                        <a:ext cx="12477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0" name="Rectangle 27">
            <a:extLst>
              <a:ext uri="{FF2B5EF4-FFF2-40B4-BE49-F238E27FC236}">
                <a16:creationId xmlns:a16="http://schemas.microsoft.com/office/drawing/2014/main" id="{FDD368FF-A602-4C10-9ACF-95CFCC30A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83150"/>
            <a:ext cx="10985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8441" name="Object 12">
            <a:extLst>
              <a:ext uri="{FF2B5EF4-FFF2-40B4-BE49-F238E27FC236}">
                <a16:creationId xmlns:a16="http://schemas.microsoft.com/office/drawing/2014/main" id="{EDB1D4B1-9DF3-424F-B574-A6BE161D17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6096000"/>
          <a:ext cx="6889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47" name="Equation" r:id="rId21" imgW="368280" imgH="215640" progId="Equation.3">
                  <p:embed/>
                </p:oleObj>
              </mc:Choice>
              <mc:Fallback>
                <p:oleObj name="Equation" r:id="rId21" imgW="368280" imgH="215640" progId="Equation.3">
                  <p:embed/>
                  <p:pic>
                    <p:nvPicPr>
                      <p:cNvPr id="18441" name="Object 12">
                        <a:extLst>
                          <a:ext uri="{FF2B5EF4-FFF2-40B4-BE49-F238E27FC236}">
                            <a16:creationId xmlns:a16="http://schemas.microsoft.com/office/drawing/2014/main" id="{EDB1D4B1-9DF3-424F-B574-A6BE161D17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6096000"/>
                        <a:ext cx="688975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1" name="Rectangle 28">
            <a:extLst>
              <a:ext uri="{FF2B5EF4-FFF2-40B4-BE49-F238E27FC236}">
                <a16:creationId xmlns:a16="http://schemas.microsoft.com/office/drawing/2014/main" id="{841A3C91-2BB7-40E2-B2D9-FD35CA8EC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38788"/>
            <a:ext cx="1479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8442" name="Object 11">
            <a:extLst>
              <a:ext uri="{FF2B5EF4-FFF2-40B4-BE49-F238E27FC236}">
                <a16:creationId xmlns:a16="http://schemas.microsoft.com/office/drawing/2014/main" id="{358B87F0-A9CD-498D-A581-073FE0BAF9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6172200"/>
          <a:ext cx="10001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48" name="Equation" r:id="rId23" imgW="1002865" imgH="342751" progId="Equation.3">
                  <p:embed/>
                </p:oleObj>
              </mc:Choice>
              <mc:Fallback>
                <p:oleObj name="Equation" r:id="rId23" imgW="1002865" imgH="342751" progId="Equation.3">
                  <p:embed/>
                  <p:pic>
                    <p:nvPicPr>
                      <p:cNvPr id="18442" name="Object 11">
                        <a:extLst>
                          <a:ext uri="{FF2B5EF4-FFF2-40B4-BE49-F238E27FC236}">
                            <a16:creationId xmlns:a16="http://schemas.microsoft.com/office/drawing/2014/main" id="{358B87F0-A9CD-498D-A581-073FE0BAF9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6172200"/>
                        <a:ext cx="10001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Footer Placeholder 4">
            <a:extLst>
              <a:ext uri="{FF2B5EF4-FFF2-40B4-BE49-F238E27FC236}">
                <a16:creationId xmlns:a16="http://schemas.microsoft.com/office/drawing/2014/main" id="{C8C4C7D0-26E8-480E-93A3-BF9204CD53A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9462" name="Slide Number Placeholder 5">
            <a:extLst>
              <a:ext uri="{FF2B5EF4-FFF2-40B4-BE49-F238E27FC236}">
                <a16:creationId xmlns:a16="http://schemas.microsoft.com/office/drawing/2014/main" id="{2E01DFA7-2671-40BD-B1CF-B89BBF39A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FE1CF-B3D7-432E-A93A-B341D466F44A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9463" name="Rectangle 2">
            <a:extLst>
              <a:ext uri="{FF2B5EF4-FFF2-40B4-BE49-F238E27FC236}">
                <a16:creationId xmlns:a16="http://schemas.microsoft.com/office/drawing/2014/main" id="{CA8AAC92-1E5E-49F4-B682-04660FC02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Solution (cont.)</a:t>
            </a:r>
          </a:p>
        </p:txBody>
      </p:sp>
      <p:sp>
        <p:nvSpPr>
          <p:cNvPr id="19464" name="Rectangle 10">
            <a:extLst>
              <a:ext uri="{FF2B5EF4-FFF2-40B4-BE49-F238E27FC236}">
                <a16:creationId xmlns:a16="http://schemas.microsoft.com/office/drawing/2014/main" id="{1253EEBE-11B4-4AED-B262-1ECB425B0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71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9458" name="Object 9">
            <a:extLst>
              <a:ext uri="{FF2B5EF4-FFF2-40B4-BE49-F238E27FC236}">
                <a16:creationId xmlns:a16="http://schemas.microsoft.com/office/drawing/2014/main" id="{CEE13B37-0CB4-4FBC-8FD7-4B1D2FA599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905000"/>
          <a:ext cx="59817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2" name="Equation" r:id="rId3" imgW="5981700" imgH="1219200" progId="Equation.3">
                  <p:embed/>
                </p:oleObj>
              </mc:Choice>
              <mc:Fallback>
                <p:oleObj name="Equation" r:id="rId3" imgW="5981700" imgH="1219200" progId="Equation.3">
                  <p:embed/>
                  <p:pic>
                    <p:nvPicPr>
                      <p:cNvPr id="19458" name="Object 9">
                        <a:extLst>
                          <a:ext uri="{FF2B5EF4-FFF2-40B4-BE49-F238E27FC236}">
                            <a16:creationId xmlns:a16="http://schemas.microsoft.com/office/drawing/2014/main" id="{CEE13B37-0CB4-4FBC-8FD7-4B1D2FA599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905000"/>
                        <a:ext cx="598170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Rectangle 11">
            <a:extLst>
              <a:ext uri="{FF2B5EF4-FFF2-40B4-BE49-F238E27FC236}">
                <a16:creationId xmlns:a16="http://schemas.microsoft.com/office/drawing/2014/main" id="{ADB5CFCC-82A9-45AA-B24E-832FA0678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1212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9459" name="Object 8">
            <a:extLst>
              <a:ext uri="{FF2B5EF4-FFF2-40B4-BE49-F238E27FC236}">
                <a16:creationId xmlns:a16="http://schemas.microsoft.com/office/drawing/2014/main" id="{95C5D40E-115E-48DE-8B9F-366CDC9B76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3276600"/>
          <a:ext cx="58674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3" name="Equation" r:id="rId5" imgW="5867400" imgH="1219200" progId="Equation.3">
                  <p:embed/>
                </p:oleObj>
              </mc:Choice>
              <mc:Fallback>
                <p:oleObj name="Equation" r:id="rId5" imgW="5867400" imgH="1219200" progId="Equation.3">
                  <p:embed/>
                  <p:pic>
                    <p:nvPicPr>
                      <p:cNvPr id="19459" name="Object 8">
                        <a:extLst>
                          <a:ext uri="{FF2B5EF4-FFF2-40B4-BE49-F238E27FC236}">
                            <a16:creationId xmlns:a16="http://schemas.microsoft.com/office/drawing/2014/main" id="{95C5D40E-115E-48DE-8B9F-366CDC9B76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276600"/>
                        <a:ext cx="586740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Rectangle 12">
            <a:extLst>
              <a:ext uri="{FF2B5EF4-FFF2-40B4-BE49-F238E27FC236}">
                <a16:creationId xmlns:a16="http://schemas.microsoft.com/office/drawing/2014/main" id="{4E4014E8-1F9B-4C6C-BBEE-61B6CCC56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70213"/>
            <a:ext cx="12128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9460" name="Object 7">
            <a:extLst>
              <a:ext uri="{FF2B5EF4-FFF2-40B4-BE49-F238E27FC236}">
                <a16:creationId xmlns:a16="http://schemas.microsoft.com/office/drawing/2014/main" id="{F7DB4CC8-75AC-45F3-8F88-185F23534A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5029200"/>
          <a:ext cx="5676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4" name="Equation" r:id="rId7" imgW="5676900" imgH="723900" progId="Equation.3">
                  <p:embed/>
                </p:oleObj>
              </mc:Choice>
              <mc:Fallback>
                <p:oleObj name="Equation" r:id="rId7" imgW="5676900" imgH="723900" progId="Equation.3">
                  <p:embed/>
                  <p:pic>
                    <p:nvPicPr>
                      <p:cNvPr id="19460" name="Object 7">
                        <a:extLst>
                          <a:ext uri="{FF2B5EF4-FFF2-40B4-BE49-F238E27FC236}">
                            <a16:creationId xmlns:a16="http://schemas.microsoft.com/office/drawing/2014/main" id="{F7DB4CC8-75AC-45F3-8F88-185F23534A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029200"/>
                        <a:ext cx="56769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Rectangle 13">
            <a:extLst>
              <a:ext uri="{FF2B5EF4-FFF2-40B4-BE49-F238E27FC236}">
                <a16:creationId xmlns:a16="http://schemas.microsoft.com/office/drawing/2014/main" id="{6C67D3FC-8D31-43B5-ABCC-B37C940DF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68750"/>
            <a:ext cx="1212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9468" name="Rectangle 14">
            <a:extLst>
              <a:ext uri="{FF2B5EF4-FFF2-40B4-BE49-F238E27FC236}">
                <a16:creationId xmlns:a16="http://schemas.microsoft.com/office/drawing/2014/main" id="{4B2865B6-9DEC-4C72-BADD-16698934C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76813"/>
            <a:ext cx="12128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9469" name="Rectangle 15">
            <a:extLst>
              <a:ext uri="{FF2B5EF4-FFF2-40B4-BE49-F238E27FC236}">
                <a16:creationId xmlns:a16="http://schemas.microsoft.com/office/drawing/2014/main" id="{A5792F01-B94E-4801-BBF9-065199484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84875"/>
            <a:ext cx="1212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Footer Placeholder 4">
            <a:extLst>
              <a:ext uri="{FF2B5EF4-FFF2-40B4-BE49-F238E27FC236}">
                <a16:creationId xmlns:a16="http://schemas.microsoft.com/office/drawing/2014/main" id="{DAA81149-C194-4681-8F92-3222E00C8AF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0486" name="Slide Number Placeholder 5">
            <a:extLst>
              <a:ext uri="{FF2B5EF4-FFF2-40B4-BE49-F238E27FC236}">
                <a16:creationId xmlns:a16="http://schemas.microsoft.com/office/drawing/2014/main" id="{09DDC155-56AA-4CE4-884B-0A56A300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9773C4-3085-484D-9240-92509060BB94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0487" name="Rectangle 2">
            <a:extLst>
              <a:ext uri="{FF2B5EF4-FFF2-40B4-BE49-F238E27FC236}">
                <a16:creationId xmlns:a16="http://schemas.microsoft.com/office/drawing/2014/main" id="{DBD7320C-A3A4-4515-846B-9C9670EE30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Solution (cont.)</a:t>
            </a:r>
          </a:p>
        </p:txBody>
      </p:sp>
      <p:sp>
        <p:nvSpPr>
          <p:cNvPr id="20488" name="Rectangle 7">
            <a:extLst>
              <a:ext uri="{FF2B5EF4-FFF2-40B4-BE49-F238E27FC236}">
                <a16:creationId xmlns:a16="http://schemas.microsoft.com/office/drawing/2014/main" id="{DBC8F57D-9B4E-4466-85C6-C2BAE187C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49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20482" name="Object 6">
            <a:extLst>
              <a:ext uri="{FF2B5EF4-FFF2-40B4-BE49-F238E27FC236}">
                <a16:creationId xmlns:a16="http://schemas.microsoft.com/office/drawing/2014/main" id="{094A8505-786F-4078-9359-5B3D966574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2971800"/>
          <a:ext cx="62579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0" name="Equation" r:id="rId3" imgW="6261100" imgH="736600" progId="Equation.3">
                  <p:embed/>
                </p:oleObj>
              </mc:Choice>
              <mc:Fallback>
                <p:oleObj name="Equation" r:id="rId3" imgW="6261100" imgH="736600" progId="Equation.3">
                  <p:embed/>
                  <p:pic>
                    <p:nvPicPr>
                      <p:cNvPr id="20482" name="Object 6">
                        <a:extLst>
                          <a:ext uri="{FF2B5EF4-FFF2-40B4-BE49-F238E27FC236}">
                            <a16:creationId xmlns:a16="http://schemas.microsoft.com/office/drawing/2014/main" id="{094A8505-786F-4078-9359-5B3D966574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971800"/>
                        <a:ext cx="6257925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Rectangle 8">
            <a:extLst>
              <a:ext uri="{FF2B5EF4-FFF2-40B4-BE49-F238E27FC236}">
                <a16:creationId xmlns:a16="http://schemas.microsoft.com/office/drawing/2014/main" id="{A572BE7B-7EAE-4534-9394-4F0AFA9BA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82913"/>
            <a:ext cx="12128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20483" name="Object 5">
            <a:extLst>
              <a:ext uri="{FF2B5EF4-FFF2-40B4-BE49-F238E27FC236}">
                <a16:creationId xmlns:a16="http://schemas.microsoft.com/office/drawing/2014/main" id="{0F548445-CCF1-41BB-B974-C93A61C812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4038600"/>
          <a:ext cx="86487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1" name="Equation" r:id="rId5" imgW="8648700" imgH="736600" progId="Equation.3">
                  <p:embed/>
                </p:oleObj>
              </mc:Choice>
              <mc:Fallback>
                <p:oleObj name="Equation" r:id="rId5" imgW="8648700" imgH="736600" progId="Equation.3">
                  <p:embed/>
                  <p:pic>
                    <p:nvPicPr>
                      <p:cNvPr id="20483" name="Object 5">
                        <a:extLst>
                          <a:ext uri="{FF2B5EF4-FFF2-40B4-BE49-F238E27FC236}">
                            <a16:creationId xmlns:a16="http://schemas.microsoft.com/office/drawing/2014/main" id="{0F548445-CCF1-41BB-B974-C93A61C812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038600"/>
                        <a:ext cx="86487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Rectangle 9">
            <a:extLst>
              <a:ext uri="{FF2B5EF4-FFF2-40B4-BE49-F238E27FC236}">
                <a16:creationId xmlns:a16="http://schemas.microsoft.com/office/drawing/2014/main" id="{6A23DF3E-8781-421F-A303-1403C539C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90975"/>
            <a:ext cx="1212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20484" name="Object 4">
            <a:extLst>
              <a:ext uri="{FF2B5EF4-FFF2-40B4-BE49-F238E27FC236}">
                <a16:creationId xmlns:a16="http://schemas.microsoft.com/office/drawing/2014/main" id="{0E654FFF-F00C-4281-B697-80ED1A59AC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5257800"/>
          <a:ext cx="171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2" name="Equation" r:id="rId7" imgW="1714500" imgH="342900" progId="Equation.3">
                  <p:embed/>
                </p:oleObj>
              </mc:Choice>
              <mc:Fallback>
                <p:oleObj name="Equation" r:id="rId7" imgW="1714500" imgH="342900" progId="Equation.3">
                  <p:embed/>
                  <p:pic>
                    <p:nvPicPr>
                      <p:cNvPr id="20484" name="Object 4">
                        <a:extLst>
                          <a:ext uri="{FF2B5EF4-FFF2-40B4-BE49-F238E27FC236}">
                            <a16:creationId xmlns:a16="http://schemas.microsoft.com/office/drawing/2014/main" id="{0E654FFF-F00C-4281-B697-80ED1A59AC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257800"/>
                        <a:ext cx="1714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Text Box 10">
            <a:extLst>
              <a:ext uri="{FF2B5EF4-FFF2-40B4-BE49-F238E27FC236}">
                <a16:creationId xmlns:a16="http://schemas.microsoft.com/office/drawing/2014/main" id="{60B336A8-95A0-4462-AEE2-7700A6EA7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133600"/>
            <a:ext cx="914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cont.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Footer Placeholder 4">
            <a:extLst>
              <a:ext uri="{FF2B5EF4-FFF2-40B4-BE49-F238E27FC236}">
                <a16:creationId xmlns:a16="http://schemas.microsoft.com/office/drawing/2014/main" id="{1AA25FD7-25E4-41F8-9746-F5877D2483D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1511" name="Slide Number Placeholder 5">
            <a:extLst>
              <a:ext uri="{FF2B5EF4-FFF2-40B4-BE49-F238E27FC236}">
                <a16:creationId xmlns:a16="http://schemas.microsoft.com/office/drawing/2014/main" id="{2E17ADCA-1C96-48A6-9790-276D7B91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19BFFE-51A5-4E1C-B5BF-9DE994996AAD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1512" name="Rectangle 2">
            <a:extLst>
              <a:ext uri="{FF2B5EF4-FFF2-40B4-BE49-F238E27FC236}">
                <a16:creationId xmlns:a16="http://schemas.microsoft.com/office/drawing/2014/main" id="{84FFC2E8-F2FC-46C2-9E6D-4145678196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Solution (cont.)</a:t>
            </a:r>
          </a:p>
        </p:txBody>
      </p:sp>
      <p:sp>
        <p:nvSpPr>
          <p:cNvPr id="21513" name="Rectangle 4">
            <a:extLst>
              <a:ext uri="{FF2B5EF4-FFF2-40B4-BE49-F238E27FC236}">
                <a16:creationId xmlns:a16="http://schemas.microsoft.com/office/drawing/2014/main" id="{BA79D365-1963-4DE0-9C32-9272C6304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09800"/>
            <a:ext cx="32496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In this case, the true error is</a:t>
            </a:r>
          </a:p>
        </p:txBody>
      </p:sp>
      <p:sp>
        <p:nvSpPr>
          <p:cNvPr id="21514" name="Rectangle 7">
            <a:extLst>
              <a:ext uri="{FF2B5EF4-FFF2-40B4-BE49-F238E27FC236}">
                <a16:creationId xmlns:a16="http://schemas.microsoft.com/office/drawing/2014/main" id="{A4C00AF6-D398-4C04-8A2D-417E7149A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305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21506" name="Object 6">
            <a:extLst>
              <a:ext uri="{FF2B5EF4-FFF2-40B4-BE49-F238E27FC236}">
                <a16:creationId xmlns:a16="http://schemas.microsoft.com/office/drawing/2014/main" id="{42507FC6-5305-4A3D-BB78-48F9120A73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2895600"/>
          <a:ext cx="31718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6" name="Equation" r:id="rId3" imgW="3175000" imgH="381000" progId="Equation.3">
                  <p:embed/>
                </p:oleObj>
              </mc:Choice>
              <mc:Fallback>
                <p:oleObj name="Equation" r:id="rId3" imgW="3175000" imgH="381000" progId="Equation.3">
                  <p:embed/>
                  <p:pic>
                    <p:nvPicPr>
                      <p:cNvPr id="21506" name="Object 6">
                        <a:extLst>
                          <a:ext uri="{FF2B5EF4-FFF2-40B4-BE49-F238E27FC236}">
                            <a16:creationId xmlns:a16="http://schemas.microsoft.com/office/drawing/2014/main" id="{42507FC6-5305-4A3D-BB78-48F9120A73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895600"/>
                        <a:ext cx="31718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5" name="Rectangle 8">
            <a:extLst>
              <a:ext uri="{FF2B5EF4-FFF2-40B4-BE49-F238E27FC236}">
                <a16:creationId xmlns:a16="http://schemas.microsoft.com/office/drawing/2014/main" id="{0DDE4074-259C-47BC-B6AD-727B29715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209800"/>
            <a:ext cx="1289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b)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21507" name="Object 5">
            <a:extLst>
              <a:ext uri="{FF2B5EF4-FFF2-40B4-BE49-F238E27FC236}">
                <a16:creationId xmlns:a16="http://schemas.microsoft.com/office/drawing/2014/main" id="{84615354-575D-4BC7-93C0-A8FF0ABFFF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2895600"/>
          <a:ext cx="1295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7" name="Equation" r:id="rId5" imgW="1295400" imgH="342900" progId="Equation.3">
                  <p:embed/>
                </p:oleObj>
              </mc:Choice>
              <mc:Fallback>
                <p:oleObj name="Equation" r:id="rId5" imgW="1295400" imgH="342900" progId="Equation.3">
                  <p:embed/>
                  <p:pic>
                    <p:nvPicPr>
                      <p:cNvPr id="21507" name="Object 5">
                        <a:extLst>
                          <a:ext uri="{FF2B5EF4-FFF2-40B4-BE49-F238E27FC236}">
                            <a16:creationId xmlns:a16="http://schemas.microsoft.com/office/drawing/2014/main" id="{84615354-575D-4BC7-93C0-A8FF0ABFFF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895600"/>
                        <a:ext cx="1295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6" name="Rectangle 9">
            <a:extLst>
              <a:ext uri="{FF2B5EF4-FFF2-40B4-BE49-F238E27FC236}">
                <a16:creationId xmlns:a16="http://schemas.microsoft.com/office/drawing/2014/main" id="{3CF022CD-2112-47E1-8343-9947E24F5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0000"/>
            <a:ext cx="39338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The absolute relative true error</a:t>
            </a:r>
          </a:p>
        </p:txBody>
      </p:sp>
      <p:sp>
        <p:nvSpPr>
          <p:cNvPr id="21517" name="Rectangle 12">
            <a:extLst>
              <a:ext uri="{FF2B5EF4-FFF2-40B4-BE49-F238E27FC236}">
                <a16:creationId xmlns:a16="http://schemas.microsoft.com/office/drawing/2014/main" id="{0FFD31FE-BF30-447C-98D9-8FC5E2DAC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59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21508" name="Object 11">
            <a:extLst>
              <a:ext uri="{FF2B5EF4-FFF2-40B4-BE49-F238E27FC236}">
                <a16:creationId xmlns:a16="http://schemas.microsoft.com/office/drawing/2014/main" id="{A43EC2AC-DC38-48F0-AA8B-01934359E4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4419600"/>
          <a:ext cx="42767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8" name="Equation" r:id="rId7" imgW="4279900" imgH="787400" progId="Equation.3">
                  <p:embed/>
                </p:oleObj>
              </mc:Choice>
              <mc:Fallback>
                <p:oleObj name="Equation" r:id="rId7" imgW="4279900" imgH="787400" progId="Equation.3">
                  <p:embed/>
                  <p:pic>
                    <p:nvPicPr>
                      <p:cNvPr id="21508" name="Object 11">
                        <a:extLst>
                          <a:ext uri="{FF2B5EF4-FFF2-40B4-BE49-F238E27FC236}">
                            <a16:creationId xmlns:a16="http://schemas.microsoft.com/office/drawing/2014/main" id="{A43EC2AC-DC38-48F0-AA8B-01934359E4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419600"/>
                        <a:ext cx="427672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Rectangle 13">
            <a:extLst>
              <a:ext uri="{FF2B5EF4-FFF2-40B4-BE49-F238E27FC236}">
                <a16:creationId xmlns:a16="http://schemas.microsoft.com/office/drawing/2014/main" id="{145F6BEF-8035-4182-B13C-AC3994392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10000"/>
            <a:ext cx="1327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c)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21509" name="Object 10">
            <a:extLst>
              <a:ext uri="{FF2B5EF4-FFF2-40B4-BE49-F238E27FC236}">
                <a16:creationId xmlns:a16="http://schemas.microsoft.com/office/drawing/2014/main" id="{8E91FC98-AB0D-4E22-8AFF-28BDB43CDE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5562600"/>
          <a:ext cx="13716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9" name="Equation" r:id="rId9" imgW="1371600" imgH="279400" progId="Equation.3">
                  <p:embed/>
                </p:oleObj>
              </mc:Choice>
              <mc:Fallback>
                <p:oleObj name="Equation" r:id="rId9" imgW="1371600" imgH="279400" progId="Equation.3">
                  <p:embed/>
                  <p:pic>
                    <p:nvPicPr>
                      <p:cNvPr id="21509" name="Object 10">
                        <a:extLst>
                          <a:ext uri="{FF2B5EF4-FFF2-40B4-BE49-F238E27FC236}">
                            <a16:creationId xmlns:a16="http://schemas.microsoft.com/office/drawing/2014/main" id="{8E91FC98-AB0D-4E22-8AFF-28BDB43CDE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562600"/>
                        <a:ext cx="1371600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>
            <a:extLst>
              <a:ext uri="{FF2B5EF4-FFF2-40B4-BE49-F238E27FC236}">
                <a16:creationId xmlns:a16="http://schemas.microsoft.com/office/drawing/2014/main" id="{FEF0432D-3CE6-477E-B489-722FE7EBD7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334000" y="6629400"/>
            <a:ext cx="38100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C0C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7651" name="Slide Number Placeholder 5">
            <a:extLst>
              <a:ext uri="{FF2B5EF4-FFF2-40B4-BE49-F238E27FC236}">
                <a16:creationId xmlns:a16="http://schemas.microsoft.com/office/drawing/2014/main" id="{2E3F6316-9E02-48D4-8684-03768A216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C0EB72B-044C-43A7-9523-E4DBA96C8C34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55B379BA-6E99-4E46-9462-560E3DDBB7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Solution (cont.)</a:t>
            </a: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0A75A1A8-18AD-477E-9527-EF0FEE727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590800"/>
            <a:ext cx="85550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Table 1: Values of Simpson’s 1/3rd Rule for Example 2 with multiple segments</a:t>
            </a:r>
          </a:p>
        </p:txBody>
      </p:sp>
      <p:sp>
        <p:nvSpPr>
          <p:cNvPr id="27654" name="Rectangle 8">
            <a:extLst>
              <a:ext uri="{FF2B5EF4-FFF2-40B4-BE49-F238E27FC236}">
                <a16:creationId xmlns:a16="http://schemas.microsoft.com/office/drawing/2014/main" id="{D5156EED-DE9C-4235-8CEF-3B4EFF8CE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3" y="2668588"/>
            <a:ext cx="4572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7655" name="Rectangle 11">
            <a:extLst>
              <a:ext uri="{FF2B5EF4-FFF2-40B4-BE49-F238E27FC236}">
                <a16:creationId xmlns:a16="http://schemas.microsoft.com/office/drawing/2014/main" id="{20BF886B-2147-43A3-8695-C9B6AC31D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3" y="2668588"/>
            <a:ext cx="75247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7656" name="Rectangle 13">
            <a:extLst>
              <a:ext uri="{FF2B5EF4-FFF2-40B4-BE49-F238E27FC236}">
                <a16:creationId xmlns:a16="http://schemas.microsoft.com/office/drawing/2014/main" id="{2BA15725-D336-4654-AAB6-95DF9023E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3" y="2668588"/>
            <a:ext cx="73977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355396" name="Group 68">
            <a:extLst>
              <a:ext uri="{FF2B5EF4-FFF2-40B4-BE49-F238E27FC236}">
                <a16:creationId xmlns:a16="http://schemas.microsoft.com/office/drawing/2014/main" id="{D0C7BCA4-3E4E-41A4-ADC7-2B7D30C1F0C8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3429000"/>
          <a:ext cx="5715000" cy="2211388"/>
        </p:xfrm>
        <a:graphic>
          <a:graphicData uri="http://schemas.openxmlformats.org/drawingml/2006/table">
            <a:tbl>
              <a:tblPr/>
              <a:tblGrid>
                <a:gridCol w="788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Approximate Value</a:t>
                      </a: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  <a:r>
                        <a:rPr kumimoji="0" lang="en-US" sz="19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</a:t>
                      </a: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|</a:t>
                      </a:r>
                      <a:r>
                        <a:rPr kumimoji="0" lang="ru-RU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Є</a:t>
                      </a:r>
                      <a:r>
                        <a:rPr kumimoji="0" lang="en-US" sz="19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ru-RU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|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0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11065.72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11061.64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11061.40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11061.35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11061.34</a:t>
                      </a: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4.38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0.30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0.06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0.01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0.00</a:t>
                      </a: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0.0396%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0.0027%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0.0005%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0.0001%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0.0000%</a:t>
                      </a: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4F03C234-BB3D-4E8E-A6D1-ACCB138A4C71}"/>
              </a:ext>
            </a:extLst>
          </p:cNvPr>
          <p:cNvSpPr txBox="1">
            <a:spLocks/>
          </p:cNvSpPr>
          <p:nvPr/>
        </p:nvSpPr>
        <p:spPr bwMode="auto">
          <a:xfrm>
            <a:off x="1214755" y="381000"/>
            <a:ext cx="6714490" cy="689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GB" kern="0" spc="-5" dirty="0">
                <a:latin typeface="Courier New"/>
                <a:cs typeface="Courier New"/>
              </a:rPr>
              <a:t>Simpson’s </a:t>
            </a:r>
            <a:r>
              <a:rPr lang="en-GB" b="1" dirty="0"/>
              <a:t>3/8 </a:t>
            </a:r>
            <a:r>
              <a:rPr lang="en-GB" kern="0" spc="-5" dirty="0">
                <a:latin typeface="Courier New"/>
                <a:cs typeface="Courier New"/>
              </a:rPr>
              <a:t>Rule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3D3EC-2321-4D4F-8C3C-84CD5BC1EC9A}"/>
              </a:ext>
            </a:extLst>
          </p:cNvPr>
          <p:cNvSpPr txBox="1"/>
          <p:nvPr/>
        </p:nvSpPr>
        <p:spPr>
          <a:xfrm>
            <a:off x="457200" y="1331929"/>
            <a:ext cx="8458200" cy="1867819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>
            <a:defPPr>
              <a:defRPr lang="en-US"/>
            </a:defPPr>
            <a:lvl1pPr marL="355600" marR="5080" indent="-342900" algn="just">
              <a:lnSpc>
                <a:spcPct val="795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  <a:defRPr sz="2200" spc="-10">
                <a:latin typeface="Calibri"/>
                <a:cs typeface="Calibri"/>
              </a:defRPr>
            </a:lvl1pPr>
          </a:lstStyle>
          <a:p>
            <a:pPr marL="12700" indent="0">
              <a:buNone/>
            </a:pPr>
            <a:r>
              <a:rPr lang="en-US" dirty="0"/>
              <a:t>Simpson’s 1/3 Rule is a numerical method that approximates the value of a definite integral by using </a:t>
            </a:r>
            <a:r>
              <a:rPr lang="en-US" b="1" dirty="0"/>
              <a:t>quadratic functions</a:t>
            </a:r>
            <a:r>
              <a:rPr lang="en-US" dirty="0"/>
              <a:t>.</a:t>
            </a:r>
          </a:p>
          <a:p>
            <a:pPr marL="12700" indent="0">
              <a:spcBef>
                <a:spcPts val="0"/>
              </a:spcBef>
              <a:buNone/>
            </a:pPr>
            <a:endParaRPr lang="en-US" dirty="0"/>
          </a:p>
          <a:p>
            <a:pPr marL="12700" indent="0">
              <a:buNone/>
            </a:pPr>
            <a:r>
              <a:rPr lang="en-US" dirty="0"/>
              <a:t>In Simpson’s 3/8 rule, we approximate the polynomial based on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cubic</a:t>
            </a:r>
            <a:r>
              <a:rPr lang="en-US" dirty="0"/>
              <a:t> approximation. However, each approximation actually covers three of the subintervals instead of two.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C62C02-0151-457B-AEBF-E2873625C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429000"/>
            <a:ext cx="8458200" cy="108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23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4F03C234-BB3D-4E8E-A6D1-ACCB138A4C71}"/>
              </a:ext>
            </a:extLst>
          </p:cNvPr>
          <p:cNvSpPr txBox="1">
            <a:spLocks/>
          </p:cNvSpPr>
          <p:nvPr/>
        </p:nvSpPr>
        <p:spPr bwMode="auto">
          <a:xfrm>
            <a:off x="874077" y="381000"/>
            <a:ext cx="7395846" cy="689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GB" kern="0" spc="-5" dirty="0">
                <a:latin typeface="Courier New"/>
                <a:cs typeface="Courier New"/>
              </a:rPr>
              <a:t>Simpson’s </a:t>
            </a:r>
            <a:r>
              <a:rPr lang="en-GB" b="1" dirty="0"/>
              <a:t>1/3 </a:t>
            </a:r>
            <a:r>
              <a:rPr lang="en-GB" kern="0" spc="-5" dirty="0">
                <a:latin typeface="Courier New"/>
                <a:cs typeface="Courier New"/>
              </a:rPr>
              <a:t>Rule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F891E5-B9B2-43FC-AB50-CF98EF77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400" y="1219200"/>
            <a:ext cx="4932000" cy="809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CB4132-9540-4C0D-9891-C88D5757B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00784"/>
            <a:ext cx="4495800" cy="44577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244FF8-7855-4997-B360-4619C7735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6140034"/>
            <a:ext cx="2085975" cy="24765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0625462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4F03C234-BB3D-4E8E-A6D1-ACCB138A4C71}"/>
              </a:ext>
            </a:extLst>
          </p:cNvPr>
          <p:cNvSpPr txBox="1">
            <a:spLocks/>
          </p:cNvSpPr>
          <p:nvPr/>
        </p:nvSpPr>
        <p:spPr bwMode="auto">
          <a:xfrm>
            <a:off x="874077" y="381000"/>
            <a:ext cx="7395846" cy="689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7DC4"/>
                </a:solidFill>
                <a:latin typeface="Arial" pitchFamily="34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270A70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GB" kern="0" spc="-5" dirty="0">
                <a:latin typeface="Courier New"/>
                <a:cs typeface="Courier New"/>
              </a:rPr>
              <a:t>Simpson’s </a:t>
            </a:r>
            <a:r>
              <a:rPr lang="en-GB" b="1" dirty="0"/>
              <a:t>3/8 </a:t>
            </a:r>
            <a:r>
              <a:rPr lang="en-GB" kern="0" spc="-5" dirty="0">
                <a:latin typeface="Courier New"/>
                <a:cs typeface="Courier New"/>
              </a:rPr>
              <a:t>Rule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67DD52-D27A-4F5A-9789-D44C9E242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90844"/>
            <a:ext cx="6591300" cy="8451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E817E0-1D8C-439B-8647-AD351FD80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362200"/>
            <a:ext cx="4429125" cy="394335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79B238-A5BE-4FBA-B232-4D5181829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5791200"/>
            <a:ext cx="1914525" cy="3048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13224322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007DC4"/>
      </a:accent2>
      <a:accent3>
        <a:srgbClr val="FFFFFF"/>
      </a:accent3>
      <a:accent4>
        <a:srgbClr val="000000"/>
      </a:accent4>
      <a:accent5>
        <a:srgbClr val="DAEDEF"/>
      </a:accent5>
      <a:accent6>
        <a:srgbClr val="007DC4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3907</TotalTime>
  <Words>2667</Words>
  <Application>Microsoft Office PowerPoint</Application>
  <PresentationFormat>On-screen Show (4:3)</PresentationFormat>
  <Paragraphs>590</Paragraphs>
  <Slides>67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67</vt:i4>
      </vt:variant>
    </vt:vector>
  </HeadingPairs>
  <TitlesOfParts>
    <vt:vector size="85" baseType="lpstr">
      <vt:lpstr>Arial</vt:lpstr>
      <vt:lpstr>Arial MT</vt:lpstr>
      <vt:lpstr>Calibri</vt:lpstr>
      <vt:lpstr>Cambria Math</vt:lpstr>
      <vt:lpstr>Courier</vt:lpstr>
      <vt:lpstr>Courier New</vt:lpstr>
      <vt:lpstr>Courier-Bold</vt:lpstr>
      <vt:lpstr>Flux</vt:lpstr>
      <vt:lpstr>Symbol</vt:lpstr>
      <vt:lpstr>Tahoma</vt:lpstr>
      <vt:lpstr>Times New Roman</vt:lpstr>
      <vt:lpstr>Verdana</vt:lpstr>
      <vt:lpstr>Wingdings</vt:lpstr>
      <vt:lpstr>Default Design</vt:lpstr>
      <vt:lpstr>1_Blends</vt:lpstr>
      <vt:lpstr>Blends</vt:lpstr>
      <vt:lpstr>Equation</vt:lpstr>
      <vt:lpstr>Microsoft Equation 3.0</vt:lpstr>
      <vt:lpstr>PowerPoint Presentation</vt:lpstr>
      <vt:lpstr>PowerPoint Presentation</vt:lpstr>
      <vt:lpstr>Integrals</vt:lpstr>
      <vt:lpstr>Integration</vt:lpstr>
      <vt:lpstr>Example</vt:lpstr>
      <vt:lpstr>Example</vt:lpstr>
      <vt:lpstr>Trapezoidal Rule</vt:lpstr>
      <vt:lpstr>Numerical Integration Approach</vt:lpstr>
      <vt:lpstr>Numerical Integration</vt:lpstr>
      <vt:lpstr>Numerical Integration</vt:lpstr>
      <vt:lpstr>PowerPoint Presentation</vt:lpstr>
      <vt:lpstr>Python Code</vt:lpstr>
      <vt:lpstr>SciPy</vt:lpstr>
      <vt:lpstr>trapz() Function</vt:lpstr>
      <vt:lpstr>Python Code - trapz()</vt:lpstr>
      <vt:lpstr>quad() Function</vt:lpstr>
      <vt:lpstr>Python Code – quad()</vt:lpstr>
      <vt:lpstr>Error in estimating the integral theorem</vt:lpstr>
      <vt:lpstr>Notation</vt:lpstr>
      <vt:lpstr>Estimating the Error  For Trapezoid Method </vt:lpstr>
      <vt:lpstr>Example</vt:lpstr>
      <vt:lpstr>Example</vt:lpstr>
      <vt:lpstr>Example</vt:lpstr>
      <vt:lpstr>Recursive Trapezoid Method</vt:lpstr>
      <vt:lpstr>PowerPoint Presentation</vt:lpstr>
      <vt:lpstr>Recursive Trapezoid Method Formulas</vt:lpstr>
      <vt:lpstr>Recursive Trapezoid Method</vt:lpstr>
      <vt:lpstr>Example on Recursive Trapezoid</vt:lpstr>
      <vt:lpstr>Advantages of Recursive Trapezoid</vt:lpstr>
      <vt:lpstr>PowerPoint Presentation</vt:lpstr>
      <vt:lpstr>Motivation for Romberg Method</vt:lpstr>
      <vt:lpstr>Romberg Method</vt:lpstr>
      <vt:lpstr>First Column   Recursive Trapezoid Method</vt:lpstr>
      <vt:lpstr>Derivation of Romberg Method</vt:lpstr>
      <vt:lpstr>Romberg Method</vt:lpstr>
      <vt:lpstr>Property of Romberg Method</vt:lpstr>
      <vt:lpstr>Example</vt:lpstr>
      <vt:lpstr>Example (cont.)</vt:lpstr>
      <vt:lpstr>When do we stop?</vt:lpstr>
      <vt:lpstr>PowerPoint Presentation</vt:lpstr>
      <vt:lpstr>PowerPoint Presentation</vt:lpstr>
      <vt:lpstr>Simpson’s 1/3rd Rule of Integration</vt:lpstr>
      <vt:lpstr>Basis of Simpson’s 1/3rd Rule</vt:lpstr>
      <vt:lpstr>Basis of Simpson’s 1/3rd Rule</vt:lpstr>
      <vt:lpstr>Basis of Simpson’s 1/3rd Rule</vt:lpstr>
      <vt:lpstr>Basis of Simpson’s 1/3rd Rule</vt:lpstr>
      <vt:lpstr>Basis of Simpson’s 1/3rd Rule</vt:lpstr>
      <vt:lpstr>Basis of Simpson’s 1/3rd Rule</vt:lpstr>
      <vt:lpstr>Example 1</vt:lpstr>
      <vt:lpstr>Solution</vt:lpstr>
      <vt:lpstr>Solution (cont)</vt:lpstr>
      <vt:lpstr>Solution (cont)</vt:lpstr>
      <vt:lpstr>PowerPoint Presentation</vt:lpstr>
      <vt:lpstr>Multiple Segment Simpson’s 1/3rd Rule</vt:lpstr>
      <vt:lpstr>Multiple Segment Simpson’s 1/3rd Rule</vt:lpstr>
      <vt:lpstr>Multiple Segment Simpson’s 1/3rd Rule</vt:lpstr>
      <vt:lpstr>Multiple Segment Simpson’s 1/3rd Rule</vt:lpstr>
      <vt:lpstr>Multiple Segment Simpson’s 1/3rd Rule</vt:lpstr>
      <vt:lpstr>Example 2</vt:lpstr>
      <vt:lpstr>Solution</vt:lpstr>
      <vt:lpstr>Solution (cont.)</vt:lpstr>
      <vt:lpstr>Solution (cont.)</vt:lpstr>
      <vt:lpstr>Solution (cont.)</vt:lpstr>
      <vt:lpstr>Solution (cont.)</vt:lpstr>
      <vt:lpstr>PowerPoint Presentation</vt:lpstr>
      <vt:lpstr>PowerPoint Presentation</vt:lpstr>
      <vt:lpstr>PowerPoint Presentation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Chelsea Bell</dc:creator>
  <cp:lastModifiedBy>Bora Döken</cp:lastModifiedBy>
  <cp:revision>232</cp:revision>
  <dcterms:created xsi:type="dcterms:W3CDTF">2011-02-21T19:15:53Z</dcterms:created>
  <dcterms:modified xsi:type="dcterms:W3CDTF">2023-12-22T08:43:49Z</dcterms:modified>
</cp:coreProperties>
</file>